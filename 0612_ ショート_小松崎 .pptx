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505" r:id="rId2"/>
    <p:sldId id="443" r:id="rId3"/>
    <p:sldId id="429" r:id="rId4"/>
    <p:sldId id="506" r:id="rId5"/>
    <p:sldId id="510" r:id="rId6"/>
    <p:sldId id="453" r:id="rId7"/>
    <p:sldId id="486" r:id="rId8"/>
    <p:sldId id="513" r:id="rId9"/>
    <p:sldId id="515" r:id="rId10"/>
    <p:sldId id="498" r:id="rId11"/>
    <p:sldId id="484" r:id="rId12"/>
    <p:sldId id="487" r:id="rId13"/>
    <p:sldId id="500" r:id="rId14"/>
    <p:sldId id="501" r:id="rId15"/>
    <p:sldId id="485" r:id="rId16"/>
    <p:sldId id="491" r:id="rId17"/>
    <p:sldId id="492" r:id="rId18"/>
    <p:sldId id="503" r:id="rId19"/>
    <p:sldId id="493" r:id="rId20"/>
    <p:sldId id="495" r:id="rId21"/>
    <p:sldId id="496" r:id="rId22"/>
    <p:sldId id="502" r:id="rId23"/>
    <p:sldId id="504"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6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33" autoAdjust="0"/>
    <p:restoredTop sz="95753" autoAdjust="0"/>
  </p:normalViewPr>
  <p:slideViewPr>
    <p:cSldViewPr snapToGrid="0">
      <p:cViewPr varScale="1">
        <p:scale>
          <a:sx n="122" d="100"/>
          <a:sy n="122" d="100"/>
        </p:scale>
        <p:origin x="1456" y="184"/>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D8072-E049-4C83-8552-DA99A2230A69}" type="datetimeFigureOut">
              <a:rPr kumimoji="1" lang="ja-JP" altLang="en-US" smtClean="0"/>
              <a:t>2026/6/11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51B581-9224-47A0-B959-9B6805DE9748}" type="slidenum">
              <a:rPr kumimoji="1" lang="ja-JP" altLang="en-US" smtClean="0"/>
              <a:t>‹#›</a:t>
            </a:fld>
            <a:endParaRPr kumimoji="1" lang="ja-JP" altLang="en-US"/>
          </a:p>
        </p:txBody>
      </p:sp>
    </p:spTree>
    <p:extLst>
      <p:ext uri="{BB962C8B-B14F-4D97-AF65-F5344CB8AC3E}">
        <p14:creationId xmlns:p14="http://schemas.microsoft.com/office/powerpoint/2010/main" val="35822322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6903C-8BFA-B500-ED91-C5378B94A6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C1FAFC-87EE-1E04-1AA3-33AEFD6828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F47278-6C8B-31B9-E430-F71ADDC72A2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6036B9-3117-C926-78EF-15ED249698E8}"/>
              </a:ext>
            </a:extLst>
          </p:cNvPr>
          <p:cNvSpPr>
            <a:spLocks noGrp="1"/>
          </p:cNvSpPr>
          <p:nvPr>
            <p:ph type="sldNum" sz="quarter" idx="5"/>
          </p:nvPr>
        </p:nvSpPr>
        <p:spPr/>
        <p:txBody>
          <a:bodyPr/>
          <a:lstStyle/>
          <a:p>
            <a:fld id="{1151B581-9224-47A0-B959-9B6805DE9748}" type="slidenum">
              <a:rPr kumimoji="1" lang="ja-JP" altLang="en-US" smtClean="0"/>
              <a:t>2</a:t>
            </a:fld>
            <a:endParaRPr kumimoji="1" lang="ja-JP" altLang="en-US"/>
          </a:p>
        </p:txBody>
      </p:sp>
    </p:spTree>
    <p:extLst>
      <p:ext uri="{BB962C8B-B14F-4D97-AF65-F5344CB8AC3E}">
        <p14:creationId xmlns:p14="http://schemas.microsoft.com/office/powerpoint/2010/main" val="1381278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423C9-FA5C-107F-BC5A-58EDF64F57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A83266-7DBA-711F-8C82-D8B8FC6D2D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5B6AE18-0D6B-73D8-542D-F727E1E155B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6F12340-AE92-A92D-D115-3670E1B403D6}"/>
              </a:ext>
            </a:extLst>
          </p:cNvPr>
          <p:cNvSpPr>
            <a:spLocks noGrp="1"/>
          </p:cNvSpPr>
          <p:nvPr>
            <p:ph type="sldNum" sz="quarter" idx="5"/>
          </p:nvPr>
        </p:nvSpPr>
        <p:spPr/>
        <p:txBody>
          <a:bodyPr/>
          <a:lstStyle/>
          <a:p>
            <a:fld id="{1151B581-9224-47A0-B959-9B6805DE9748}" type="slidenum">
              <a:rPr kumimoji="1" lang="ja-JP" altLang="en-US" smtClean="0"/>
              <a:t>3</a:t>
            </a:fld>
            <a:endParaRPr kumimoji="1" lang="ja-JP" altLang="en-US"/>
          </a:p>
        </p:txBody>
      </p:sp>
    </p:spTree>
    <p:extLst>
      <p:ext uri="{BB962C8B-B14F-4D97-AF65-F5344CB8AC3E}">
        <p14:creationId xmlns:p14="http://schemas.microsoft.com/office/powerpoint/2010/main" val="33650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28A7C-028C-D424-B338-0410BEB2E5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E32498-B107-ACDD-0547-EFCF753A7F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6E9A6A-E67A-FF9F-3C48-2222B37AD54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E960E-0C74-57BB-7C96-ED51899AF573}"/>
              </a:ext>
            </a:extLst>
          </p:cNvPr>
          <p:cNvSpPr>
            <a:spLocks noGrp="1"/>
          </p:cNvSpPr>
          <p:nvPr>
            <p:ph type="sldNum" sz="quarter" idx="5"/>
          </p:nvPr>
        </p:nvSpPr>
        <p:spPr/>
        <p:txBody>
          <a:bodyPr/>
          <a:lstStyle/>
          <a:p>
            <a:fld id="{1151B581-9224-47A0-B959-9B6805DE9748}" type="slidenum">
              <a:rPr kumimoji="1" lang="ja-JP" altLang="en-US" smtClean="0"/>
              <a:t>4</a:t>
            </a:fld>
            <a:endParaRPr kumimoji="1" lang="ja-JP" altLang="en-US"/>
          </a:p>
        </p:txBody>
      </p:sp>
    </p:spTree>
    <p:extLst>
      <p:ext uri="{BB962C8B-B14F-4D97-AF65-F5344CB8AC3E}">
        <p14:creationId xmlns:p14="http://schemas.microsoft.com/office/powerpoint/2010/main" val="3198317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989E0-5BF3-A85E-637B-64B5F78839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2C22D2-5D18-F912-CFEA-ACFF946E421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372D0C-1E8E-3CDD-D850-DCAC2C746B3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1DC67D9-6DA2-E49A-3084-D2BAB44F5B40}"/>
              </a:ext>
            </a:extLst>
          </p:cNvPr>
          <p:cNvSpPr>
            <a:spLocks noGrp="1"/>
          </p:cNvSpPr>
          <p:nvPr>
            <p:ph type="sldNum" sz="quarter" idx="5"/>
          </p:nvPr>
        </p:nvSpPr>
        <p:spPr/>
        <p:txBody>
          <a:bodyPr/>
          <a:lstStyle/>
          <a:p>
            <a:fld id="{1151B581-9224-47A0-B959-9B6805DE9748}" type="slidenum">
              <a:rPr kumimoji="1" lang="ja-JP" altLang="en-US" smtClean="0"/>
              <a:t>6</a:t>
            </a:fld>
            <a:endParaRPr kumimoji="1" lang="ja-JP" altLang="en-US"/>
          </a:p>
        </p:txBody>
      </p:sp>
    </p:spTree>
    <p:extLst>
      <p:ext uri="{BB962C8B-B14F-4D97-AF65-F5344CB8AC3E}">
        <p14:creationId xmlns:p14="http://schemas.microsoft.com/office/powerpoint/2010/main" val="63546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7474-FB3E-C2F5-F252-8C66C7C003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6B8AFF-FEB8-62EE-7F97-A453BA8103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FB1724-E2B8-64C5-5D26-76B5BB9F59B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49CB8A-28DB-C0A7-6BE7-E626EAD8108B}"/>
              </a:ext>
            </a:extLst>
          </p:cNvPr>
          <p:cNvSpPr>
            <a:spLocks noGrp="1"/>
          </p:cNvSpPr>
          <p:nvPr>
            <p:ph type="sldNum" sz="quarter" idx="5"/>
          </p:nvPr>
        </p:nvSpPr>
        <p:spPr/>
        <p:txBody>
          <a:bodyPr/>
          <a:lstStyle/>
          <a:p>
            <a:fld id="{1151B581-9224-47A0-B959-9B6805DE9748}" type="slidenum">
              <a:rPr kumimoji="1" lang="ja-JP" altLang="en-US" smtClean="0"/>
              <a:t>7</a:t>
            </a:fld>
            <a:endParaRPr kumimoji="1" lang="ja-JP" altLang="en-US"/>
          </a:p>
        </p:txBody>
      </p:sp>
    </p:spTree>
    <p:extLst>
      <p:ext uri="{BB962C8B-B14F-4D97-AF65-F5344CB8AC3E}">
        <p14:creationId xmlns:p14="http://schemas.microsoft.com/office/powerpoint/2010/main" val="1216055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BCABD-689B-517A-F448-C038F6BED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44203C-0B32-B013-75E4-B56FBF987B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BE5F9E-F0C9-A4D4-3CAE-F8BB7BACCA4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B1D742-3EA8-F4C3-8769-F25BDA05B3F0}"/>
              </a:ext>
            </a:extLst>
          </p:cNvPr>
          <p:cNvSpPr>
            <a:spLocks noGrp="1"/>
          </p:cNvSpPr>
          <p:nvPr>
            <p:ph type="sldNum" sz="quarter" idx="5"/>
          </p:nvPr>
        </p:nvSpPr>
        <p:spPr/>
        <p:txBody>
          <a:bodyPr/>
          <a:lstStyle/>
          <a:p>
            <a:fld id="{1151B581-9224-47A0-B959-9B6805DE9748}" type="slidenum">
              <a:rPr kumimoji="1" lang="ja-JP" altLang="en-US" smtClean="0"/>
              <a:t>8</a:t>
            </a:fld>
            <a:endParaRPr kumimoji="1" lang="ja-JP" altLang="en-US"/>
          </a:p>
        </p:txBody>
      </p:sp>
    </p:spTree>
    <p:extLst>
      <p:ext uri="{BB962C8B-B14F-4D97-AF65-F5344CB8AC3E}">
        <p14:creationId xmlns:p14="http://schemas.microsoft.com/office/powerpoint/2010/main" val="60943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5FE75-5F41-5D59-84D7-BC611DE3C0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54ABD40-8028-9809-3269-481135A202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AE909A-0BAB-E067-6490-AD01EF462B0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9ED021-807F-CD9E-F057-267559D3E787}"/>
              </a:ext>
            </a:extLst>
          </p:cNvPr>
          <p:cNvSpPr>
            <a:spLocks noGrp="1"/>
          </p:cNvSpPr>
          <p:nvPr>
            <p:ph type="sldNum" sz="quarter" idx="5"/>
          </p:nvPr>
        </p:nvSpPr>
        <p:spPr/>
        <p:txBody>
          <a:bodyPr/>
          <a:lstStyle/>
          <a:p>
            <a:fld id="{1151B581-9224-47A0-B959-9B6805DE9748}" type="slidenum">
              <a:rPr kumimoji="1" lang="ja-JP" altLang="en-US" smtClean="0"/>
              <a:t>9</a:t>
            </a:fld>
            <a:endParaRPr kumimoji="1" lang="ja-JP" altLang="en-US"/>
          </a:p>
        </p:txBody>
      </p:sp>
    </p:spTree>
    <p:extLst>
      <p:ext uri="{BB962C8B-B14F-4D97-AF65-F5344CB8AC3E}">
        <p14:creationId xmlns:p14="http://schemas.microsoft.com/office/powerpoint/2010/main" val="3601604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B3B3A-B1C4-8C15-67F5-69D6FF1F82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1064EF-9931-5F4C-A897-CD5EFB534F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752766A-B146-D5FE-850C-FA31A868635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06A632C-7531-8F05-A0FD-6B293CC88072}"/>
              </a:ext>
            </a:extLst>
          </p:cNvPr>
          <p:cNvSpPr>
            <a:spLocks noGrp="1"/>
          </p:cNvSpPr>
          <p:nvPr>
            <p:ph type="sldNum" sz="quarter" idx="5"/>
          </p:nvPr>
        </p:nvSpPr>
        <p:spPr/>
        <p:txBody>
          <a:bodyPr/>
          <a:lstStyle/>
          <a:p>
            <a:fld id="{1151B581-9224-47A0-B959-9B6805DE9748}" type="slidenum">
              <a:rPr kumimoji="1" lang="ja-JP" altLang="en-US" smtClean="0"/>
              <a:t>10</a:t>
            </a:fld>
            <a:endParaRPr kumimoji="1" lang="ja-JP" altLang="en-US"/>
          </a:p>
        </p:txBody>
      </p:sp>
    </p:spTree>
    <p:extLst>
      <p:ext uri="{BB962C8B-B14F-4D97-AF65-F5344CB8AC3E}">
        <p14:creationId xmlns:p14="http://schemas.microsoft.com/office/powerpoint/2010/main" val="4059748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60BA-D76F-164F-C626-9BAF19479C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59DA42-29E4-FC3A-56D8-B7529611A7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4DEBC77-9195-E2C5-D94A-CFB816C017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8954B28-BE8F-CBE0-7A8F-6001A59C67A8}"/>
              </a:ext>
            </a:extLst>
          </p:cNvPr>
          <p:cNvSpPr>
            <a:spLocks noGrp="1"/>
          </p:cNvSpPr>
          <p:nvPr>
            <p:ph type="sldNum" sz="quarter" idx="5"/>
          </p:nvPr>
        </p:nvSpPr>
        <p:spPr/>
        <p:txBody>
          <a:bodyPr/>
          <a:lstStyle/>
          <a:p>
            <a:fld id="{1151B581-9224-47A0-B959-9B6805DE9748}" type="slidenum">
              <a:rPr kumimoji="1" lang="ja-JP" altLang="en-US" smtClean="0"/>
              <a:t>11</a:t>
            </a:fld>
            <a:endParaRPr kumimoji="1" lang="ja-JP" altLang="en-US"/>
          </a:p>
        </p:txBody>
      </p:sp>
    </p:spTree>
    <p:extLst>
      <p:ext uri="{BB962C8B-B14F-4D97-AF65-F5344CB8AC3E}">
        <p14:creationId xmlns:p14="http://schemas.microsoft.com/office/powerpoint/2010/main" val="1912094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C3891-01D4-B3CB-590C-CDBC842FB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1515E-D7A5-DC49-85EC-858E645B6D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E7E171-097C-7EC5-B850-AF8A90FAA44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9899DFA-89D0-1A39-C8E3-7410CA6C5060}"/>
              </a:ext>
            </a:extLst>
          </p:cNvPr>
          <p:cNvSpPr>
            <a:spLocks noGrp="1"/>
          </p:cNvSpPr>
          <p:nvPr>
            <p:ph type="sldNum" sz="quarter" idx="5"/>
          </p:nvPr>
        </p:nvSpPr>
        <p:spPr/>
        <p:txBody>
          <a:bodyPr/>
          <a:lstStyle/>
          <a:p>
            <a:fld id="{1151B581-9224-47A0-B959-9B6805DE9748}" type="slidenum">
              <a:rPr kumimoji="1" lang="ja-JP" altLang="en-US" smtClean="0"/>
              <a:t>12</a:t>
            </a:fld>
            <a:endParaRPr kumimoji="1" lang="ja-JP" altLang="en-US"/>
          </a:p>
        </p:txBody>
      </p:sp>
    </p:spTree>
    <p:extLst>
      <p:ext uri="{BB962C8B-B14F-4D97-AF65-F5344CB8AC3E}">
        <p14:creationId xmlns:p14="http://schemas.microsoft.com/office/powerpoint/2010/main" val="2588865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23F7-D688-EDF4-C923-A8F012BC84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0CA8B9-53B8-E8DD-2184-ED3C9C1E69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F153A7-3676-C0E4-66EC-C45EFB1486B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A0F7ED-6D83-8320-1926-E04141C85916}"/>
              </a:ext>
            </a:extLst>
          </p:cNvPr>
          <p:cNvSpPr>
            <a:spLocks noGrp="1"/>
          </p:cNvSpPr>
          <p:nvPr>
            <p:ph type="sldNum" sz="quarter" idx="5"/>
          </p:nvPr>
        </p:nvSpPr>
        <p:spPr/>
        <p:txBody>
          <a:bodyPr/>
          <a:lstStyle/>
          <a:p>
            <a:fld id="{1151B581-9224-47A0-B959-9B6805DE9748}" type="slidenum">
              <a:rPr kumimoji="1" lang="ja-JP" altLang="en-US" smtClean="0"/>
              <a:t>13</a:t>
            </a:fld>
            <a:endParaRPr kumimoji="1" lang="ja-JP" altLang="en-US"/>
          </a:p>
        </p:txBody>
      </p:sp>
    </p:spTree>
    <p:extLst>
      <p:ext uri="{BB962C8B-B14F-4D97-AF65-F5344CB8AC3E}">
        <p14:creationId xmlns:p14="http://schemas.microsoft.com/office/powerpoint/2010/main" val="2058465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B599-6DF7-A0B1-B0E8-52696D2A13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B1373C-482F-90B1-7FC3-8A2209D8CE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5C7AA8-9776-F41B-2541-2F5CDD2A519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772BE80-0151-D898-B667-28BA967D8A9C}"/>
              </a:ext>
            </a:extLst>
          </p:cNvPr>
          <p:cNvSpPr>
            <a:spLocks noGrp="1"/>
          </p:cNvSpPr>
          <p:nvPr>
            <p:ph type="sldNum" sz="quarter" idx="5"/>
          </p:nvPr>
        </p:nvSpPr>
        <p:spPr/>
        <p:txBody>
          <a:bodyPr/>
          <a:lstStyle/>
          <a:p>
            <a:fld id="{1151B581-9224-47A0-B959-9B6805DE9748}" type="slidenum">
              <a:rPr kumimoji="1" lang="ja-JP" altLang="en-US" smtClean="0"/>
              <a:t>14</a:t>
            </a:fld>
            <a:endParaRPr kumimoji="1" lang="ja-JP" altLang="en-US"/>
          </a:p>
        </p:txBody>
      </p:sp>
    </p:spTree>
    <p:extLst>
      <p:ext uri="{BB962C8B-B14F-4D97-AF65-F5344CB8AC3E}">
        <p14:creationId xmlns:p14="http://schemas.microsoft.com/office/powerpoint/2010/main" val="3333718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E9FE7-7552-4F04-CF49-35C8FF4EDE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ECB396-3AB8-CA6A-2FD6-45D7C68B93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477A1C-1292-9536-46DB-5B460F1B4529}"/>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BFA93236-C244-58B5-EB52-E2CF1933CB04}"/>
              </a:ext>
            </a:extLst>
          </p:cNvPr>
          <p:cNvSpPr>
            <a:spLocks noGrp="1"/>
          </p:cNvSpPr>
          <p:nvPr>
            <p:ph type="sldNum" sz="quarter" idx="5"/>
          </p:nvPr>
        </p:nvSpPr>
        <p:spPr/>
        <p:txBody>
          <a:bodyPr/>
          <a:lstStyle/>
          <a:p>
            <a:fld id="{1151B581-9224-47A0-B959-9B6805DE9748}" type="slidenum">
              <a:rPr kumimoji="1" lang="ja-JP" altLang="en-US" smtClean="0"/>
              <a:t>15</a:t>
            </a:fld>
            <a:endParaRPr kumimoji="1" lang="ja-JP" altLang="en-US"/>
          </a:p>
        </p:txBody>
      </p:sp>
    </p:spTree>
    <p:extLst>
      <p:ext uri="{BB962C8B-B14F-4D97-AF65-F5344CB8AC3E}">
        <p14:creationId xmlns:p14="http://schemas.microsoft.com/office/powerpoint/2010/main" val="439790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B8929-7BDD-3B17-0412-F2B832598E8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6A9CDC-BE22-DEA9-50DB-5B9B7E25CA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EB43C0-BD08-97F0-4563-F5122936A6B0}"/>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9E4234ED-E762-D3A9-0266-29D582FE867D}"/>
              </a:ext>
            </a:extLst>
          </p:cNvPr>
          <p:cNvSpPr>
            <a:spLocks noGrp="1"/>
          </p:cNvSpPr>
          <p:nvPr>
            <p:ph type="sldNum" sz="quarter" idx="5"/>
          </p:nvPr>
        </p:nvSpPr>
        <p:spPr/>
        <p:txBody>
          <a:bodyPr/>
          <a:lstStyle/>
          <a:p>
            <a:fld id="{1151B581-9224-47A0-B959-9B6805DE9748}" type="slidenum">
              <a:rPr kumimoji="1" lang="ja-JP" altLang="en-US" smtClean="0"/>
              <a:t>16</a:t>
            </a:fld>
            <a:endParaRPr kumimoji="1" lang="ja-JP" altLang="en-US"/>
          </a:p>
        </p:txBody>
      </p:sp>
    </p:spTree>
    <p:extLst>
      <p:ext uri="{BB962C8B-B14F-4D97-AF65-F5344CB8AC3E}">
        <p14:creationId xmlns:p14="http://schemas.microsoft.com/office/powerpoint/2010/main" val="4172905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D855A-C8F6-DD2E-325E-ABBEBAF4E8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EA5E28-3D24-70B8-D08F-B327FDC2EE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3DE216-C69E-74B8-20A1-7D32DF3CA0AF}"/>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F0EFE5BC-299E-76A2-0155-14648DEEE404}"/>
              </a:ext>
            </a:extLst>
          </p:cNvPr>
          <p:cNvSpPr>
            <a:spLocks noGrp="1"/>
          </p:cNvSpPr>
          <p:nvPr>
            <p:ph type="sldNum" sz="quarter" idx="5"/>
          </p:nvPr>
        </p:nvSpPr>
        <p:spPr/>
        <p:txBody>
          <a:bodyPr/>
          <a:lstStyle/>
          <a:p>
            <a:fld id="{1151B581-9224-47A0-B959-9B6805DE9748}" type="slidenum">
              <a:rPr kumimoji="1" lang="ja-JP" altLang="en-US" smtClean="0"/>
              <a:t>17</a:t>
            </a:fld>
            <a:endParaRPr kumimoji="1" lang="ja-JP" altLang="en-US"/>
          </a:p>
        </p:txBody>
      </p:sp>
    </p:spTree>
    <p:extLst>
      <p:ext uri="{BB962C8B-B14F-4D97-AF65-F5344CB8AC3E}">
        <p14:creationId xmlns:p14="http://schemas.microsoft.com/office/powerpoint/2010/main" val="2538773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D8B8A-DB40-9BC2-6265-0271B436F79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7C212A-12DE-CF29-FE1E-A73A61B48F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894DB30-736A-D676-5498-3F4837E9A4A5}"/>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8722A37F-8436-8D58-67CB-674D1145DB59}"/>
              </a:ext>
            </a:extLst>
          </p:cNvPr>
          <p:cNvSpPr>
            <a:spLocks noGrp="1"/>
          </p:cNvSpPr>
          <p:nvPr>
            <p:ph type="sldNum" sz="quarter" idx="5"/>
          </p:nvPr>
        </p:nvSpPr>
        <p:spPr/>
        <p:txBody>
          <a:bodyPr/>
          <a:lstStyle/>
          <a:p>
            <a:fld id="{1151B581-9224-47A0-B959-9B6805DE9748}" type="slidenum">
              <a:rPr kumimoji="1" lang="ja-JP" altLang="en-US" smtClean="0"/>
              <a:t>18</a:t>
            </a:fld>
            <a:endParaRPr kumimoji="1" lang="ja-JP" altLang="en-US"/>
          </a:p>
        </p:txBody>
      </p:sp>
    </p:spTree>
    <p:extLst>
      <p:ext uri="{BB962C8B-B14F-4D97-AF65-F5344CB8AC3E}">
        <p14:creationId xmlns:p14="http://schemas.microsoft.com/office/powerpoint/2010/main" val="2328859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0E4B-1215-603C-2363-401238E1BE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45B7E-D77E-B78F-9A6A-E6DE0CE8054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0E7303-9366-0AB4-2AD9-E83C207235D2}"/>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66771EA1-6AA3-78EE-494D-CFCFD0524F5E}"/>
              </a:ext>
            </a:extLst>
          </p:cNvPr>
          <p:cNvSpPr>
            <a:spLocks noGrp="1"/>
          </p:cNvSpPr>
          <p:nvPr>
            <p:ph type="sldNum" sz="quarter" idx="5"/>
          </p:nvPr>
        </p:nvSpPr>
        <p:spPr/>
        <p:txBody>
          <a:bodyPr/>
          <a:lstStyle/>
          <a:p>
            <a:fld id="{1151B581-9224-47A0-B959-9B6805DE9748}" type="slidenum">
              <a:rPr kumimoji="1" lang="ja-JP" altLang="en-US" smtClean="0"/>
              <a:t>19</a:t>
            </a:fld>
            <a:endParaRPr kumimoji="1" lang="ja-JP" altLang="en-US"/>
          </a:p>
        </p:txBody>
      </p:sp>
    </p:spTree>
    <p:extLst>
      <p:ext uri="{BB962C8B-B14F-4D97-AF65-F5344CB8AC3E}">
        <p14:creationId xmlns:p14="http://schemas.microsoft.com/office/powerpoint/2010/main" val="961499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66B2D-D8D7-00A3-5FFD-F14835C65E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B47773-0CB6-ECB9-2918-893361C0E5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B3C3F5-3BEA-83BB-82B9-1FFA7886B642}"/>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6D5AF9F1-03FA-D128-EBF1-1FCD0350B5C9}"/>
              </a:ext>
            </a:extLst>
          </p:cNvPr>
          <p:cNvSpPr>
            <a:spLocks noGrp="1"/>
          </p:cNvSpPr>
          <p:nvPr>
            <p:ph type="sldNum" sz="quarter" idx="5"/>
          </p:nvPr>
        </p:nvSpPr>
        <p:spPr/>
        <p:txBody>
          <a:bodyPr/>
          <a:lstStyle/>
          <a:p>
            <a:fld id="{1151B581-9224-47A0-B959-9B6805DE9748}" type="slidenum">
              <a:rPr kumimoji="1" lang="ja-JP" altLang="en-US" smtClean="0"/>
              <a:t>20</a:t>
            </a:fld>
            <a:endParaRPr kumimoji="1" lang="ja-JP" altLang="en-US"/>
          </a:p>
        </p:txBody>
      </p:sp>
    </p:spTree>
    <p:extLst>
      <p:ext uri="{BB962C8B-B14F-4D97-AF65-F5344CB8AC3E}">
        <p14:creationId xmlns:p14="http://schemas.microsoft.com/office/powerpoint/2010/main" val="1293981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368F3-4177-EF6F-8469-277F71408A4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24B133-01DA-C69E-92DA-A667129CBF9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09D7C3-D76D-0F5A-6AF1-80003ED8D654}"/>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1128BA9E-258E-B84C-98B6-9B1947B0A6AF}"/>
              </a:ext>
            </a:extLst>
          </p:cNvPr>
          <p:cNvSpPr>
            <a:spLocks noGrp="1"/>
          </p:cNvSpPr>
          <p:nvPr>
            <p:ph type="sldNum" sz="quarter" idx="5"/>
          </p:nvPr>
        </p:nvSpPr>
        <p:spPr/>
        <p:txBody>
          <a:bodyPr/>
          <a:lstStyle/>
          <a:p>
            <a:fld id="{1151B581-9224-47A0-B959-9B6805DE9748}" type="slidenum">
              <a:rPr kumimoji="1" lang="ja-JP" altLang="en-US" smtClean="0"/>
              <a:t>21</a:t>
            </a:fld>
            <a:endParaRPr kumimoji="1" lang="ja-JP" altLang="en-US"/>
          </a:p>
        </p:txBody>
      </p:sp>
    </p:spTree>
    <p:extLst>
      <p:ext uri="{BB962C8B-B14F-4D97-AF65-F5344CB8AC3E}">
        <p14:creationId xmlns:p14="http://schemas.microsoft.com/office/powerpoint/2010/main" val="1294769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51C58-CC84-8D94-F61F-8759CCF95D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C43F1E-1D83-D8E2-B855-C4DE62EB13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8FC0F4-6101-27EE-7AED-3BB1931F0A7C}"/>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C45EDDB0-3FC8-ECE4-6A4E-E4146D7DAF0A}"/>
              </a:ext>
            </a:extLst>
          </p:cNvPr>
          <p:cNvSpPr>
            <a:spLocks noGrp="1"/>
          </p:cNvSpPr>
          <p:nvPr>
            <p:ph type="sldNum" sz="quarter" idx="5"/>
          </p:nvPr>
        </p:nvSpPr>
        <p:spPr/>
        <p:txBody>
          <a:bodyPr/>
          <a:lstStyle/>
          <a:p>
            <a:fld id="{1151B581-9224-47A0-B959-9B6805DE9748}" type="slidenum">
              <a:rPr kumimoji="1" lang="ja-JP" altLang="en-US" smtClean="0"/>
              <a:t>22</a:t>
            </a:fld>
            <a:endParaRPr kumimoji="1" lang="ja-JP" altLang="en-US"/>
          </a:p>
        </p:txBody>
      </p:sp>
    </p:spTree>
    <p:extLst>
      <p:ext uri="{BB962C8B-B14F-4D97-AF65-F5344CB8AC3E}">
        <p14:creationId xmlns:p14="http://schemas.microsoft.com/office/powerpoint/2010/main" val="3563619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616A1-0E47-3F9C-9E6D-86029EF4AE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02AB97-546E-0544-D85D-497819B527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2FE082-8C7B-582C-3E1B-7FCED2E425F6}"/>
              </a:ext>
            </a:extLst>
          </p:cNvPr>
          <p:cNvSpPr>
            <a:spLocks noGrp="1"/>
          </p:cNvSpPr>
          <p:nvPr>
            <p:ph type="body" idx="1"/>
          </p:nvPr>
        </p:nvSpPr>
        <p:spPr/>
        <p:txBody>
          <a:bodyPr/>
          <a:lstStyle/>
          <a:p>
            <a:r>
              <a:rPr kumimoji="1" lang="en-US" altLang="ja-JP" dirty="0"/>
              <a:t>15:07~15:10</a:t>
            </a:r>
            <a:r>
              <a:rPr kumimoji="1" lang="ja-JP" altLang="en-US"/>
              <a:t>の間に</a:t>
            </a:r>
            <a:r>
              <a:rPr kumimoji="1" lang="en-US" altLang="ja-JP" dirty="0" err="1"/>
              <a:t>reg.exe</a:t>
            </a:r>
            <a:r>
              <a:rPr kumimoji="1" lang="ja-JP" altLang="en-US"/>
              <a:t>以外でレジストリの</a:t>
            </a:r>
            <a:r>
              <a:rPr kumimoji="1" lang="en-US" altLang="ja-JP" dirty="0"/>
              <a:t>Run</a:t>
            </a:r>
            <a:r>
              <a:rPr kumimoji="1" lang="ja-JP" altLang="en-US"/>
              <a:t>キーにアクセスしたプロセスを調査する</a:t>
            </a:r>
          </a:p>
        </p:txBody>
      </p:sp>
      <p:sp>
        <p:nvSpPr>
          <p:cNvPr id="4" name="スライド番号プレースホルダー 3">
            <a:extLst>
              <a:ext uri="{FF2B5EF4-FFF2-40B4-BE49-F238E27FC236}">
                <a16:creationId xmlns:a16="http://schemas.microsoft.com/office/drawing/2014/main" id="{420A09A9-D490-6142-8008-9A28A6C74334}"/>
              </a:ext>
            </a:extLst>
          </p:cNvPr>
          <p:cNvSpPr>
            <a:spLocks noGrp="1"/>
          </p:cNvSpPr>
          <p:nvPr>
            <p:ph type="sldNum" sz="quarter" idx="5"/>
          </p:nvPr>
        </p:nvSpPr>
        <p:spPr/>
        <p:txBody>
          <a:bodyPr/>
          <a:lstStyle/>
          <a:p>
            <a:fld id="{1151B581-9224-47A0-B959-9B6805DE9748}" type="slidenum">
              <a:rPr kumimoji="1" lang="ja-JP" altLang="en-US" smtClean="0"/>
              <a:t>23</a:t>
            </a:fld>
            <a:endParaRPr kumimoji="1" lang="ja-JP" altLang="en-US"/>
          </a:p>
        </p:txBody>
      </p:sp>
    </p:spTree>
    <p:extLst>
      <p:ext uri="{BB962C8B-B14F-4D97-AF65-F5344CB8AC3E}">
        <p14:creationId xmlns:p14="http://schemas.microsoft.com/office/powerpoint/2010/main" val="431379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5" Type="http://schemas.openxmlformats.org/officeDocument/2006/relationships/image" Target="../media/image8.emf"/><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表紙">
    <p:spTree>
      <p:nvGrpSpPr>
        <p:cNvPr id="1" name=""/>
        <p:cNvGrpSpPr/>
        <p:nvPr/>
      </p:nvGrpSpPr>
      <p:grpSpPr>
        <a:xfrm>
          <a:off x="0" y="0"/>
          <a:ext cx="0" cy="0"/>
          <a:chOff x="0" y="0"/>
          <a:chExt cx="0" cy="0"/>
        </a:xfrm>
      </p:grpSpPr>
      <p:pic>
        <p:nvPicPr>
          <p:cNvPr id="12" name="図 11" descr="スクリーンショット 0032-08-03 10.51.43.png">
            <a:extLst>
              <a:ext uri="{FF2B5EF4-FFF2-40B4-BE49-F238E27FC236}">
                <a16:creationId xmlns:a16="http://schemas.microsoft.com/office/drawing/2014/main" id="{CFBAADBB-5D2A-7240-9667-CE43D35865C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6858000"/>
          </a:xfrm>
          <a:prstGeom prst="rect">
            <a:avLst/>
          </a:prstGeom>
        </p:spPr>
      </p:pic>
      <p:pic>
        <p:nvPicPr>
          <p:cNvPr id="13" name="図 12" descr="スクリーンショット 0032-08-03 10.54.35.png">
            <a:extLst>
              <a:ext uri="{FF2B5EF4-FFF2-40B4-BE49-F238E27FC236}">
                <a16:creationId xmlns:a16="http://schemas.microsoft.com/office/drawing/2014/main" id="{5DB82FD4-B349-B644-9DA5-D20C1E9D16B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40005" y="6074507"/>
            <a:ext cx="2035940" cy="618237"/>
          </a:xfrm>
          <a:prstGeom prst="rect">
            <a:avLst/>
          </a:prstGeom>
        </p:spPr>
      </p:pic>
      <p:sp>
        <p:nvSpPr>
          <p:cNvPr id="17" name="Title 1">
            <a:extLst>
              <a:ext uri="{FF2B5EF4-FFF2-40B4-BE49-F238E27FC236}">
                <a16:creationId xmlns:a16="http://schemas.microsoft.com/office/drawing/2014/main" id="{2C744547-1E52-2F4E-9008-A9BC6CC9407D}"/>
              </a:ext>
            </a:extLst>
          </p:cNvPr>
          <p:cNvSpPr>
            <a:spLocks noGrp="1"/>
          </p:cNvSpPr>
          <p:nvPr>
            <p:ph type="ctrTitle" hasCustomPrompt="1"/>
          </p:nvPr>
        </p:nvSpPr>
        <p:spPr>
          <a:xfrm>
            <a:off x="1199300" y="2772484"/>
            <a:ext cx="7717350" cy="984251"/>
          </a:xfrm>
          <a:prstGeom prst="rect">
            <a:avLst/>
          </a:prstGeom>
          <a:solidFill>
            <a:schemeClr val="bg2">
              <a:lumMod val="10000"/>
              <a:alpha val="80000"/>
            </a:schemeClr>
          </a:solidFill>
          <a:ln>
            <a:noFill/>
          </a:ln>
        </p:spPr>
        <p:txBody>
          <a:bodyPr anchor="ctr">
            <a:normAutofit/>
          </a:bodyPr>
          <a:lstStyle>
            <a:lvl1pPr algn="ctr">
              <a:defRPr sz="4000" baseline="0">
                <a:solidFill>
                  <a:schemeClr val="bg1"/>
                </a:solidFill>
                <a:latin typeface="+mn-lt"/>
                <a:ea typeface="+mn-ea"/>
              </a:defRPr>
            </a:lvl1pPr>
          </a:lstStyle>
          <a:p>
            <a:r>
              <a:rPr lang="en-US" dirty="0"/>
              <a:t>Presentation Title</a:t>
            </a:r>
            <a:endParaRPr lang="en-AU" dirty="0"/>
          </a:p>
        </p:txBody>
      </p:sp>
    </p:spTree>
    <p:extLst>
      <p:ext uri="{BB962C8B-B14F-4D97-AF65-F5344CB8AC3E}">
        <p14:creationId xmlns:p14="http://schemas.microsoft.com/office/powerpoint/2010/main" val="427840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表紙_英語">
    <p:spTree>
      <p:nvGrpSpPr>
        <p:cNvPr id="1" name=""/>
        <p:cNvGrpSpPr/>
        <p:nvPr/>
      </p:nvGrpSpPr>
      <p:grpSpPr>
        <a:xfrm>
          <a:off x="0" y="0"/>
          <a:ext cx="0" cy="0"/>
          <a:chOff x="0" y="0"/>
          <a:chExt cx="0" cy="0"/>
        </a:xfrm>
      </p:grpSpPr>
      <p:pic>
        <p:nvPicPr>
          <p:cNvPr id="12" name="図 11" descr="スクリーンショット 0032-08-03 10.51.43.png">
            <a:extLst>
              <a:ext uri="{FF2B5EF4-FFF2-40B4-BE49-F238E27FC236}">
                <a16:creationId xmlns:a16="http://schemas.microsoft.com/office/drawing/2014/main" id="{CFBAADBB-5D2A-7240-9667-CE43D35865C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9144000" cy="6858000"/>
          </a:xfrm>
          <a:prstGeom prst="rect">
            <a:avLst/>
          </a:prstGeom>
        </p:spPr>
      </p:pic>
      <p:pic>
        <p:nvPicPr>
          <p:cNvPr id="13" name="図 12" descr="スクリーンショット 0032-08-03 10.54.35.png">
            <a:extLst>
              <a:ext uri="{FF2B5EF4-FFF2-40B4-BE49-F238E27FC236}">
                <a16:creationId xmlns:a16="http://schemas.microsoft.com/office/drawing/2014/main" id="{5DB82FD4-B349-B644-9DA5-D20C1E9D16B2}"/>
              </a:ext>
            </a:extLst>
          </p:cNvPr>
          <p:cNvPicPr>
            <a:picLocks noChangeAspect="1"/>
          </p:cNvPicPr>
          <p:nvPr/>
        </p:nvPicPr>
        <p:blipFill rotWithShape="1">
          <a:blip r:embed="rId3">
            <a:extLst>
              <a:ext uri="{28A0092B-C50C-407E-A947-70E740481C1C}">
                <a14:useLocalDpi xmlns:a14="http://schemas.microsoft.com/office/drawing/2010/main"/>
              </a:ext>
            </a:extLst>
          </a:blip>
          <a:srcRect t="12957" b="40585"/>
          <a:stretch/>
        </p:blipFill>
        <p:spPr>
          <a:xfrm>
            <a:off x="4040005" y="6154614"/>
            <a:ext cx="2035940" cy="287217"/>
          </a:xfrm>
          <a:prstGeom prst="rect">
            <a:avLst/>
          </a:prstGeom>
        </p:spPr>
      </p:pic>
      <p:sp>
        <p:nvSpPr>
          <p:cNvPr id="17" name="Title 1">
            <a:extLst>
              <a:ext uri="{FF2B5EF4-FFF2-40B4-BE49-F238E27FC236}">
                <a16:creationId xmlns:a16="http://schemas.microsoft.com/office/drawing/2014/main" id="{2C744547-1E52-2F4E-9008-A9BC6CC9407D}"/>
              </a:ext>
            </a:extLst>
          </p:cNvPr>
          <p:cNvSpPr>
            <a:spLocks noGrp="1"/>
          </p:cNvSpPr>
          <p:nvPr>
            <p:ph type="ctrTitle" hasCustomPrompt="1"/>
          </p:nvPr>
        </p:nvSpPr>
        <p:spPr>
          <a:xfrm>
            <a:off x="1199300" y="2772484"/>
            <a:ext cx="7717350" cy="984251"/>
          </a:xfrm>
          <a:prstGeom prst="rect">
            <a:avLst/>
          </a:prstGeom>
          <a:solidFill>
            <a:schemeClr val="bg2">
              <a:lumMod val="10000"/>
              <a:alpha val="80000"/>
            </a:schemeClr>
          </a:solidFill>
          <a:ln>
            <a:noFill/>
          </a:ln>
        </p:spPr>
        <p:txBody>
          <a:bodyPr anchor="ctr">
            <a:normAutofit/>
          </a:bodyPr>
          <a:lstStyle>
            <a:lvl1pPr algn="ctr">
              <a:defRPr sz="4000" baseline="0">
                <a:solidFill>
                  <a:schemeClr val="bg1"/>
                </a:solidFill>
                <a:latin typeface="+mn-lt"/>
                <a:ea typeface="+mn-ea"/>
              </a:defRPr>
            </a:lvl1pPr>
          </a:lstStyle>
          <a:p>
            <a:r>
              <a:rPr lang="en-US" dirty="0"/>
              <a:t>Presentation Title</a:t>
            </a:r>
            <a:endParaRPr lang="en-AU" dirty="0"/>
          </a:p>
        </p:txBody>
      </p:sp>
    </p:spTree>
    <p:extLst>
      <p:ext uri="{BB962C8B-B14F-4D97-AF65-F5344CB8AC3E}">
        <p14:creationId xmlns:p14="http://schemas.microsoft.com/office/powerpoint/2010/main" val="247361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pic>
        <p:nvPicPr>
          <p:cNvPr id="12" name="図 11" descr="logo.png">
            <a:extLst>
              <a:ext uri="{FF2B5EF4-FFF2-40B4-BE49-F238E27FC236}">
                <a16:creationId xmlns:a16="http://schemas.microsoft.com/office/drawing/2014/main" id="{E2653730-7038-094D-8325-5F19CBDC73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cxnSp>
        <p:nvCxnSpPr>
          <p:cNvPr id="14" name="直線コネクタ 13">
            <a:extLst>
              <a:ext uri="{FF2B5EF4-FFF2-40B4-BE49-F238E27FC236}">
                <a16:creationId xmlns:a16="http://schemas.microsoft.com/office/drawing/2014/main" id="{81D794E3-E98C-8641-824A-A49A688D0102}"/>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Rectangle 3">
            <a:extLst>
              <a:ext uri="{FF2B5EF4-FFF2-40B4-BE49-F238E27FC236}">
                <a16:creationId xmlns:a16="http://schemas.microsoft.com/office/drawing/2014/main" id="{DA00DA09-D24E-4341-9594-ABE7197C4A39}"/>
              </a:ext>
            </a:extLst>
          </p:cNvPr>
          <p:cNvSpPr>
            <a:spLocks noGrp="1" noChangeArrowheads="1"/>
          </p:cNvSpPr>
          <p:nvPr>
            <p:ph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bodyPr>
          <a:lstStyle>
            <a:lvl1pPr>
              <a:defRPr sz="2800" baseline="0">
                <a:latin typeface="+mn-lt"/>
                <a:ea typeface="+mn-ea"/>
              </a:defRPr>
            </a:lvl1pPr>
            <a:lvl2pPr>
              <a:defRPr sz="2400" baseline="0">
                <a:latin typeface="+mn-lt"/>
                <a:ea typeface="+mn-ea"/>
              </a:defRPr>
            </a:lvl2pPr>
            <a:lvl3pPr>
              <a:defRPr sz="2000" baseline="0">
                <a:latin typeface="+mn-lt"/>
                <a:ea typeface="+mn-ea"/>
              </a:defRPr>
            </a:lvl3pPr>
            <a:lvl4pPr>
              <a:defRPr sz="1800" baseline="0">
                <a:latin typeface="+mn-lt"/>
                <a:ea typeface="+mn-ea"/>
              </a:defRPr>
            </a:lvl4pPr>
            <a:lvl5pPr>
              <a:defRPr sz="1800" baseline="0">
                <a:latin typeface="+mn-lt"/>
                <a:ea typeface="+mn-ea"/>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11" name="タイトル プレースホルダー 8">
            <a:extLst>
              <a:ext uri="{FF2B5EF4-FFF2-40B4-BE49-F238E27FC236}">
                <a16:creationId xmlns:a16="http://schemas.microsoft.com/office/drawing/2014/main" id="{AC86CDC6-7C80-4E69-A973-0B1188BC8565}"/>
              </a:ext>
            </a:extLst>
          </p:cNvPr>
          <p:cNvSpPr>
            <a:spLocks noGrp="1"/>
          </p:cNvSpPr>
          <p:nvPr>
            <p:ph type="title"/>
          </p:nvPr>
        </p:nvSpPr>
        <p:spPr>
          <a:xfrm>
            <a:off x="217755" y="25641"/>
            <a:ext cx="7886700" cy="626133"/>
          </a:xfrm>
          <a:prstGeom prst="rect">
            <a:avLst/>
          </a:prstGeom>
        </p:spPr>
        <p:txBody>
          <a:bodyPr vert="horz" lIns="91440" tIns="45720" rIns="91440" bIns="45720" rtlCol="0" anchor="ctr">
            <a:noAutofit/>
          </a:bodyPr>
          <a:lstStyle>
            <a:lvl1pPr>
              <a:defRPr sz="3400"/>
            </a:lvl1pPr>
          </a:lstStyle>
          <a:p>
            <a:r>
              <a:rPr kumimoji="1" lang="ja-JP" altLang="en-US"/>
              <a:t>マスター タイトルの書式設定</a:t>
            </a:r>
            <a:endParaRPr kumimoji="1" lang="ja-JP" altLang="en-US" dirty="0"/>
          </a:p>
        </p:txBody>
      </p:sp>
      <p:sp>
        <p:nvSpPr>
          <p:cNvPr id="2" name="スライド番号プレースホルダー 1">
            <a:extLst>
              <a:ext uri="{FF2B5EF4-FFF2-40B4-BE49-F238E27FC236}">
                <a16:creationId xmlns:a16="http://schemas.microsoft.com/office/drawing/2014/main" id="{B5EB5101-279D-4C19-8E42-7ADA2961A449}"/>
              </a:ext>
            </a:extLst>
          </p:cNvPr>
          <p:cNvSpPr>
            <a:spLocks noGrp="1"/>
          </p:cNvSpPr>
          <p:nvPr>
            <p:ph type="sldNum" sz="quarter" idx="10"/>
          </p:nvPr>
        </p:nvSpPr>
        <p:spPr/>
        <p:txBody>
          <a:bodyPr/>
          <a:lstStyle/>
          <a:p>
            <a:fld id="{3F804FDB-4E38-4F90-9E64-BFF41C44FBD6}" type="slidenum">
              <a:rPr lang="en-US" smtClean="0"/>
              <a:t>‹#›</a:t>
            </a:fld>
            <a:endParaRPr lang="en-US"/>
          </a:p>
        </p:txBody>
      </p:sp>
    </p:spTree>
    <p:extLst>
      <p:ext uri="{BB962C8B-B14F-4D97-AF65-F5344CB8AC3E}">
        <p14:creationId xmlns:p14="http://schemas.microsoft.com/office/powerpoint/2010/main" val="3551604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s2">
    <p:spTree>
      <p:nvGrpSpPr>
        <p:cNvPr id="1" name=""/>
        <p:cNvGrpSpPr/>
        <p:nvPr/>
      </p:nvGrpSpPr>
      <p:grpSpPr>
        <a:xfrm>
          <a:off x="0" y="0"/>
          <a:ext cx="0" cy="0"/>
          <a:chOff x="0" y="0"/>
          <a:chExt cx="0" cy="0"/>
        </a:xfrm>
      </p:grpSpPr>
      <p:pic>
        <p:nvPicPr>
          <p:cNvPr id="9" name="図 8" descr="logo.png">
            <a:extLst>
              <a:ext uri="{FF2B5EF4-FFF2-40B4-BE49-F238E27FC236}">
                <a16:creationId xmlns:a16="http://schemas.microsoft.com/office/drawing/2014/main" id="{6C5172C7-7AE7-7443-ADE7-A655FCA995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sp>
        <p:nvSpPr>
          <p:cNvPr id="13" name="コンテンツ プレースホルダー 2">
            <a:extLst>
              <a:ext uri="{FF2B5EF4-FFF2-40B4-BE49-F238E27FC236}">
                <a16:creationId xmlns:a16="http://schemas.microsoft.com/office/drawing/2014/main" id="{F20FB4A5-7FA1-49F1-AC3C-AF85D7DCC8CE}"/>
              </a:ext>
            </a:extLst>
          </p:cNvPr>
          <p:cNvSpPr>
            <a:spLocks noGrp="1"/>
          </p:cNvSpPr>
          <p:nvPr>
            <p:ph sz="half" idx="1"/>
          </p:nvPr>
        </p:nvSpPr>
        <p:spPr>
          <a:xfrm>
            <a:off x="509957" y="991682"/>
            <a:ext cx="3851031" cy="4824412"/>
          </a:xfrm>
        </p:spPr>
        <p:txBody>
          <a:bodyPr/>
          <a:lstStyle>
            <a:lvl1pPr>
              <a:defRPr sz="2400"/>
            </a:lvl1pPr>
            <a:lvl2pPr>
              <a:defRPr sz="2000"/>
            </a:lvl2pPr>
            <a:lvl3pPr>
              <a:defRPr sz="1800"/>
            </a:lvl3pPr>
            <a:lvl4pPr>
              <a:defRPr sz="1600"/>
            </a:lvl4pPr>
            <a:lvl5pPr>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16" name="コンテンツ プレースホルダー 3">
            <a:extLst>
              <a:ext uri="{FF2B5EF4-FFF2-40B4-BE49-F238E27FC236}">
                <a16:creationId xmlns:a16="http://schemas.microsoft.com/office/drawing/2014/main" id="{7EC4A0C9-A2CC-43ED-A35E-007DFC9AC9B6}"/>
              </a:ext>
            </a:extLst>
          </p:cNvPr>
          <p:cNvSpPr>
            <a:spLocks noGrp="1"/>
          </p:cNvSpPr>
          <p:nvPr>
            <p:ph sz="half" idx="2"/>
          </p:nvPr>
        </p:nvSpPr>
        <p:spPr>
          <a:xfrm>
            <a:off x="4501664" y="991682"/>
            <a:ext cx="3851031" cy="4824412"/>
          </a:xfrm>
        </p:spPr>
        <p:txBody>
          <a:bodyPr/>
          <a:lstStyle>
            <a:lvl1pPr>
              <a:defRPr sz="2400"/>
            </a:lvl1pPr>
            <a:lvl2pPr>
              <a:defRPr sz="2000"/>
            </a:lvl2pPr>
            <a:lvl3pPr>
              <a:defRPr sz="1800"/>
            </a:lvl3pPr>
            <a:lvl4pPr>
              <a:defRPr sz="1600"/>
            </a:lvl4pPr>
            <a:lvl5pPr>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4" name="タイトル プレースホルダー 8">
            <a:extLst>
              <a:ext uri="{FF2B5EF4-FFF2-40B4-BE49-F238E27FC236}">
                <a16:creationId xmlns:a16="http://schemas.microsoft.com/office/drawing/2014/main" id="{5470A241-928E-4DF1-97C7-83BB35751C3B}"/>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lvl1pPr>
              <a:defRPr sz="3400"/>
            </a:lvl1pPr>
          </a:lstStyle>
          <a:p>
            <a:r>
              <a:rPr kumimoji="1" lang="ja-JP" altLang="en-US"/>
              <a:t>マスター タイトルの書式設定</a:t>
            </a:r>
          </a:p>
        </p:txBody>
      </p:sp>
      <p:sp>
        <p:nvSpPr>
          <p:cNvPr id="11" name="スライド番号プレースホルダー 1">
            <a:extLst>
              <a:ext uri="{FF2B5EF4-FFF2-40B4-BE49-F238E27FC236}">
                <a16:creationId xmlns:a16="http://schemas.microsoft.com/office/drawing/2014/main" id="{8C3FCE93-4803-4F8F-8C76-10567C1EF463}"/>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a:p>
        </p:txBody>
      </p:sp>
    </p:spTree>
    <p:extLst>
      <p:ext uri="{BB962C8B-B14F-4D97-AF65-F5344CB8AC3E}">
        <p14:creationId xmlns:p14="http://schemas.microsoft.com/office/powerpoint/2010/main" val="2090514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行頭文字変更版1">
    <p:spTree>
      <p:nvGrpSpPr>
        <p:cNvPr id="1" name=""/>
        <p:cNvGrpSpPr/>
        <p:nvPr/>
      </p:nvGrpSpPr>
      <p:grpSpPr>
        <a:xfrm>
          <a:off x="0" y="0"/>
          <a:ext cx="0" cy="0"/>
          <a:chOff x="0" y="0"/>
          <a:chExt cx="0" cy="0"/>
        </a:xfrm>
      </p:grpSpPr>
      <p:pic>
        <p:nvPicPr>
          <p:cNvPr id="12" name="図 11" descr="logo.png">
            <a:extLst>
              <a:ext uri="{FF2B5EF4-FFF2-40B4-BE49-F238E27FC236}">
                <a16:creationId xmlns:a16="http://schemas.microsoft.com/office/drawing/2014/main" id="{E2653730-7038-094D-8325-5F19CBDC73C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cxnSp>
        <p:nvCxnSpPr>
          <p:cNvPr id="14" name="直線コネクタ 13">
            <a:extLst>
              <a:ext uri="{FF2B5EF4-FFF2-40B4-BE49-F238E27FC236}">
                <a16:creationId xmlns:a16="http://schemas.microsoft.com/office/drawing/2014/main" id="{81D794E3-E98C-8641-824A-A49A688D0102}"/>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Rectangle 3">
            <a:extLst>
              <a:ext uri="{FF2B5EF4-FFF2-40B4-BE49-F238E27FC236}">
                <a16:creationId xmlns:a16="http://schemas.microsoft.com/office/drawing/2014/main" id="{DA00DA09-D24E-4341-9594-ABE7197C4A39}"/>
              </a:ext>
            </a:extLst>
          </p:cNvPr>
          <p:cNvSpPr>
            <a:spLocks noGrp="1" noChangeArrowheads="1"/>
          </p:cNvSpPr>
          <p:nvPr>
            <p:ph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bodyPr>
          <a:lstStyle>
            <a:lvl1pPr marL="371464" indent="-371464">
              <a:buFontTx/>
              <a:buBlip>
                <a:blip r:embed="rId3"/>
              </a:buBlip>
              <a:defRPr/>
            </a:lvl1pPr>
            <a:lvl2pPr marL="804838" indent="-309553">
              <a:buFontTx/>
              <a:buBlip>
                <a:blip r:embed="rId4"/>
              </a:buBlip>
              <a:defRPr/>
            </a:lvl2pPr>
            <a:lvl3pPr marL="1238212" indent="-247642">
              <a:buFontTx/>
              <a:buBlip>
                <a:blip r:embed="rId5"/>
              </a:buBlip>
              <a:defRPr/>
            </a:lvl3pPr>
            <a:lvl4pPr marL="1733497" indent="-247642">
              <a:buFontTx/>
              <a:buBlip>
                <a:blip r:embed="rId6"/>
              </a:buBlip>
              <a:defRPr/>
            </a:lvl4pPr>
            <a:lvl5pPr marL="2228781" indent="-247642">
              <a:buFontTx/>
              <a:buBlip>
                <a:blip r:embed="rId3"/>
              </a:buBlip>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11" name="タイトル プレースホルダー 8">
            <a:extLst>
              <a:ext uri="{FF2B5EF4-FFF2-40B4-BE49-F238E27FC236}">
                <a16:creationId xmlns:a16="http://schemas.microsoft.com/office/drawing/2014/main" id="{950B7CDF-3EFD-4119-8AFC-00D7CFE8E1B5}"/>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dirty="0"/>
          </a:p>
        </p:txBody>
      </p:sp>
      <p:sp>
        <p:nvSpPr>
          <p:cNvPr id="9" name="スライド番号プレースホルダー 1">
            <a:extLst>
              <a:ext uri="{FF2B5EF4-FFF2-40B4-BE49-F238E27FC236}">
                <a16:creationId xmlns:a16="http://schemas.microsoft.com/office/drawing/2014/main" id="{1E70D40B-3CB3-4A92-9FA6-A7D65F5B73F1}"/>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a:p>
        </p:txBody>
      </p:sp>
    </p:spTree>
    <p:extLst>
      <p:ext uri="{BB962C8B-B14F-4D97-AF65-F5344CB8AC3E}">
        <p14:creationId xmlns:p14="http://schemas.microsoft.com/office/powerpoint/2010/main" val="222323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フットノート所属英語版 ">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28FE0BD5-EE11-8740-9958-7B69F43D1177}"/>
              </a:ext>
            </a:extLst>
          </p:cNvPr>
          <p:cNvSpPr txBox="1"/>
          <p:nvPr/>
        </p:nvSpPr>
        <p:spPr>
          <a:xfrm>
            <a:off x="217755" y="6462743"/>
            <a:ext cx="7639674" cy="276999"/>
          </a:xfrm>
          <a:prstGeom prst="rect">
            <a:avLst/>
          </a:prstGeom>
          <a:solidFill>
            <a:schemeClr val="bg1"/>
          </a:solidFill>
        </p:spPr>
        <p:txBody>
          <a:bodyPr wrap="square" lIns="0" tIns="0" rIns="0" bIns="0" rtlCol="0">
            <a:spAutoFit/>
          </a:bodyPr>
          <a:lstStyle/>
          <a:p>
            <a:pPr algn="l"/>
            <a:r>
              <a:rPr kumimoji="1" lang="en-US" altLang="ja-JP" sz="900" kern="1200" baseline="0" dirty="0">
                <a:solidFill>
                  <a:schemeClr val="bg2">
                    <a:lumMod val="50000"/>
                  </a:schemeClr>
                </a:solidFill>
                <a:latin typeface="+mn-lt"/>
                <a:ea typeface="+mn-ea"/>
                <a:cs typeface="+mn-cs"/>
              </a:rPr>
              <a:t>Copyright © 2020 Laboratory of Harmonious Systems Engineering Research Group of Synergetic Information Engineering</a:t>
            </a:r>
          </a:p>
          <a:p>
            <a:pPr algn="l"/>
            <a:r>
              <a:rPr kumimoji="1" lang="en-US" altLang="ja-JP" sz="900" kern="1200" baseline="0" dirty="0">
                <a:solidFill>
                  <a:schemeClr val="bg2">
                    <a:lumMod val="50000"/>
                  </a:schemeClr>
                </a:solidFill>
                <a:latin typeface="+mn-lt"/>
                <a:ea typeface="+mn-ea"/>
                <a:cs typeface="+mn-cs"/>
              </a:rPr>
              <a:t>Division of Computer Science and Information Technology Faculty of Information Science and Technology Hokkaido University</a:t>
            </a:r>
            <a:r>
              <a:rPr kumimoji="1" lang="ja-JP" altLang="en-US" sz="900" kern="1200" baseline="0" dirty="0">
                <a:solidFill>
                  <a:schemeClr val="bg2">
                    <a:lumMod val="50000"/>
                  </a:schemeClr>
                </a:solidFill>
                <a:latin typeface="+mn-lt"/>
                <a:ea typeface="+mn-ea"/>
                <a:cs typeface="+mn-cs"/>
              </a:rPr>
              <a:t> </a:t>
            </a:r>
            <a:r>
              <a:rPr kumimoji="1" lang="en-US" altLang="ja-JP" sz="900" kern="1200" baseline="0" dirty="0">
                <a:solidFill>
                  <a:schemeClr val="bg2">
                    <a:lumMod val="50000"/>
                  </a:schemeClr>
                </a:solidFill>
                <a:latin typeface="+mn-lt"/>
                <a:ea typeface="+mn-ea"/>
                <a:cs typeface="+mn-cs"/>
              </a:rPr>
              <a:t>– </a:t>
            </a:r>
            <a:r>
              <a:rPr kumimoji="1" lang="en-US" altLang="ja-JP" sz="900" baseline="0" dirty="0">
                <a:solidFill>
                  <a:schemeClr val="bg2">
                    <a:lumMod val="50000"/>
                  </a:schemeClr>
                </a:solidFill>
                <a:latin typeface="+mn-lt"/>
                <a:ea typeface="+mn-ea"/>
                <a:cs typeface="Calibri"/>
              </a:rPr>
              <a:t>All rights reserved.</a:t>
            </a:r>
          </a:p>
        </p:txBody>
      </p:sp>
      <p:cxnSp>
        <p:nvCxnSpPr>
          <p:cNvPr id="8" name="直線コネクタ 7">
            <a:extLst>
              <a:ext uri="{FF2B5EF4-FFF2-40B4-BE49-F238E27FC236}">
                <a16:creationId xmlns:a16="http://schemas.microsoft.com/office/drawing/2014/main" id="{2BD1EBBA-406D-B342-93F0-1BD88C052383}"/>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スライド番号プレースホルダー 1">
            <a:extLst>
              <a:ext uri="{FF2B5EF4-FFF2-40B4-BE49-F238E27FC236}">
                <a16:creationId xmlns:a16="http://schemas.microsoft.com/office/drawing/2014/main" id="{0DA60D4C-50A6-415B-9225-EB34D780F0C2}"/>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dirty="0"/>
          </a:p>
        </p:txBody>
      </p:sp>
      <p:sp>
        <p:nvSpPr>
          <p:cNvPr id="13" name="タイトル プレースホルダー 8">
            <a:extLst>
              <a:ext uri="{FF2B5EF4-FFF2-40B4-BE49-F238E27FC236}">
                <a16:creationId xmlns:a16="http://schemas.microsoft.com/office/drawing/2014/main" id="{4D60292C-899A-49E6-BF61-6A871CF81149}"/>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dirty="0"/>
          </a:p>
        </p:txBody>
      </p:sp>
      <p:sp>
        <p:nvSpPr>
          <p:cNvPr id="14" name="Rectangle 3">
            <a:extLst>
              <a:ext uri="{FF2B5EF4-FFF2-40B4-BE49-F238E27FC236}">
                <a16:creationId xmlns:a16="http://schemas.microsoft.com/office/drawing/2014/main" id="{C2EA9DFC-3A2A-497C-98C0-2B2D11D12BC9}"/>
              </a:ext>
            </a:extLst>
          </p:cNvPr>
          <p:cNvSpPr>
            <a:spLocks noGrp="1" noChangeArrowheads="1"/>
          </p:cNvSpPr>
          <p:nvPr>
            <p:ph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bodyPr>
          <a:lstStyle>
            <a:lvl1pPr>
              <a:defRPr sz="2800"/>
            </a:lvl1pPr>
            <a:lvl2pPr>
              <a:defRPr sz="2400"/>
            </a:lvl2pPr>
            <a:lvl3pPr>
              <a:defRPr sz="2000"/>
            </a:lvl3pPr>
            <a:lvl4pPr>
              <a:defRPr sz="1800"/>
            </a:lvl4pPr>
            <a:lvl5pPr>
              <a:defRPr sz="18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2" name="正方形/長方形 1">
            <a:extLst>
              <a:ext uri="{FF2B5EF4-FFF2-40B4-BE49-F238E27FC236}">
                <a16:creationId xmlns:a16="http://schemas.microsoft.com/office/drawing/2014/main" id="{98B0DE32-916C-4E37-A667-931FBE955A61}"/>
              </a:ext>
            </a:extLst>
          </p:cNvPr>
          <p:cNvSpPr/>
          <p:nvPr userDrawn="1"/>
        </p:nvSpPr>
        <p:spPr>
          <a:xfrm>
            <a:off x="7857429" y="6420953"/>
            <a:ext cx="1237722" cy="4113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9" name="図 8" descr="logo.png">
            <a:extLst>
              <a:ext uri="{FF2B5EF4-FFF2-40B4-BE49-F238E27FC236}">
                <a16:creationId xmlns:a16="http://schemas.microsoft.com/office/drawing/2014/main" id="{CE42CB56-5B30-48F2-8004-2C77D58F442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5720"/>
          <a:stretch/>
        </p:blipFill>
        <p:spPr>
          <a:xfrm>
            <a:off x="7857429" y="6489669"/>
            <a:ext cx="1237723" cy="221795"/>
          </a:xfrm>
          <a:prstGeom prst="rect">
            <a:avLst/>
          </a:prstGeom>
        </p:spPr>
      </p:pic>
    </p:spTree>
    <p:extLst>
      <p:ext uri="{BB962C8B-B14F-4D97-AF65-F5344CB8AC3E}">
        <p14:creationId xmlns:p14="http://schemas.microsoft.com/office/powerpoint/2010/main" val="104661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フットノート所属省略版 ">
    <p:spTree>
      <p:nvGrpSpPr>
        <p:cNvPr id="1" name=""/>
        <p:cNvGrpSpPr/>
        <p:nvPr/>
      </p:nvGrpSpPr>
      <p:grpSpPr>
        <a:xfrm>
          <a:off x="0" y="0"/>
          <a:ext cx="0" cy="0"/>
          <a:chOff x="0" y="0"/>
          <a:chExt cx="0" cy="0"/>
        </a:xfrm>
      </p:grpSpPr>
      <p:pic>
        <p:nvPicPr>
          <p:cNvPr id="7" name="図 6" descr="logo.png">
            <a:extLst>
              <a:ext uri="{FF2B5EF4-FFF2-40B4-BE49-F238E27FC236}">
                <a16:creationId xmlns:a16="http://schemas.microsoft.com/office/drawing/2014/main" id="{2DAA8506-A031-3648-BF70-05A8C396DB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cxnSp>
        <p:nvCxnSpPr>
          <p:cNvPr id="12" name="直線コネクタ 11">
            <a:extLst>
              <a:ext uri="{FF2B5EF4-FFF2-40B4-BE49-F238E27FC236}">
                <a16:creationId xmlns:a16="http://schemas.microsoft.com/office/drawing/2014/main" id="{EF014D43-92CD-4C47-BFEF-97A0509F0535}"/>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CEF07530-73BD-9846-970E-4CFC0855FB55}"/>
              </a:ext>
            </a:extLst>
          </p:cNvPr>
          <p:cNvSpPr txBox="1"/>
          <p:nvPr/>
        </p:nvSpPr>
        <p:spPr>
          <a:xfrm>
            <a:off x="664115" y="6555940"/>
            <a:ext cx="7465185" cy="169277"/>
          </a:xfrm>
          <a:prstGeom prst="rect">
            <a:avLst/>
          </a:prstGeom>
          <a:noFill/>
        </p:spPr>
        <p:txBody>
          <a:bodyPr wrap="none" lIns="0" tIns="0" rIns="0" bIns="0" rtlCol="0">
            <a:spAutoFit/>
          </a:bodyPr>
          <a:lstStyle/>
          <a:p>
            <a:r>
              <a:rPr kumimoji="1" lang="en-US" altLang="ja-JP" sz="1000" dirty="0">
                <a:solidFill>
                  <a:schemeClr val="bg2">
                    <a:lumMod val="50000"/>
                  </a:schemeClr>
                </a:solidFill>
                <a:latin typeface="+mj-lt"/>
                <a:ea typeface="Meiryo" panose="020B0604030504040204" pitchFamily="34" charset="-128"/>
                <a:cs typeface="Calibri"/>
              </a:rPr>
              <a:t>  </a:t>
            </a:r>
            <a:r>
              <a:rPr kumimoji="1" lang="en-US" altLang="ja-JP" sz="1100" kern="1200" dirty="0">
                <a:solidFill>
                  <a:schemeClr val="bg2">
                    <a:lumMod val="50000"/>
                  </a:schemeClr>
                </a:solidFill>
                <a:latin typeface="+mj-lt"/>
                <a:ea typeface="Meiryo" panose="020B0604030504040204" pitchFamily="34" charset="-128"/>
                <a:cs typeface="+mn-cs"/>
              </a:rPr>
              <a:t>Copyright © 2020 </a:t>
            </a:r>
            <a:r>
              <a:rPr kumimoji="1" lang="ja-JP" altLang="en-US" sz="1000" kern="1200" dirty="0">
                <a:solidFill>
                  <a:schemeClr val="bg2">
                    <a:lumMod val="50000"/>
                  </a:schemeClr>
                </a:solidFill>
                <a:latin typeface="Meiryo" panose="020B0604030504040204" pitchFamily="34" charset="-128"/>
                <a:ea typeface="Meiryo" panose="020B0604030504040204" pitchFamily="34" charset="-128"/>
                <a:cs typeface="+mn-cs"/>
              </a:rPr>
              <a:t>調和系工学研究室 </a:t>
            </a:r>
            <a:r>
              <a:rPr kumimoji="1" lang="en-US" altLang="ja-JP" sz="1000" kern="1200" dirty="0">
                <a:solidFill>
                  <a:schemeClr val="bg2">
                    <a:lumMod val="50000"/>
                  </a:schemeClr>
                </a:solidFill>
                <a:latin typeface="Meiryo" panose="020B0604030504040204" pitchFamily="34" charset="-128"/>
                <a:ea typeface="Meiryo" panose="020B0604030504040204" pitchFamily="34" charset="-128"/>
                <a:cs typeface="+mn-cs"/>
              </a:rPr>
              <a:t>- </a:t>
            </a:r>
            <a:r>
              <a:rPr kumimoji="1" lang="ja-JP" altLang="en-US" sz="1000" kern="1200" dirty="0">
                <a:solidFill>
                  <a:schemeClr val="bg2">
                    <a:lumMod val="50000"/>
                  </a:schemeClr>
                </a:solidFill>
                <a:latin typeface="Meiryo" panose="020B0604030504040204" pitchFamily="34" charset="-128"/>
                <a:ea typeface="Meiryo" panose="020B0604030504040204" pitchFamily="34" charset="-128"/>
                <a:cs typeface="+mn-cs"/>
              </a:rPr>
              <a:t>北海道大学 大学院情報科学研究院 情報理工学部門 複合情報工学分野</a:t>
            </a:r>
            <a:r>
              <a:rPr kumimoji="1" lang="ja-JP" altLang="en-US" sz="1100" kern="1200" dirty="0">
                <a:solidFill>
                  <a:schemeClr val="bg2">
                    <a:lumMod val="50000"/>
                  </a:schemeClr>
                </a:solidFill>
                <a:latin typeface="+mn-lt"/>
                <a:ea typeface="Meiryo" panose="020B0604030504040204" pitchFamily="34" charset="-128"/>
                <a:cs typeface="+mn-cs"/>
              </a:rPr>
              <a:t> </a:t>
            </a:r>
            <a:r>
              <a:rPr kumimoji="1" lang="en-US" altLang="ja-JP" sz="1100" kern="1200" dirty="0">
                <a:solidFill>
                  <a:schemeClr val="bg2">
                    <a:lumMod val="50000"/>
                  </a:schemeClr>
                </a:solidFill>
                <a:latin typeface="+mn-lt"/>
                <a:ea typeface="Meiryo" panose="020B0604030504040204" pitchFamily="34" charset="-128"/>
                <a:cs typeface="+mn-cs"/>
              </a:rPr>
              <a:t>– </a:t>
            </a:r>
            <a:r>
              <a:rPr kumimoji="1" lang="en-US" altLang="ja-JP" sz="1100" dirty="0">
                <a:solidFill>
                  <a:schemeClr val="bg2">
                    <a:lumMod val="50000"/>
                  </a:schemeClr>
                </a:solidFill>
                <a:latin typeface="+mn-lt"/>
                <a:ea typeface="Meiryo" panose="020B0604030504040204" pitchFamily="34" charset="-128"/>
                <a:cs typeface="Calibri"/>
              </a:rPr>
              <a:t>All rights reserved.</a:t>
            </a:r>
          </a:p>
        </p:txBody>
      </p:sp>
      <p:sp>
        <p:nvSpPr>
          <p:cNvPr id="10" name="スライド番号プレースホルダー 1">
            <a:extLst>
              <a:ext uri="{FF2B5EF4-FFF2-40B4-BE49-F238E27FC236}">
                <a16:creationId xmlns:a16="http://schemas.microsoft.com/office/drawing/2014/main" id="{00575A21-8D05-4D83-A7E2-E91ADB912A4D}"/>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a:p>
        </p:txBody>
      </p:sp>
      <p:sp>
        <p:nvSpPr>
          <p:cNvPr id="13" name="タイトル プレースホルダー 8">
            <a:extLst>
              <a:ext uri="{FF2B5EF4-FFF2-40B4-BE49-F238E27FC236}">
                <a16:creationId xmlns:a16="http://schemas.microsoft.com/office/drawing/2014/main" id="{64309463-21EF-4181-83FC-5CCE2DE7D95C}"/>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dirty="0"/>
          </a:p>
        </p:txBody>
      </p:sp>
      <p:sp>
        <p:nvSpPr>
          <p:cNvPr id="2" name="正方形/長方形 1">
            <a:extLst>
              <a:ext uri="{FF2B5EF4-FFF2-40B4-BE49-F238E27FC236}">
                <a16:creationId xmlns:a16="http://schemas.microsoft.com/office/drawing/2014/main" id="{1DD1046F-C297-4A08-9215-C94791BB1154}"/>
              </a:ext>
            </a:extLst>
          </p:cNvPr>
          <p:cNvSpPr/>
          <p:nvPr/>
        </p:nvSpPr>
        <p:spPr>
          <a:xfrm>
            <a:off x="0" y="6187736"/>
            <a:ext cx="9144000" cy="6535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5" name="Rectangle 3">
            <a:extLst>
              <a:ext uri="{FF2B5EF4-FFF2-40B4-BE49-F238E27FC236}">
                <a16:creationId xmlns:a16="http://schemas.microsoft.com/office/drawing/2014/main" id="{9B36F9A1-9EEE-4D09-B1D0-2B104BF581D4}"/>
              </a:ext>
            </a:extLst>
          </p:cNvPr>
          <p:cNvSpPr>
            <a:spLocks noGrp="1" noChangeArrowheads="1"/>
          </p:cNvSpPr>
          <p:nvPr>
            <p:ph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bodyPr>
          <a:lstStyle>
            <a:lvl1pPr>
              <a:defRPr sz="2800"/>
            </a:lvl1pPr>
            <a:lvl2pPr>
              <a:defRPr sz="2400"/>
            </a:lvl2pPr>
            <a:lvl3pPr>
              <a:defRPr sz="2000"/>
            </a:lvl3pPr>
            <a:lvl4pPr>
              <a:defRPr sz="1800"/>
            </a:lvl4pPr>
            <a:lvl5pPr>
              <a:defRPr sz="18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Tree>
    <p:extLst>
      <p:ext uri="{BB962C8B-B14F-4D97-AF65-F5344CB8AC3E}">
        <p14:creationId xmlns:p14="http://schemas.microsoft.com/office/powerpoint/2010/main" val="341985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ontents3">
    <p:spTree>
      <p:nvGrpSpPr>
        <p:cNvPr id="1" name=""/>
        <p:cNvGrpSpPr/>
        <p:nvPr/>
      </p:nvGrpSpPr>
      <p:grpSpPr>
        <a:xfrm>
          <a:off x="0" y="0"/>
          <a:ext cx="0" cy="0"/>
          <a:chOff x="0" y="0"/>
          <a:chExt cx="0" cy="0"/>
        </a:xfrm>
      </p:grpSpPr>
      <p:pic>
        <p:nvPicPr>
          <p:cNvPr id="7" name="図 6" descr="logo.png">
            <a:extLst>
              <a:ext uri="{FF2B5EF4-FFF2-40B4-BE49-F238E27FC236}">
                <a16:creationId xmlns:a16="http://schemas.microsoft.com/office/drawing/2014/main" id="{2DAA8506-A031-3648-BF70-05A8C396DB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cxnSp>
        <p:nvCxnSpPr>
          <p:cNvPr id="8" name="直線コネクタ 7">
            <a:extLst>
              <a:ext uri="{FF2B5EF4-FFF2-40B4-BE49-F238E27FC236}">
                <a16:creationId xmlns:a16="http://schemas.microsoft.com/office/drawing/2014/main" id="{2BD1EBBA-406D-B342-93F0-1BD88C052383}"/>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スライド番号プレースホルダー 1">
            <a:extLst>
              <a:ext uri="{FF2B5EF4-FFF2-40B4-BE49-F238E27FC236}">
                <a16:creationId xmlns:a16="http://schemas.microsoft.com/office/drawing/2014/main" id="{6AFD1835-6A31-4980-A574-0F19DDAAD73B}"/>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a:p>
        </p:txBody>
      </p:sp>
      <p:sp>
        <p:nvSpPr>
          <p:cNvPr id="13" name="タイトル プレースホルダー 8">
            <a:extLst>
              <a:ext uri="{FF2B5EF4-FFF2-40B4-BE49-F238E27FC236}">
                <a16:creationId xmlns:a16="http://schemas.microsoft.com/office/drawing/2014/main" id="{4D83E2D3-0CAA-468A-87C7-4601CE48E6ED}"/>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520173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扉1">
    <p:spTree>
      <p:nvGrpSpPr>
        <p:cNvPr id="1" name=""/>
        <p:cNvGrpSpPr/>
        <p:nvPr/>
      </p:nvGrpSpPr>
      <p:grpSpPr>
        <a:xfrm>
          <a:off x="0" y="0"/>
          <a:ext cx="0" cy="0"/>
          <a:chOff x="0" y="0"/>
          <a:chExt cx="0" cy="0"/>
        </a:xfrm>
      </p:grpSpPr>
      <p:pic>
        <p:nvPicPr>
          <p:cNvPr id="6" name="図 5" descr="スクリーンショット 0032-08-03 11.25.59.png">
            <a:extLst>
              <a:ext uri="{FF2B5EF4-FFF2-40B4-BE49-F238E27FC236}">
                <a16:creationId xmlns:a16="http://schemas.microsoft.com/office/drawing/2014/main" id="{F907D9E0-638B-4644-8313-B4BE9A47FECB}"/>
              </a:ext>
            </a:extLst>
          </p:cNvPr>
          <p:cNvPicPr>
            <a:picLocks noChangeAspect="1"/>
          </p:cNvPicPr>
          <p:nvPr/>
        </p:nvPicPr>
        <p:blipFill rotWithShape="1">
          <a:blip r:embed="rId2" cstate="screen">
            <a:alphaModFix/>
            <a:extLst>
              <a:ext uri="{BEBA8EAE-BF5A-486C-A8C5-ECC9F3942E4B}">
                <a14:imgProps xmlns:a14="http://schemas.microsoft.com/office/drawing/2010/main">
                  <a14:imgLayer>
                    <a14:imgEffect>
                      <a14:sharpenSoften amount="-40000"/>
                    </a14:imgEffect>
                    <a14:imgEffect>
                      <a14:brightnessContrast bright="-40000" contrast="44000"/>
                    </a14:imgEffect>
                  </a14:imgLayer>
                </a14:imgProps>
              </a:ext>
              <a:ext uri="{28A0092B-C50C-407E-A947-70E740481C1C}">
                <a14:useLocalDpi xmlns:a14="http://schemas.microsoft.com/office/drawing/2010/main"/>
              </a:ext>
            </a:extLst>
          </a:blip>
          <a:srcRect/>
          <a:stretch/>
        </p:blipFill>
        <p:spPr>
          <a:xfrm>
            <a:off x="0" y="1"/>
            <a:ext cx="9148218" cy="6875326"/>
          </a:xfrm>
          <a:prstGeom prst="rect">
            <a:avLst/>
          </a:prstGeom>
        </p:spPr>
      </p:pic>
      <p:sp>
        <p:nvSpPr>
          <p:cNvPr id="7" name="平行四辺形 6">
            <a:extLst>
              <a:ext uri="{FF2B5EF4-FFF2-40B4-BE49-F238E27FC236}">
                <a16:creationId xmlns:a16="http://schemas.microsoft.com/office/drawing/2014/main" id="{113E498F-0611-8A49-8562-D79A189581D2}"/>
              </a:ext>
            </a:extLst>
          </p:cNvPr>
          <p:cNvSpPr/>
          <p:nvPr/>
        </p:nvSpPr>
        <p:spPr>
          <a:xfrm>
            <a:off x="300943" y="3532561"/>
            <a:ext cx="8623139" cy="45719"/>
          </a:xfrm>
          <a:prstGeom prst="parallelogram">
            <a:avLst>
              <a:gd name="adj" fmla="val 17615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Title 1">
            <a:extLst>
              <a:ext uri="{FF2B5EF4-FFF2-40B4-BE49-F238E27FC236}">
                <a16:creationId xmlns:a16="http://schemas.microsoft.com/office/drawing/2014/main" id="{8FB8AB72-29AE-4680-AF7C-BC5CAE2C2064}"/>
              </a:ext>
            </a:extLst>
          </p:cNvPr>
          <p:cNvSpPr>
            <a:spLocks noGrp="1"/>
          </p:cNvSpPr>
          <p:nvPr>
            <p:ph type="ctrTitle" hasCustomPrompt="1"/>
          </p:nvPr>
        </p:nvSpPr>
        <p:spPr>
          <a:xfrm>
            <a:off x="323513" y="3002471"/>
            <a:ext cx="8600569" cy="558054"/>
          </a:xfrm>
          <a:prstGeom prst="rect">
            <a:avLst/>
          </a:prstGeom>
        </p:spPr>
        <p:txBody>
          <a:bodyPr/>
          <a:lstStyle>
            <a:lvl1pPr algn="l">
              <a:defRPr sz="3200" baseline="0">
                <a:solidFill>
                  <a:schemeClr val="bg1"/>
                </a:solidFill>
                <a:latin typeface="+mn-lt"/>
                <a:ea typeface="+mn-ea"/>
              </a:defRPr>
            </a:lvl1pPr>
          </a:lstStyle>
          <a:p>
            <a:r>
              <a:rPr lang="en-US" dirty="0"/>
              <a:t>Section Title</a:t>
            </a:r>
            <a:endParaRPr lang="en-AU" dirty="0"/>
          </a:p>
        </p:txBody>
      </p:sp>
    </p:spTree>
    <p:extLst>
      <p:ext uri="{BB962C8B-B14F-4D97-AF65-F5344CB8AC3E}">
        <p14:creationId xmlns:p14="http://schemas.microsoft.com/office/powerpoint/2010/main" val="19262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扉2">
    <p:spTree>
      <p:nvGrpSpPr>
        <p:cNvPr id="1" name=""/>
        <p:cNvGrpSpPr/>
        <p:nvPr/>
      </p:nvGrpSpPr>
      <p:grpSpPr>
        <a:xfrm>
          <a:off x="0" y="0"/>
          <a:ext cx="0" cy="0"/>
          <a:chOff x="0" y="0"/>
          <a:chExt cx="0" cy="0"/>
        </a:xfrm>
      </p:grpSpPr>
      <p:pic>
        <p:nvPicPr>
          <p:cNvPr id="7" name="図 6" descr="スクリーンショット 0032-08-03 11.32.49.png">
            <a:extLst>
              <a:ext uri="{FF2B5EF4-FFF2-40B4-BE49-F238E27FC236}">
                <a16:creationId xmlns:a16="http://schemas.microsoft.com/office/drawing/2014/main" id="{D8F65EA1-C442-F64E-A9C4-8A277409F15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9144000" cy="6875641"/>
          </a:xfrm>
          <a:prstGeom prst="rect">
            <a:avLst/>
          </a:prstGeom>
        </p:spPr>
      </p:pic>
      <p:sp>
        <p:nvSpPr>
          <p:cNvPr id="8" name="平行四辺形 7">
            <a:extLst>
              <a:ext uri="{FF2B5EF4-FFF2-40B4-BE49-F238E27FC236}">
                <a16:creationId xmlns:a16="http://schemas.microsoft.com/office/drawing/2014/main" id="{80C5BDF2-B842-CA40-9753-A45E91E97CE0}"/>
              </a:ext>
            </a:extLst>
          </p:cNvPr>
          <p:cNvSpPr/>
          <p:nvPr/>
        </p:nvSpPr>
        <p:spPr>
          <a:xfrm>
            <a:off x="300943" y="3532561"/>
            <a:ext cx="8623139" cy="45719"/>
          </a:xfrm>
          <a:prstGeom prst="parallelogram">
            <a:avLst>
              <a:gd name="adj" fmla="val 17615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Title 1">
            <a:extLst>
              <a:ext uri="{FF2B5EF4-FFF2-40B4-BE49-F238E27FC236}">
                <a16:creationId xmlns:a16="http://schemas.microsoft.com/office/drawing/2014/main" id="{CA55E744-E228-5147-B8C2-AAA3219AA21A}"/>
              </a:ext>
            </a:extLst>
          </p:cNvPr>
          <p:cNvSpPr>
            <a:spLocks noGrp="1"/>
          </p:cNvSpPr>
          <p:nvPr>
            <p:ph type="ctrTitle" hasCustomPrompt="1"/>
          </p:nvPr>
        </p:nvSpPr>
        <p:spPr>
          <a:xfrm>
            <a:off x="323513" y="3002471"/>
            <a:ext cx="8600569" cy="558054"/>
          </a:xfrm>
          <a:prstGeom prst="rect">
            <a:avLst/>
          </a:prstGeom>
        </p:spPr>
        <p:txBody>
          <a:bodyPr/>
          <a:lstStyle>
            <a:lvl1pPr algn="l">
              <a:defRPr sz="3200" baseline="0">
                <a:solidFill>
                  <a:schemeClr val="bg1"/>
                </a:solidFill>
                <a:latin typeface="+mn-lt"/>
                <a:ea typeface="+mn-ea"/>
              </a:defRPr>
            </a:lvl1pPr>
          </a:lstStyle>
          <a:p>
            <a:r>
              <a:rPr lang="en-US" dirty="0"/>
              <a:t>Section Title</a:t>
            </a:r>
            <a:endParaRPr lang="en-AU" dirty="0"/>
          </a:p>
        </p:txBody>
      </p:sp>
    </p:spTree>
    <p:extLst>
      <p:ext uri="{BB962C8B-B14F-4D97-AF65-F5344CB8AC3E}">
        <p14:creationId xmlns:p14="http://schemas.microsoft.com/office/powerpoint/2010/main" val="2750105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ankyou">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C099C13-5D9A-124D-BF3D-419A8A5236AE}"/>
              </a:ext>
            </a:extLst>
          </p:cNvPr>
          <p:cNvPicPr>
            <a:picLocks noChangeAspect="1"/>
          </p:cNvPicPr>
          <p:nvPr/>
        </p:nvPicPr>
        <p:blipFill>
          <a:blip r:embed="rId2">
            <a:duotone>
              <a:prstClr val="black"/>
              <a:srgbClr val="009193">
                <a:tint val="45000"/>
                <a:satMod val="400000"/>
              </a:srgbClr>
            </a:duotone>
            <a:extLst>
              <a:ext uri="{BEBA8EAE-BF5A-486C-A8C5-ECC9F3942E4B}">
                <a14:imgProps xmlns:a14="http://schemas.microsoft.com/office/drawing/2010/main">
                  <a14:imgLayer>
                    <a14:imgEffect>
                      <a14:saturation sat="0"/>
                    </a14:imgEffect>
                  </a14:imgLayer>
                </a14:imgProps>
              </a:ext>
            </a:extLst>
          </a:blip>
          <a:stretch>
            <a:fillRect/>
          </a:stretch>
        </p:blipFill>
        <p:spPr>
          <a:xfrm>
            <a:off x="0" y="0"/>
            <a:ext cx="9139932" cy="6858000"/>
          </a:xfrm>
          <a:prstGeom prst="rect">
            <a:avLst/>
          </a:prstGeom>
        </p:spPr>
      </p:pic>
      <p:pic>
        <p:nvPicPr>
          <p:cNvPr id="12" name="図 11">
            <a:extLst>
              <a:ext uri="{FF2B5EF4-FFF2-40B4-BE49-F238E27FC236}">
                <a16:creationId xmlns:a16="http://schemas.microsoft.com/office/drawing/2014/main" id="{FC93B516-D53C-334A-AA61-B4CC4FC67622}"/>
              </a:ext>
            </a:extLst>
          </p:cNvPr>
          <p:cNvPicPr>
            <a:picLocks noChangeAspect="1"/>
          </p:cNvPicPr>
          <p:nvPr/>
        </p:nvPicPr>
        <p:blipFill>
          <a:blip r:embed="rId3">
            <a:biLevel thresh="25000"/>
          </a:blip>
          <a:stretch>
            <a:fillRect/>
          </a:stretch>
        </p:blipFill>
        <p:spPr>
          <a:xfrm>
            <a:off x="1238523" y="2330400"/>
            <a:ext cx="1457931" cy="256123"/>
          </a:xfrm>
          <a:prstGeom prst="rect">
            <a:avLst/>
          </a:prstGeom>
        </p:spPr>
      </p:pic>
      <p:sp>
        <p:nvSpPr>
          <p:cNvPr id="3" name="正方形/長方形 2">
            <a:extLst>
              <a:ext uri="{FF2B5EF4-FFF2-40B4-BE49-F238E27FC236}">
                <a16:creationId xmlns:a16="http://schemas.microsoft.com/office/drawing/2014/main" id="{664D90D3-EE77-824C-B397-6824E8CD6012}"/>
              </a:ext>
            </a:extLst>
          </p:cNvPr>
          <p:cNvSpPr/>
          <p:nvPr/>
        </p:nvSpPr>
        <p:spPr>
          <a:xfrm>
            <a:off x="1163781" y="1491359"/>
            <a:ext cx="2394502" cy="707886"/>
          </a:xfrm>
          <a:prstGeom prst="rect">
            <a:avLst/>
          </a:prstGeom>
        </p:spPr>
        <p:txBody>
          <a:bodyPr wrap="none">
            <a:spAutoFit/>
          </a:bodyPr>
          <a:lstStyle/>
          <a:p>
            <a:r>
              <a:rPr lang="en-US" altLang="ja-JP" sz="4000" b="1" dirty="0">
                <a:solidFill>
                  <a:schemeClr val="bg1"/>
                </a:solidFill>
                <a:latin typeface="+mj-lt"/>
                <a:ea typeface="Meiryo" panose="020B0604030504040204" pitchFamily="34" charset="-128"/>
              </a:rPr>
              <a:t>Thank you</a:t>
            </a:r>
            <a:endParaRPr lang="ja-JP" altLang="en-US" sz="4000" b="1" dirty="0">
              <a:solidFill>
                <a:schemeClr val="bg1"/>
              </a:solidFill>
              <a:latin typeface="+mj-lt"/>
              <a:ea typeface="Meiryo" panose="020B0604030504040204" pitchFamily="34" charset="-128"/>
            </a:endParaRPr>
          </a:p>
        </p:txBody>
      </p:sp>
    </p:spTree>
    <p:extLst>
      <p:ext uri="{BB962C8B-B14F-4D97-AF65-F5344CB8AC3E}">
        <p14:creationId xmlns:p14="http://schemas.microsoft.com/office/powerpoint/2010/main" val="728871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行頭文字変更フッター削除版1">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BEAE49C-D278-20E2-BD72-B542960D2BE3}"/>
              </a:ext>
            </a:extLst>
          </p:cNvPr>
          <p:cNvSpPr/>
          <p:nvPr userDrawn="1"/>
        </p:nvSpPr>
        <p:spPr>
          <a:xfrm>
            <a:off x="0" y="6187736"/>
            <a:ext cx="9144000" cy="6535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Rectangle 3">
            <a:extLst>
              <a:ext uri="{FF2B5EF4-FFF2-40B4-BE49-F238E27FC236}">
                <a16:creationId xmlns:a16="http://schemas.microsoft.com/office/drawing/2014/main" id="{DA00DA09-D24E-4341-9594-ABE7197C4A39}"/>
              </a:ext>
            </a:extLst>
          </p:cNvPr>
          <p:cNvSpPr>
            <a:spLocks noGrp="1" noChangeArrowheads="1"/>
          </p:cNvSpPr>
          <p:nvPr>
            <p:ph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bodyPr>
          <a:lstStyle>
            <a:lvl1pPr marL="371464" indent="-371464">
              <a:buFontTx/>
              <a:buBlip>
                <a:blip r:embed="rId2"/>
              </a:buBlip>
              <a:defRPr/>
            </a:lvl1pPr>
            <a:lvl2pPr marL="804838" indent="-309553">
              <a:buFontTx/>
              <a:buBlip>
                <a:blip r:embed="rId3"/>
              </a:buBlip>
              <a:defRPr/>
            </a:lvl2pPr>
            <a:lvl3pPr marL="1238212" indent="-247642">
              <a:buFontTx/>
              <a:buBlip>
                <a:blip r:embed="rId4"/>
              </a:buBlip>
              <a:defRPr/>
            </a:lvl3pPr>
            <a:lvl4pPr marL="1733497" indent="-247642">
              <a:buFontTx/>
              <a:buBlip>
                <a:blip r:embed="rId5"/>
              </a:buBlip>
              <a:defRPr/>
            </a:lvl4pPr>
            <a:lvl5pPr marL="2228781" indent="-247642">
              <a:buFontTx/>
              <a:buBlip>
                <a:blip r:embed="rId2"/>
              </a:buBlip>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11" name="タイトル プレースホルダー 8">
            <a:extLst>
              <a:ext uri="{FF2B5EF4-FFF2-40B4-BE49-F238E27FC236}">
                <a16:creationId xmlns:a16="http://schemas.microsoft.com/office/drawing/2014/main" id="{950B7CDF-3EFD-4119-8AFC-00D7CFE8E1B5}"/>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dirty="0"/>
          </a:p>
        </p:txBody>
      </p:sp>
      <p:sp>
        <p:nvSpPr>
          <p:cNvPr id="9" name="スライド番号プレースホルダー 1">
            <a:extLst>
              <a:ext uri="{FF2B5EF4-FFF2-40B4-BE49-F238E27FC236}">
                <a16:creationId xmlns:a16="http://schemas.microsoft.com/office/drawing/2014/main" id="{1E70D40B-3CB3-4A92-9FA6-A7D65F5B73F1}"/>
              </a:ext>
            </a:extLst>
          </p:cNvPr>
          <p:cNvSpPr>
            <a:spLocks noGrp="1"/>
          </p:cNvSpPr>
          <p:nvPr>
            <p:ph type="sldNum" sz="quarter" idx="10"/>
          </p:nvPr>
        </p:nvSpPr>
        <p:spPr>
          <a:xfrm>
            <a:off x="7037751" y="196697"/>
            <a:ext cx="2057400" cy="365125"/>
          </a:xfrm>
        </p:spPr>
        <p:txBody>
          <a:bodyPr/>
          <a:lstStyle/>
          <a:p>
            <a:fld id="{3F804FDB-4E38-4F90-9E64-BFF41C44FBD6}" type="slidenum">
              <a:rPr lang="en-US" smtClean="0"/>
              <a:t>‹#›</a:t>
            </a:fld>
            <a:endParaRPr lang="en-US"/>
          </a:p>
        </p:txBody>
      </p:sp>
    </p:spTree>
    <p:extLst>
      <p:ext uri="{BB962C8B-B14F-4D97-AF65-F5344CB8AC3E}">
        <p14:creationId xmlns:p14="http://schemas.microsoft.com/office/powerpoint/2010/main" val="400474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descr="logo.png">
            <a:extLst>
              <a:ext uri="{FF2B5EF4-FFF2-40B4-BE49-F238E27FC236}">
                <a16:creationId xmlns:a16="http://schemas.microsoft.com/office/drawing/2014/main" id="{B4B33B42-2C12-486A-8BA4-58D415BCC2D2}"/>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7857429" y="6460359"/>
            <a:ext cx="1237723" cy="345044"/>
          </a:xfrm>
          <a:prstGeom prst="rect">
            <a:avLst/>
          </a:prstGeom>
        </p:spPr>
      </p:pic>
      <p:pic>
        <p:nvPicPr>
          <p:cNvPr id="3" name="図 2" descr="スクリーンショット 0032-08-03 11.12.02.png">
            <a:extLst>
              <a:ext uri="{FF2B5EF4-FFF2-40B4-BE49-F238E27FC236}">
                <a16:creationId xmlns:a16="http://schemas.microsoft.com/office/drawing/2014/main" id="{E6A21C46-DBC1-4145-B334-BF85309833B9}"/>
              </a:ext>
            </a:extLst>
          </p:cNvPr>
          <p:cNvPicPr>
            <a:picLocks noChangeAspect="1"/>
          </p:cNvPicPr>
          <p:nvPr/>
        </p:nvPicPr>
        <p:blipFill>
          <a:blip r:embed="rId15">
            <a:extLst>
              <a:ext uri="{BEBA8EAE-BF5A-486C-A8C5-ECC9F3942E4B}">
                <a14:imgProps xmlns:a14="http://schemas.microsoft.com/office/drawing/2010/main">
                  <a14:imgLayer>
                    <a14:imgEffect>
                      <a14:brightnessContrast bright="-7000" contrast="15000"/>
                    </a14:imgEffect>
                  </a14:imgLayer>
                </a14:imgProps>
              </a:ext>
              <a:ext uri="{28A0092B-C50C-407E-A947-70E740481C1C}">
                <a14:useLocalDpi xmlns:a14="http://schemas.microsoft.com/office/drawing/2010/main"/>
              </a:ext>
            </a:extLst>
          </a:blip>
          <a:stretch>
            <a:fillRect/>
          </a:stretch>
        </p:blipFill>
        <p:spPr>
          <a:xfrm>
            <a:off x="0" y="0"/>
            <a:ext cx="9144000" cy="582706"/>
          </a:xfrm>
          <a:prstGeom prst="rect">
            <a:avLst/>
          </a:prstGeom>
        </p:spPr>
      </p:pic>
      <p:cxnSp>
        <p:nvCxnSpPr>
          <p:cNvPr id="4" name="直線コネクタ 3">
            <a:extLst>
              <a:ext uri="{FF2B5EF4-FFF2-40B4-BE49-F238E27FC236}">
                <a16:creationId xmlns:a16="http://schemas.microsoft.com/office/drawing/2014/main" id="{1ECB4F2B-9FBA-4ABC-8C2E-4245AC42D767}"/>
              </a:ext>
            </a:extLst>
          </p:cNvPr>
          <p:cNvCxnSpPr/>
          <p:nvPr/>
        </p:nvCxnSpPr>
        <p:spPr>
          <a:xfrm>
            <a:off x="0" y="6331001"/>
            <a:ext cx="9144000" cy="0"/>
          </a:xfrm>
          <a:prstGeom prst="line">
            <a:avLst/>
          </a:prstGeom>
          <a:ln w="3175" cmpd="sng">
            <a:solidFill>
              <a:schemeClr val="accent6">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C0B6DE60-B53A-4453-9504-289CB52A758C}"/>
              </a:ext>
            </a:extLst>
          </p:cNvPr>
          <p:cNvSpPr txBox="1"/>
          <p:nvPr/>
        </p:nvSpPr>
        <p:spPr>
          <a:xfrm>
            <a:off x="186123" y="6555940"/>
            <a:ext cx="7628691" cy="169277"/>
          </a:xfrm>
          <a:prstGeom prst="rect">
            <a:avLst/>
          </a:prstGeom>
          <a:noFill/>
        </p:spPr>
        <p:txBody>
          <a:bodyPr wrap="none" lIns="0" tIns="0" rIns="0" bIns="0" rtlCol="0">
            <a:spAutoFit/>
          </a:bodyPr>
          <a:lstStyle/>
          <a:p>
            <a:r>
              <a:rPr kumimoji="1" lang="en-US" altLang="ja-JP" sz="1000" baseline="0" dirty="0">
                <a:solidFill>
                  <a:schemeClr val="bg2">
                    <a:lumMod val="50000"/>
                  </a:schemeClr>
                </a:solidFill>
                <a:latin typeface="+mn-lt"/>
                <a:ea typeface="+mn-ea"/>
                <a:cs typeface="Calibri"/>
              </a:rPr>
              <a:t>  </a:t>
            </a:r>
            <a:r>
              <a:rPr kumimoji="1" lang="en-US" altLang="ja-JP" sz="1100" kern="1200" baseline="0" dirty="0">
                <a:solidFill>
                  <a:schemeClr val="bg2">
                    <a:lumMod val="50000"/>
                  </a:schemeClr>
                </a:solidFill>
                <a:latin typeface="+mn-lt"/>
                <a:ea typeface="+mn-ea"/>
                <a:cs typeface="+mn-cs"/>
              </a:rPr>
              <a:t>Copyright © 2020 </a:t>
            </a:r>
            <a:r>
              <a:rPr kumimoji="1" lang="ja-JP" altLang="en-US" sz="1000" kern="1200" baseline="0" dirty="0">
                <a:solidFill>
                  <a:schemeClr val="bg2">
                    <a:lumMod val="50000"/>
                  </a:schemeClr>
                </a:solidFill>
                <a:latin typeface="+mn-lt"/>
                <a:ea typeface="+mn-ea"/>
                <a:cs typeface="+mn-cs"/>
              </a:rPr>
              <a:t>調和系工学研究室 </a:t>
            </a:r>
            <a:r>
              <a:rPr kumimoji="1" lang="en-US" altLang="ja-JP" sz="1000" kern="1200" baseline="0" dirty="0">
                <a:solidFill>
                  <a:schemeClr val="bg2">
                    <a:lumMod val="50000"/>
                  </a:schemeClr>
                </a:solidFill>
                <a:latin typeface="+mn-lt"/>
                <a:ea typeface="+mn-ea"/>
                <a:cs typeface="+mn-cs"/>
              </a:rPr>
              <a:t>- </a:t>
            </a:r>
            <a:r>
              <a:rPr kumimoji="1" lang="ja-JP" altLang="en-US" sz="1000" kern="1200" baseline="0" dirty="0">
                <a:solidFill>
                  <a:schemeClr val="bg2">
                    <a:lumMod val="50000"/>
                  </a:schemeClr>
                </a:solidFill>
                <a:latin typeface="+mn-lt"/>
                <a:ea typeface="+mn-ea"/>
                <a:cs typeface="+mn-cs"/>
              </a:rPr>
              <a:t>北海道大学 大学院情報科学研究院 情報理工学部門 複合情報工学分野</a:t>
            </a:r>
            <a:r>
              <a:rPr kumimoji="1" lang="ja-JP" altLang="en-US" sz="1100" kern="1200" baseline="0" dirty="0">
                <a:solidFill>
                  <a:schemeClr val="bg2">
                    <a:lumMod val="50000"/>
                  </a:schemeClr>
                </a:solidFill>
                <a:latin typeface="+mn-lt"/>
                <a:ea typeface="+mn-ea"/>
                <a:cs typeface="+mn-cs"/>
              </a:rPr>
              <a:t> </a:t>
            </a:r>
            <a:r>
              <a:rPr kumimoji="1" lang="en-US" altLang="ja-JP" sz="1100" kern="1200" baseline="0" dirty="0">
                <a:solidFill>
                  <a:schemeClr val="bg2">
                    <a:lumMod val="50000"/>
                  </a:schemeClr>
                </a:solidFill>
                <a:latin typeface="+mn-lt"/>
                <a:ea typeface="+mn-ea"/>
                <a:cs typeface="+mn-cs"/>
              </a:rPr>
              <a:t>– </a:t>
            </a:r>
            <a:r>
              <a:rPr kumimoji="1" lang="en-US" altLang="ja-JP" sz="1100" baseline="0" dirty="0">
                <a:solidFill>
                  <a:schemeClr val="bg2">
                    <a:lumMod val="50000"/>
                  </a:schemeClr>
                </a:solidFill>
                <a:latin typeface="+mn-lt"/>
                <a:ea typeface="+mn-ea"/>
                <a:cs typeface="Calibri"/>
              </a:rPr>
              <a:t>All rights reserved.</a:t>
            </a:r>
          </a:p>
        </p:txBody>
      </p:sp>
      <p:sp>
        <p:nvSpPr>
          <p:cNvPr id="8" name="Rectangle 3">
            <a:extLst>
              <a:ext uri="{FF2B5EF4-FFF2-40B4-BE49-F238E27FC236}">
                <a16:creationId xmlns:a16="http://schemas.microsoft.com/office/drawing/2014/main" id="{26CE9920-842A-4683-A449-202EF7B7D7B9}"/>
              </a:ext>
            </a:extLst>
          </p:cNvPr>
          <p:cNvSpPr>
            <a:spLocks noGrp="1" noChangeArrowheads="1"/>
          </p:cNvSpPr>
          <p:nvPr>
            <p:ph type="body" idx="1"/>
          </p:nvPr>
        </p:nvSpPr>
        <p:spPr bwMode="auto">
          <a:xfrm>
            <a:off x="590677" y="983479"/>
            <a:ext cx="7842738" cy="5256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normAutofit/>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9" name="タイトル プレースホルダー 8">
            <a:extLst>
              <a:ext uri="{FF2B5EF4-FFF2-40B4-BE49-F238E27FC236}">
                <a16:creationId xmlns:a16="http://schemas.microsoft.com/office/drawing/2014/main" id="{CDD2A9AF-79A4-4206-92AE-B0EF486D34B5}"/>
              </a:ext>
            </a:extLst>
          </p:cNvPr>
          <p:cNvSpPr>
            <a:spLocks noGrp="1"/>
          </p:cNvSpPr>
          <p:nvPr>
            <p:ph type="title"/>
          </p:nvPr>
        </p:nvSpPr>
        <p:spPr>
          <a:xfrm>
            <a:off x="217755" y="25641"/>
            <a:ext cx="7886700" cy="62613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5" name="スライド番号プレースホルダー 4">
            <a:extLst>
              <a:ext uri="{FF2B5EF4-FFF2-40B4-BE49-F238E27FC236}">
                <a16:creationId xmlns:a16="http://schemas.microsoft.com/office/drawing/2014/main" id="{A1A6FA8E-4550-4304-8F91-4BB956BA5BEA}"/>
              </a:ext>
            </a:extLst>
          </p:cNvPr>
          <p:cNvSpPr>
            <a:spLocks noGrp="1"/>
          </p:cNvSpPr>
          <p:nvPr>
            <p:ph type="sldNum" sz="quarter" idx="4"/>
          </p:nvPr>
        </p:nvSpPr>
        <p:spPr>
          <a:xfrm>
            <a:off x="7037751" y="196697"/>
            <a:ext cx="2057400" cy="365125"/>
          </a:xfrm>
          <a:prstGeom prst="rect">
            <a:avLst/>
          </a:prstGeom>
        </p:spPr>
        <p:txBody>
          <a:bodyPr vert="horz" lIns="91440" tIns="45720" rIns="91440" bIns="45720" rtlCol="0" anchor="ctr"/>
          <a:lstStyle>
            <a:lvl1pPr algn="r">
              <a:defRPr sz="2000" b="0" baseline="0">
                <a:solidFill>
                  <a:schemeClr val="bg1"/>
                </a:solidFill>
              </a:defRPr>
            </a:lvl1pPr>
          </a:lstStyle>
          <a:p>
            <a:fld id="{3F804FDB-4E38-4F90-9E64-BFF41C44FBD6}" type="slidenum">
              <a:rPr lang="en-US" smtClean="0"/>
              <a:pPr/>
              <a:t>‹#›</a:t>
            </a:fld>
            <a:endParaRPr lang="en-US" dirty="0"/>
          </a:p>
        </p:txBody>
      </p:sp>
    </p:spTree>
    <p:extLst>
      <p:ext uri="{BB962C8B-B14F-4D97-AF65-F5344CB8AC3E}">
        <p14:creationId xmlns:p14="http://schemas.microsoft.com/office/powerpoint/2010/main" val="700169287"/>
      </p:ext>
    </p:extLst>
  </p:cSld>
  <p:clrMap bg1="lt1" tx1="dk1" bg2="lt2" tx2="dk2" accent1="accent1" accent2="accent2" accent3="accent3" accent4="accent4" accent5="accent5" accent6="accent6" hlink="hlink" folHlink="folHlink"/>
  <p:sldLayoutIdLst>
    <p:sldLayoutId id="2147483673" r:id="rId1"/>
    <p:sldLayoutId id="214748368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4" r:id="rId12"/>
  </p:sldLayoutIdLst>
  <p:hf hdr="0" ftr="0" dt="0"/>
  <p:txStyles>
    <p:titleStyle>
      <a:lvl1pPr algn="l" defTabSz="990570" rtl="0" eaLnBrk="1" latinLnBrk="0" hangingPunct="1">
        <a:spcBef>
          <a:spcPct val="0"/>
        </a:spcBef>
        <a:buNone/>
        <a:defRPr kumimoji="1" sz="3400" kern="1200" baseline="0">
          <a:solidFill>
            <a:schemeClr val="bg1"/>
          </a:solidFill>
          <a:latin typeface="+mn-lt"/>
          <a:ea typeface="+mn-ea"/>
          <a:cs typeface="+mj-cs"/>
        </a:defRPr>
      </a:lvl1pPr>
    </p:titleStyle>
    <p:bodyStyle>
      <a:lvl1pPr marL="371464" indent="-371464" algn="l" defTabSz="990570" rtl="0" eaLnBrk="1" latinLnBrk="0" hangingPunct="1">
        <a:spcBef>
          <a:spcPct val="20000"/>
        </a:spcBef>
        <a:buFont typeface="Arial" panose="020B0604020202020204" pitchFamily="34" charset="0"/>
        <a:buChar char="•"/>
        <a:defRPr kumimoji="1" sz="2800" kern="1200" baseline="0">
          <a:solidFill>
            <a:schemeClr val="tx1"/>
          </a:solidFill>
          <a:latin typeface="Segoe UI" panose="020B0502040204020203" pitchFamily="34" charset="0"/>
          <a:ea typeface="メイリオ" panose="020B0604030504040204" pitchFamily="50" charset="-128"/>
          <a:cs typeface="+mn-cs"/>
        </a:defRPr>
      </a:lvl1pPr>
      <a:lvl2pPr marL="804838" indent="-309553" algn="l" defTabSz="990570" rtl="0" eaLnBrk="1" latinLnBrk="0" hangingPunct="1">
        <a:spcBef>
          <a:spcPct val="20000"/>
        </a:spcBef>
        <a:buFont typeface="Arial" panose="020B0604020202020204" pitchFamily="34" charset="0"/>
        <a:buChar char="–"/>
        <a:defRPr kumimoji="1" sz="2400" kern="1200" baseline="0">
          <a:solidFill>
            <a:schemeClr val="tx1"/>
          </a:solidFill>
          <a:latin typeface="Segoe UI" panose="020B0502040204020203" pitchFamily="34" charset="0"/>
          <a:ea typeface="メイリオ" panose="020B0604030504040204" pitchFamily="50" charset="-128"/>
          <a:cs typeface="+mn-cs"/>
        </a:defRPr>
      </a:lvl2pPr>
      <a:lvl3pPr marL="1238212" indent="-247642" algn="l" defTabSz="990570" rtl="0" eaLnBrk="1" latinLnBrk="0" hangingPunct="1">
        <a:spcBef>
          <a:spcPct val="20000"/>
        </a:spcBef>
        <a:buFont typeface="Arial" panose="020B0604020202020204" pitchFamily="34" charset="0"/>
        <a:buChar char="•"/>
        <a:defRPr kumimoji="1" sz="2000" kern="1200" baseline="0">
          <a:solidFill>
            <a:schemeClr val="tx1"/>
          </a:solidFill>
          <a:latin typeface="Segoe UI" panose="020B0502040204020203" pitchFamily="34" charset="0"/>
          <a:ea typeface="メイリオ" panose="020B0604030504040204" pitchFamily="50" charset="-128"/>
          <a:cs typeface="+mn-cs"/>
        </a:defRPr>
      </a:lvl3pPr>
      <a:lvl4pPr marL="1733497" indent="-247642" algn="l" defTabSz="990570" rtl="0" eaLnBrk="1" latinLnBrk="0" hangingPunct="1">
        <a:spcBef>
          <a:spcPct val="20000"/>
        </a:spcBef>
        <a:buFont typeface="Arial" panose="020B0604020202020204" pitchFamily="34" charset="0"/>
        <a:buChar char="–"/>
        <a:defRPr kumimoji="1" sz="1800" kern="1200" baseline="0">
          <a:solidFill>
            <a:schemeClr val="tx1"/>
          </a:solidFill>
          <a:latin typeface="Segoe UI" panose="020B0502040204020203" pitchFamily="34" charset="0"/>
          <a:ea typeface="メイリオ" panose="020B0604030504040204" pitchFamily="50" charset="-128"/>
          <a:cs typeface="+mn-cs"/>
        </a:defRPr>
      </a:lvl4pPr>
      <a:lvl5pPr marL="2228781" indent="-247642" algn="l" defTabSz="990570" rtl="0" eaLnBrk="1" latinLnBrk="0" hangingPunct="1">
        <a:spcBef>
          <a:spcPct val="20000"/>
        </a:spcBef>
        <a:buFont typeface="Arial" panose="020B0604020202020204" pitchFamily="34" charset="0"/>
        <a:buChar char="»"/>
        <a:defRPr kumimoji="1" sz="1800" kern="1200" baseline="0">
          <a:solidFill>
            <a:schemeClr val="tx1"/>
          </a:solidFill>
          <a:latin typeface="Segoe UI" panose="020B0502040204020203" pitchFamily="34" charset="0"/>
          <a:ea typeface="メイリオ" panose="020B0604030504040204" pitchFamily="50" charset="-128"/>
          <a:cs typeface="+mn-cs"/>
        </a:defRPr>
      </a:lvl5pPr>
      <a:lvl6pPr marL="272406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6pPr>
      <a:lvl7pPr marL="3219351"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7pPr>
      <a:lvl8pPr marL="371463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8pPr>
      <a:lvl9pPr marL="4209920"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9pPr>
    </p:bodyStyle>
    <p:otherStyle>
      <a:defPPr>
        <a:defRPr lang="en-US"/>
      </a:defPPr>
      <a:lvl1pPr marL="0" algn="l" defTabSz="990570" rtl="0" eaLnBrk="1" latinLnBrk="0" hangingPunct="1">
        <a:defRPr kumimoji="1" sz="1950" kern="1200">
          <a:solidFill>
            <a:schemeClr val="tx1"/>
          </a:solidFill>
          <a:latin typeface="+mn-lt"/>
          <a:ea typeface="+mn-ea"/>
          <a:cs typeface="+mn-cs"/>
        </a:defRPr>
      </a:lvl1pPr>
      <a:lvl2pPr marL="495285" algn="l" defTabSz="990570" rtl="0" eaLnBrk="1" latinLnBrk="0" hangingPunct="1">
        <a:defRPr kumimoji="1" sz="1950" kern="1200">
          <a:solidFill>
            <a:schemeClr val="tx1"/>
          </a:solidFill>
          <a:latin typeface="+mn-lt"/>
          <a:ea typeface="+mn-ea"/>
          <a:cs typeface="+mn-cs"/>
        </a:defRPr>
      </a:lvl2pPr>
      <a:lvl3pPr marL="990570" algn="l" defTabSz="990570" rtl="0" eaLnBrk="1" latinLnBrk="0" hangingPunct="1">
        <a:defRPr kumimoji="1" sz="1950" kern="1200">
          <a:solidFill>
            <a:schemeClr val="tx1"/>
          </a:solidFill>
          <a:latin typeface="+mn-lt"/>
          <a:ea typeface="+mn-ea"/>
          <a:cs typeface="+mn-cs"/>
        </a:defRPr>
      </a:lvl3pPr>
      <a:lvl4pPr marL="1485854" algn="l" defTabSz="990570" rtl="0" eaLnBrk="1" latinLnBrk="0" hangingPunct="1">
        <a:defRPr kumimoji="1" sz="1950" kern="1200">
          <a:solidFill>
            <a:schemeClr val="tx1"/>
          </a:solidFill>
          <a:latin typeface="+mn-lt"/>
          <a:ea typeface="+mn-ea"/>
          <a:cs typeface="+mn-cs"/>
        </a:defRPr>
      </a:lvl4pPr>
      <a:lvl5pPr marL="1981139" algn="l" defTabSz="990570" rtl="0" eaLnBrk="1" latinLnBrk="0" hangingPunct="1">
        <a:defRPr kumimoji="1" sz="1950" kern="1200">
          <a:solidFill>
            <a:schemeClr val="tx1"/>
          </a:solidFill>
          <a:latin typeface="+mn-lt"/>
          <a:ea typeface="+mn-ea"/>
          <a:cs typeface="+mn-cs"/>
        </a:defRPr>
      </a:lvl5pPr>
      <a:lvl6pPr marL="2476424" algn="l" defTabSz="990570" rtl="0" eaLnBrk="1" latinLnBrk="0" hangingPunct="1">
        <a:defRPr kumimoji="1" sz="1950" kern="1200">
          <a:solidFill>
            <a:schemeClr val="tx1"/>
          </a:solidFill>
          <a:latin typeface="+mn-lt"/>
          <a:ea typeface="+mn-ea"/>
          <a:cs typeface="+mn-cs"/>
        </a:defRPr>
      </a:lvl6pPr>
      <a:lvl7pPr marL="2971709" algn="l" defTabSz="990570" rtl="0" eaLnBrk="1" latinLnBrk="0" hangingPunct="1">
        <a:defRPr kumimoji="1" sz="1950" kern="1200">
          <a:solidFill>
            <a:schemeClr val="tx1"/>
          </a:solidFill>
          <a:latin typeface="+mn-lt"/>
          <a:ea typeface="+mn-ea"/>
          <a:cs typeface="+mn-cs"/>
        </a:defRPr>
      </a:lvl7pPr>
      <a:lvl8pPr marL="3466993" algn="l" defTabSz="990570" rtl="0" eaLnBrk="1" latinLnBrk="0" hangingPunct="1">
        <a:defRPr kumimoji="1" sz="1950" kern="1200">
          <a:solidFill>
            <a:schemeClr val="tx1"/>
          </a:solidFill>
          <a:latin typeface="+mn-lt"/>
          <a:ea typeface="+mn-ea"/>
          <a:cs typeface="+mn-cs"/>
        </a:defRPr>
      </a:lvl8pPr>
      <a:lvl9pPr marL="3962278" algn="l" defTabSz="990570" rtl="0" eaLnBrk="1" latinLnBrk="0" hangingPunct="1">
        <a:defRPr kumimoji="1"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3.sv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5.sv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5.sv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F2EED-545C-4F82-2029-2BF220E821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1B333C-B11A-2CA3-F422-92972BBE8432}"/>
              </a:ext>
            </a:extLst>
          </p:cNvPr>
          <p:cNvSpPr>
            <a:spLocks noGrp="1"/>
          </p:cNvSpPr>
          <p:nvPr>
            <p:ph type="ctrTitle"/>
          </p:nvPr>
        </p:nvSpPr>
        <p:spPr>
          <a:xfrm>
            <a:off x="1199300" y="1682048"/>
            <a:ext cx="7717350" cy="2195001"/>
          </a:xfrm>
        </p:spPr>
        <p:txBody>
          <a:bodyPr>
            <a:normAutofit/>
          </a:bodyPr>
          <a:lstStyle/>
          <a:p>
            <a:r>
              <a:rPr lang="en-US" sz="4800" dirty="0"/>
              <a:t> 6/XX </a:t>
            </a:r>
            <a:r>
              <a:rPr lang="en-US" sz="4800" dirty="0" err="1"/>
              <a:t>背景~研究目的</a:t>
            </a:r>
            <a:br>
              <a:rPr lang="en-US" sz="4800" dirty="0"/>
            </a:br>
            <a:r>
              <a:rPr kumimoji="0" lang="ja-JP" altLang="ja-JP" sz="3100">
                <a:latin typeface="Arial" panose="020B0604020202020204" pitchFamily="34" charset="0"/>
                <a:ea typeface="-webkit-standard"/>
              </a:rPr>
              <a:t>Windowsエンドポイントログを用いた正常行動の行動復元列による偽陽性判断の</a:t>
            </a:r>
            <a:r>
              <a:rPr kumimoji="0" lang="ja-JP" altLang="en-US" sz="3100">
                <a:latin typeface="Arial" panose="020B0604020202020204" pitchFamily="34" charset="0"/>
                <a:ea typeface="-webkit-standard"/>
              </a:rPr>
              <a:t>検討</a:t>
            </a:r>
            <a:endParaRPr lang="en-US" sz="4800" dirty="0"/>
          </a:p>
        </p:txBody>
      </p:sp>
      <p:sp>
        <p:nvSpPr>
          <p:cNvPr id="14" name="タイトル 2">
            <a:extLst>
              <a:ext uri="{FF2B5EF4-FFF2-40B4-BE49-F238E27FC236}">
                <a16:creationId xmlns:a16="http://schemas.microsoft.com/office/drawing/2014/main" id="{E9002E09-CE1E-9714-1AB5-C8B5838B67EF}"/>
              </a:ext>
            </a:extLst>
          </p:cNvPr>
          <p:cNvSpPr txBox="1">
            <a:spLocks/>
          </p:cNvSpPr>
          <p:nvPr/>
        </p:nvSpPr>
        <p:spPr>
          <a:xfrm>
            <a:off x="1199300" y="4064003"/>
            <a:ext cx="7717350" cy="1190291"/>
          </a:xfrm>
          <a:prstGeom prst="rect">
            <a:avLst/>
          </a:prstGeom>
          <a:solidFill>
            <a:schemeClr val="bg2">
              <a:lumMod val="10000"/>
              <a:alpha val="65000"/>
            </a:schemeClr>
          </a:solidFill>
          <a:ln>
            <a:noFill/>
          </a:ln>
        </p:spPr>
        <p:txBody>
          <a:bodyPr anchor="ctr">
            <a:normAutofit/>
          </a:bodyPr>
          <a:lstStyle>
            <a:lvl1pPr algn="ctr" defTabSz="990570" rtl="0" eaLnBrk="1" latinLnBrk="0" hangingPunct="1">
              <a:spcBef>
                <a:spcPct val="0"/>
              </a:spcBef>
              <a:buNone/>
              <a:defRPr sz="4000" kern="1200">
                <a:solidFill>
                  <a:schemeClr val="bg1"/>
                </a:solidFill>
                <a:latin typeface="メイリオ" panose="020B0604030504040204" pitchFamily="50" charset="-128"/>
                <a:ea typeface="メイリオ" panose="020B0604030504040204" pitchFamily="50" charset="-128"/>
                <a:cs typeface="+mj-cs"/>
              </a:defRPr>
            </a:lvl1pPr>
          </a:lstStyle>
          <a:p>
            <a:r>
              <a:rPr kumimoji="1" lang="ja-JP" altLang="en-US" sz="1800" dirty="0">
                <a:latin typeface="+mn-lt"/>
                <a:ea typeface="+mn-ea"/>
              </a:rPr>
              <a:t>北海道大学 </a:t>
            </a:r>
            <a:r>
              <a:rPr lang="ja-JP" altLang="en-US" sz="1800" dirty="0">
                <a:latin typeface="+mn-lt"/>
                <a:ea typeface="+mn-ea"/>
              </a:rPr>
              <a:t>大学院情報科学研究院</a:t>
            </a:r>
            <a:endParaRPr kumimoji="1" lang="en-US" altLang="ja-JP" sz="1800" dirty="0">
              <a:latin typeface="+mn-lt"/>
              <a:ea typeface="+mn-ea"/>
            </a:endParaRPr>
          </a:p>
          <a:p>
            <a:r>
              <a:rPr lang="ja-JP" altLang="en-US" sz="1800" dirty="0">
                <a:latin typeface="+mn-lt"/>
                <a:ea typeface="+mn-ea"/>
              </a:rPr>
              <a:t>情報理工学部門 複合情報工学分野 調和系工学研究室</a:t>
            </a:r>
            <a:endParaRPr lang="en-US" altLang="ja-JP" sz="1800" dirty="0">
              <a:latin typeface="+mn-lt"/>
              <a:ea typeface="+mn-ea"/>
            </a:endParaRPr>
          </a:p>
          <a:p>
            <a:r>
              <a:rPr lang="ja-JP" altLang="en-US" sz="1800">
                <a:latin typeface="+mn-lt"/>
                <a:ea typeface="+mn-ea"/>
              </a:rPr>
              <a:t>修士課程</a:t>
            </a:r>
            <a:r>
              <a:rPr lang="en-US" altLang="ja-JP" sz="1800" dirty="0">
                <a:latin typeface="+mn-lt"/>
                <a:ea typeface="+mn-ea"/>
              </a:rPr>
              <a:t>2</a:t>
            </a:r>
            <a:r>
              <a:rPr lang="ja-JP" altLang="en-US" sz="1800">
                <a:latin typeface="+mn-lt"/>
                <a:ea typeface="+mn-ea"/>
              </a:rPr>
              <a:t>年　小松崎　大世</a:t>
            </a:r>
            <a:endParaRPr lang="en-US" altLang="ja-JP" sz="1800" dirty="0">
              <a:latin typeface="+mn-lt"/>
              <a:ea typeface="+mn-ea"/>
            </a:endParaRPr>
          </a:p>
        </p:txBody>
      </p:sp>
    </p:spTree>
    <p:extLst>
      <p:ext uri="{BB962C8B-B14F-4D97-AF65-F5344CB8AC3E}">
        <p14:creationId xmlns:p14="http://schemas.microsoft.com/office/powerpoint/2010/main" val="400272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017D-C29A-2015-13D7-D3BFEE1BA92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03801655-130D-A387-E0CB-57F808836A4B}"/>
              </a:ext>
            </a:extLst>
          </p:cNvPr>
          <p:cNvSpPr>
            <a:spLocks noGrp="1"/>
          </p:cNvSpPr>
          <p:nvPr>
            <p:ph type="title"/>
          </p:nvPr>
        </p:nvSpPr>
        <p:spPr>
          <a:xfrm>
            <a:off x="217755" y="13766"/>
            <a:ext cx="7886700" cy="626133"/>
          </a:xfrm>
        </p:spPr>
        <p:txBody>
          <a:bodyPr>
            <a:normAutofit/>
          </a:bodyPr>
          <a:lstStyle/>
          <a:p>
            <a:r>
              <a:rPr lang="ja-JP" altLang="en-US"/>
              <a:t>背景　</a:t>
            </a:r>
            <a:r>
              <a:rPr lang="en-US" altLang="ja-JP" dirty="0"/>
              <a:t>  </a:t>
            </a:r>
            <a:endParaRPr lang="en-US" dirty="0"/>
          </a:p>
        </p:txBody>
      </p:sp>
      <p:sp>
        <p:nvSpPr>
          <p:cNvPr id="4" name="スライド番号プレースホルダー 3">
            <a:extLst>
              <a:ext uri="{FF2B5EF4-FFF2-40B4-BE49-F238E27FC236}">
                <a16:creationId xmlns:a16="http://schemas.microsoft.com/office/drawing/2014/main" id="{0225B15C-0A3C-DF21-BEBB-A06747A7744B}"/>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2</a:t>
            </a:fld>
            <a:endParaRPr lang="en-US"/>
          </a:p>
        </p:txBody>
      </p:sp>
      <p:sp>
        <p:nvSpPr>
          <p:cNvPr id="7" name="テキスト ボックス 6">
            <a:extLst>
              <a:ext uri="{FF2B5EF4-FFF2-40B4-BE49-F238E27FC236}">
                <a16:creationId xmlns:a16="http://schemas.microsoft.com/office/drawing/2014/main" id="{9805120B-1EF5-8398-9940-362676D60C72}"/>
              </a:ext>
            </a:extLst>
          </p:cNvPr>
          <p:cNvSpPr txBox="1"/>
          <p:nvPr/>
        </p:nvSpPr>
        <p:spPr>
          <a:xfrm>
            <a:off x="1" y="594188"/>
            <a:ext cx="9143999" cy="3693319"/>
          </a:xfrm>
          <a:prstGeom prst="rect">
            <a:avLst/>
          </a:prstGeom>
          <a:noFill/>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ja-JP" altLang="ja-JP">
                <a:solidFill>
                  <a:srgbClr val="000000"/>
                </a:solidFill>
                <a:latin typeface="Arial" panose="020B0604020202020204" pitchFamily="34" charset="0"/>
              </a:rPr>
              <a:t>Windowsエンドポイントセキュリティの重要性の増加</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en-US">
                <a:solidFill>
                  <a:srgbClr val="000000"/>
                </a:solidFill>
                <a:latin typeface="Arial" panose="020B0604020202020204" pitchFamily="34" charset="0"/>
              </a:rPr>
              <a:t>エンドポイント全体の</a:t>
            </a:r>
            <a:r>
              <a:rPr lang="ja-JP" altLang="ja-JP">
                <a:solidFill>
                  <a:srgbClr val="000000"/>
                </a:solidFill>
                <a:latin typeface="Arial" panose="020B0604020202020204" pitchFamily="34" charset="0"/>
              </a:rPr>
              <a:t>一元管理が難し</a:t>
            </a:r>
            <a:r>
              <a:rPr lang="ja-JP" altLang="en-US">
                <a:solidFill>
                  <a:srgbClr val="000000"/>
                </a:solidFill>
                <a:latin typeface="Arial" panose="020B0604020202020204" pitchFamily="34" charset="0"/>
              </a:rPr>
              <a:t>い</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ja-JP">
                <a:solidFill>
                  <a:srgbClr val="000000"/>
                </a:solidFill>
                <a:latin typeface="Arial" panose="020B0604020202020204" pitchFamily="34" charset="0"/>
              </a:rPr>
              <a:t>Windowsは市場の70%を占有</a:t>
            </a:r>
            <a:endParaRPr lang="en-US" altLang="ja-JP" dirty="0">
              <a:solidFill>
                <a:srgbClr val="000000"/>
              </a:solidFill>
              <a:latin typeface="Arial" panose="020B0604020202020204" pitchFamily="34" charset="0"/>
            </a:endParaRPr>
          </a:p>
          <a:p>
            <a:pPr lvl="1" defTabSz="914400" eaLnBrk="0" fontAlgn="base" hangingPunct="0">
              <a:spcBef>
                <a:spcPct val="0"/>
              </a:spcBef>
              <a:spcAft>
                <a:spcPct val="0"/>
              </a:spcAft>
            </a:pPr>
            <a:endParaRPr lang="en-US" altLang="ja-JP" dirty="0">
              <a:solidFill>
                <a:srgbClr val="000000"/>
              </a:solidFill>
              <a:latin typeface="Arial" panose="020B0604020202020204" pitchFamily="34" charset="0"/>
            </a:endParaRPr>
          </a:p>
          <a:p>
            <a:pPr marL="285750" indent="-285750" defTabSz="914400" eaLnBrk="0" fontAlgn="base" hangingPunct="0">
              <a:spcBef>
                <a:spcPct val="0"/>
              </a:spcBef>
              <a:spcAft>
                <a:spcPct val="0"/>
              </a:spcAft>
              <a:buFont typeface="Arial" panose="020B0604020202020204" pitchFamily="34" charset="0"/>
              <a:buChar char="•"/>
            </a:pPr>
            <a:r>
              <a:rPr lang="ja-JP" altLang="ja-JP">
                <a:solidFill>
                  <a:srgbClr val="000000"/>
                </a:solidFill>
                <a:latin typeface="Arial" panose="020B0604020202020204" pitchFamily="34" charset="0"/>
              </a:rPr>
              <a:t>攻撃手法の変化によりインシデント分析の負担増加</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ja-JP">
                <a:solidFill>
                  <a:srgbClr val="000000"/>
                </a:solidFill>
                <a:latin typeface="Arial" panose="020B0604020202020204" pitchFamily="34" charset="0"/>
              </a:rPr>
              <a:t>生成AIの発達により攻撃の多様化、未知攻撃の増加</a:t>
            </a:r>
            <a:r>
              <a:rPr lang="ja-JP" altLang="en-US">
                <a:solidFill>
                  <a:srgbClr val="000000"/>
                </a:solidFill>
                <a:latin typeface="Arial" panose="020B0604020202020204" pitchFamily="34" charset="0"/>
              </a:rPr>
              <a:t>により異常検知では正確な検知が難しい</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en-US">
                <a:solidFill>
                  <a:srgbClr val="000000"/>
                </a:solidFill>
                <a:latin typeface="Arial" panose="020B0604020202020204" pitchFamily="34" charset="0"/>
              </a:rPr>
              <a:t>見逃しを防ぐためにインシデント分析に回る構造</a:t>
            </a:r>
            <a:endParaRPr lang="en-US" altLang="ja-JP" dirty="0">
              <a:solidFill>
                <a:srgbClr val="000000"/>
              </a:solidFill>
              <a:latin typeface="Arial" panose="020B0604020202020204" pitchFamily="34" charset="0"/>
            </a:endParaRPr>
          </a:p>
          <a:p>
            <a:pPr defTabSz="914400" eaLnBrk="0" fontAlgn="base" hangingPunct="0">
              <a:spcBef>
                <a:spcPct val="0"/>
              </a:spcBef>
              <a:spcAft>
                <a:spcPct val="0"/>
              </a:spcAft>
            </a:pP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endParaRPr lang="en-US" altLang="ja-JP" dirty="0">
              <a:solidFill>
                <a:srgbClr val="000000"/>
              </a:solidFill>
              <a:latin typeface="Arial" panose="020B0604020202020204" pitchFamily="34" charset="0"/>
            </a:endParaRPr>
          </a:p>
          <a:p>
            <a:pPr defTabSz="914400" eaLnBrk="0" fontAlgn="base" hangingPunct="0">
              <a:spcBef>
                <a:spcPct val="0"/>
              </a:spcBef>
              <a:spcAft>
                <a:spcPct val="0"/>
              </a:spcAft>
            </a:pP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endParaRPr lang="ja-JP" altLang="ja-JP">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9" name="テキスト ボックス 8">
            <a:extLst>
              <a:ext uri="{FF2B5EF4-FFF2-40B4-BE49-F238E27FC236}">
                <a16:creationId xmlns:a16="http://schemas.microsoft.com/office/drawing/2014/main" id="{E136BEE4-AEF9-B50E-414B-3AD88E8DF23F}"/>
              </a:ext>
            </a:extLst>
          </p:cNvPr>
          <p:cNvSpPr txBox="1"/>
          <p:nvPr/>
        </p:nvSpPr>
        <p:spPr>
          <a:xfrm>
            <a:off x="6280227" y="3298226"/>
            <a:ext cx="184731" cy="369332"/>
          </a:xfrm>
          <a:prstGeom prst="rect">
            <a:avLst/>
          </a:prstGeom>
          <a:noFill/>
        </p:spPr>
        <p:txBody>
          <a:bodyPr wrap="none" rtlCol="0">
            <a:spAutoFit/>
          </a:bodyPr>
          <a:lstStyle/>
          <a:p>
            <a:pPr algn="l"/>
            <a:endParaRPr kumimoji="1" lang="en-US" altLang="ja-JP" sz="900" dirty="0">
              <a:cs typeface="Arial" panose="020B0604020202020204" pitchFamily="34" charset="0"/>
            </a:endParaRPr>
          </a:p>
          <a:p>
            <a:pPr algn="l"/>
            <a:endParaRPr kumimoji="1" lang="en-US" altLang="ja-JP" sz="900" dirty="0">
              <a:cs typeface="Arial" panose="020B0604020202020204" pitchFamily="34" charset="0"/>
            </a:endParaRPr>
          </a:p>
        </p:txBody>
      </p:sp>
      <p:sp>
        <p:nvSpPr>
          <p:cNvPr id="12" name="正方形/長方形 11">
            <a:extLst>
              <a:ext uri="{FF2B5EF4-FFF2-40B4-BE49-F238E27FC236}">
                <a16:creationId xmlns:a16="http://schemas.microsoft.com/office/drawing/2014/main" id="{26053B09-7D76-1A05-2831-7F5907CF923F}"/>
              </a:ext>
            </a:extLst>
          </p:cNvPr>
          <p:cNvSpPr/>
          <p:nvPr/>
        </p:nvSpPr>
        <p:spPr>
          <a:xfrm>
            <a:off x="3931874" y="4847376"/>
            <a:ext cx="2295144" cy="529858"/>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561273E-18E8-C700-E97A-9F755DC49442}"/>
              </a:ext>
            </a:extLst>
          </p:cNvPr>
          <p:cNvSpPr txBox="1"/>
          <p:nvPr/>
        </p:nvSpPr>
        <p:spPr>
          <a:xfrm>
            <a:off x="203042" y="4950475"/>
            <a:ext cx="8598829" cy="400110"/>
          </a:xfrm>
          <a:prstGeom prst="rect">
            <a:avLst/>
          </a:prstGeom>
          <a:noFill/>
        </p:spPr>
        <p:txBody>
          <a:bodyPr wrap="none" rtlCol="0">
            <a:spAutoFit/>
          </a:bodyPr>
          <a:lstStyle/>
          <a:p>
            <a:pPr algn="l"/>
            <a:r>
              <a:rPr kumimoji="1" lang="ja-JP" altLang="en-US" sz="2000">
                <a:cs typeface="Arial" panose="020B0604020202020204" pitchFamily="34" charset="0"/>
              </a:rPr>
              <a:t>異常検知　→　トリアージ　→　</a:t>
            </a:r>
            <a:r>
              <a:rPr kumimoji="1" lang="ja-JP" altLang="en-US" sz="2000" b="1">
                <a:cs typeface="Arial" panose="020B0604020202020204" pitchFamily="34" charset="0"/>
              </a:rPr>
              <a:t>インシデント分析　</a:t>
            </a:r>
            <a:r>
              <a:rPr kumimoji="1" lang="ja-JP" altLang="en-US" sz="2000">
                <a:cs typeface="Arial" panose="020B0604020202020204" pitchFamily="34" charset="0"/>
              </a:rPr>
              <a:t>→　報告</a:t>
            </a:r>
            <a:r>
              <a:rPr kumimoji="1" lang="en-US" altLang="ja-JP" sz="2000" dirty="0">
                <a:cs typeface="Arial" panose="020B0604020202020204" pitchFamily="34" charset="0"/>
              </a:rPr>
              <a:t>,</a:t>
            </a:r>
            <a:r>
              <a:rPr kumimoji="1" lang="ja-JP" altLang="en-US" sz="2000">
                <a:cs typeface="Arial" panose="020B0604020202020204" pitchFamily="34" charset="0"/>
              </a:rPr>
              <a:t>レポート化</a:t>
            </a:r>
            <a:endParaRPr kumimoji="1" lang="ja-JP" altLang="en-US" sz="2000" dirty="0">
              <a:cs typeface="Arial" panose="020B0604020202020204" pitchFamily="34" charset="0"/>
            </a:endParaRPr>
          </a:p>
        </p:txBody>
      </p:sp>
      <p:sp>
        <p:nvSpPr>
          <p:cNvPr id="14" name="テキスト ボックス 13">
            <a:extLst>
              <a:ext uri="{FF2B5EF4-FFF2-40B4-BE49-F238E27FC236}">
                <a16:creationId xmlns:a16="http://schemas.microsoft.com/office/drawing/2014/main" id="{DE20BB93-25C0-5654-6914-A628083D044C}"/>
              </a:ext>
            </a:extLst>
          </p:cNvPr>
          <p:cNvSpPr txBox="1"/>
          <p:nvPr/>
        </p:nvSpPr>
        <p:spPr>
          <a:xfrm>
            <a:off x="11496" y="4476274"/>
            <a:ext cx="5618846" cy="369332"/>
          </a:xfrm>
          <a:prstGeom prst="rect">
            <a:avLst/>
          </a:prstGeom>
          <a:noFill/>
        </p:spPr>
        <p:txBody>
          <a:bodyPr wrap="none" rtlCol="0">
            <a:spAutoFit/>
          </a:bodyPr>
          <a:lstStyle/>
          <a:p>
            <a:pPr algn="l"/>
            <a:r>
              <a:rPr kumimoji="1" lang="ja-JP" altLang="en-US">
                <a:cs typeface="Arial" panose="020B0604020202020204" pitchFamily="34" charset="0"/>
              </a:rPr>
              <a:t>図：サイバー攻撃のインシデント対応ワークフロー</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2754792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42477-F89C-3583-57A0-BC32E4D8C6EE}"/>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F46D3E55-BA7A-C6E8-BD59-D261A0D7A6E4}"/>
              </a:ext>
            </a:extLst>
          </p:cNvPr>
          <p:cNvSpPr/>
          <p:nvPr/>
        </p:nvSpPr>
        <p:spPr>
          <a:xfrm>
            <a:off x="94172" y="4227437"/>
            <a:ext cx="8944809" cy="1749486"/>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4808B2B3-A82A-6C95-D69A-A2B3CE619974}"/>
              </a:ext>
            </a:extLst>
          </p:cNvPr>
          <p:cNvSpPr>
            <a:spLocks noGrp="1"/>
          </p:cNvSpPr>
          <p:nvPr>
            <p:ph type="title"/>
          </p:nvPr>
        </p:nvSpPr>
        <p:spPr>
          <a:xfrm>
            <a:off x="217755" y="13766"/>
            <a:ext cx="7886700" cy="626133"/>
          </a:xfrm>
        </p:spPr>
        <p:txBody>
          <a:bodyPr>
            <a:normAutofit/>
          </a:bodyPr>
          <a:lstStyle/>
          <a:p>
            <a:r>
              <a:rPr lang="ja-JP" altLang="en-US"/>
              <a:t>背景　インシデント分析とは　</a:t>
            </a:r>
            <a:r>
              <a:rPr lang="en-US" altLang="ja-JP" dirty="0"/>
              <a:t>  </a:t>
            </a:r>
            <a:endParaRPr lang="en-US" dirty="0"/>
          </a:p>
        </p:txBody>
      </p:sp>
      <p:sp>
        <p:nvSpPr>
          <p:cNvPr id="4" name="スライド番号プレースホルダー 3">
            <a:extLst>
              <a:ext uri="{FF2B5EF4-FFF2-40B4-BE49-F238E27FC236}">
                <a16:creationId xmlns:a16="http://schemas.microsoft.com/office/drawing/2014/main" id="{BD987451-802C-C563-7EA1-88EC39257D7E}"/>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3</a:t>
            </a:fld>
            <a:endParaRPr lang="en-US"/>
          </a:p>
        </p:txBody>
      </p:sp>
      <p:sp>
        <p:nvSpPr>
          <p:cNvPr id="2" name="コンテンツ プレースホルダー 5">
            <a:extLst>
              <a:ext uri="{FF2B5EF4-FFF2-40B4-BE49-F238E27FC236}">
                <a16:creationId xmlns:a16="http://schemas.microsoft.com/office/drawing/2014/main" id="{1C6F2CEC-DC72-48FA-A133-3538C4457415}"/>
              </a:ext>
            </a:extLst>
          </p:cNvPr>
          <p:cNvSpPr txBox="1">
            <a:spLocks/>
          </p:cNvSpPr>
          <p:nvPr/>
        </p:nvSpPr>
        <p:spPr bwMode="auto">
          <a:xfrm>
            <a:off x="0" y="651776"/>
            <a:ext cx="9133155" cy="190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noAutofit/>
          </a:bodyPr>
          <a:lstStyle>
            <a:lvl1pPr marL="371464" indent="-371464" algn="l" defTabSz="990570" rtl="0" eaLnBrk="1" latinLnBrk="0" hangingPunct="1">
              <a:spcBef>
                <a:spcPct val="20000"/>
              </a:spcBef>
              <a:buFontTx/>
              <a:buBlip>
                <a:blip r:embed="rId3"/>
              </a:buBlip>
              <a:defRPr kumimoji="1" sz="2800" kern="1200" baseline="0">
                <a:solidFill>
                  <a:schemeClr val="tx1"/>
                </a:solidFill>
                <a:latin typeface="Segoe UI" panose="020B0502040204020203" pitchFamily="34" charset="0"/>
                <a:ea typeface="メイリオ" panose="020B0604030504040204" pitchFamily="50" charset="-128"/>
                <a:cs typeface="+mn-cs"/>
              </a:defRPr>
            </a:lvl1pPr>
            <a:lvl2pPr marL="804838" indent="-309553" algn="l" defTabSz="990570" rtl="0" eaLnBrk="1" latinLnBrk="0" hangingPunct="1">
              <a:spcBef>
                <a:spcPct val="20000"/>
              </a:spcBef>
              <a:buFontTx/>
              <a:buBlip>
                <a:blip r:embed="rId4"/>
              </a:buBlip>
              <a:defRPr kumimoji="1" sz="2400" kern="1200" baseline="0">
                <a:solidFill>
                  <a:schemeClr val="tx1"/>
                </a:solidFill>
                <a:latin typeface="Segoe UI" panose="020B0502040204020203" pitchFamily="34" charset="0"/>
                <a:ea typeface="メイリオ" panose="020B0604030504040204" pitchFamily="50" charset="-128"/>
                <a:cs typeface="+mn-cs"/>
              </a:defRPr>
            </a:lvl2pPr>
            <a:lvl3pPr marL="1238212" indent="-247642" algn="l" defTabSz="990570" rtl="0" eaLnBrk="1" latinLnBrk="0" hangingPunct="1">
              <a:spcBef>
                <a:spcPct val="20000"/>
              </a:spcBef>
              <a:buFontTx/>
              <a:buBlip>
                <a:blip r:embed="rId5"/>
              </a:buBlip>
              <a:defRPr kumimoji="1" sz="2000" kern="1200" baseline="0">
                <a:solidFill>
                  <a:schemeClr val="tx1"/>
                </a:solidFill>
                <a:latin typeface="Segoe UI" panose="020B0502040204020203" pitchFamily="34" charset="0"/>
                <a:ea typeface="メイリオ" panose="020B0604030504040204" pitchFamily="50" charset="-128"/>
                <a:cs typeface="+mn-cs"/>
              </a:defRPr>
            </a:lvl3pPr>
            <a:lvl4pPr marL="1733497" indent="-247642" algn="l" defTabSz="990570" rtl="0" eaLnBrk="1" latinLnBrk="0" hangingPunct="1">
              <a:spcBef>
                <a:spcPct val="20000"/>
              </a:spcBef>
              <a:buFontTx/>
              <a:buBlip>
                <a:blip r:embed="rId6"/>
              </a:buBlip>
              <a:defRPr kumimoji="1" sz="1800" kern="1200" baseline="0">
                <a:solidFill>
                  <a:schemeClr val="tx1"/>
                </a:solidFill>
                <a:latin typeface="Segoe UI" panose="020B0502040204020203" pitchFamily="34" charset="0"/>
                <a:ea typeface="メイリオ" panose="020B0604030504040204" pitchFamily="50" charset="-128"/>
                <a:cs typeface="+mn-cs"/>
              </a:defRPr>
            </a:lvl4pPr>
            <a:lvl5pPr marL="2228781" indent="-247642" algn="l" defTabSz="990570" rtl="0" eaLnBrk="1" latinLnBrk="0" hangingPunct="1">
              <a:spcBef>
                <a:spcPct val="20000"/>
              </a:spcBef>
              <a:buFontTx/>
              <a:buBlip>
                <a:blip r:embed="rId3"/>
              </a:buBlip>
              <a:defRPr kumimoji="1" sz="1800" kern="1200" baseline="0">
                <a:solidFill>
                  <a:schemeClr val="tx1"/>
                </a:solidFill>
                <a:latin typeface="Segoe UI" panose="020B0502040204020203" pitchFamily="34" charset="0"/>
                <a:ea typeface="メイリオ" panose="020B0604030504040204" pitchFamily="50" charset="-128"/>
                <a:cs typeface="+mn-cs"/>
              </a:defRPr>
            </a:lvl5pPr>
            <a:lvl6pPr marL="272406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6pPr>
            <a:lvl7pPr marL="3219351"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7pPr>
            <a:lvl8pPr marL="371463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8pPr>
            <a:lvl9pPr marL="4209920"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9pPr>
          </a:lstStyle>
          <a:p>
            <a:pPr>
              <a:buFont typeface="Arial" panose="020B0604020202020204" pitchFamily="34" charset="0"/>
              <a:buChar char="•"/>
            </a:pPr>
            <a:r>
              <a:rPr kumimoji="0" lang="ja-JP" altLang="en-US" sz="1800">
                <a:latin typeface="Arial" panose="020B0604020202020204" pitchFamily="34" charset="0"/>
              </a:rPr>
              <a:t>インシデント分析とは</a:t>
            </a:r>
            <a:endParaRPr kumimoji="0" lang="en-US" altLang="ja-JP" sz="1800" dirty="0">
              <a:latin typeface="Arial" panose="020B0604020202020204" pitchFamily="34" charset="0"/>
            </a:endParaRPr>
          </a:p>
          <a:p>
            <a:pPr lvl="1">
              <a:buFont typeface="Arial" panose="020B0604020202020204" pitchFamily="34" charset="0"/>
              <a:buChar char="•"/>
            </a:pPr>
            <a:r>
              <a:rPr kumimoji="0" lang="ja-JP" altLang="en-US" sz="1800">
                <a:latin typeface="Arial" panose="020B0604020202020204" pitchFamily="34" charset="0"/>
              </a:rPr>
              <a:t>セキュリティ異常検知システムが出力した異常ログから調査を開始する</a:t>
            </a:r>
            <a:endParaRPr kumimoji="0" lang="en-US" altLang="ja-JP" sz="1800" dirty="0">
              <a:latin typeface="Arial" panose="020B0604020202020204" pitchFamily="34" charset="0"/>
            </a:endParaRPr>
          </a:p>
          <a:p>
            <a:pPr lvl="1">
              <a:buFont typeface="Arial" panose="020B0604020202020204" pitchFamily="34" charset="0"/>
              <a:buChar char="•"/>
            </a:pPr>
            <a:r>
              <a:rPr kumimoji="0" lang="ja-JP" altLang="en-US" sz="1800">
                <a:latin typeface="Arial" panose="020B0604020202020204" pitchFamily="34" charset="0"/>
              </a:rPr>
              <a:t>異常ログを元に何が起きたのかを関連ログの収集により徐々に明らかにしていく作業</a:t>
            </a:r>
            <a:endParaRPr kumimoji="0" lang="en-US" altLang="ja-JP" sz="1800" dirty="0">
              <a:latin typeface="Arial" panose="020B0604020202020204" pitchFamily="34" charset="0"/>
            </a:endParaRPr>
          </a:p>
          <a:p>
            <a:pPr>
              <a:buFont typeface="Arial" panose="020B0604020202020204" pitchFamily="34" charset="0"/>
              <a:buChar char="•"/>
            </a:pPr>
            <a:r>
              <a:rPr kumimoji="0" lang="ja-JP" altLang="en-US" sz="1800">
                <a:latin typeface="Arial" panose="020B0604020202020204" pitchFamily="34" charset="0"/>
              </a:rPr>
              <a:t>インシデント分析の属人化</a:t>
            </a:r>
            <a:endParaRPr kumimoji="0" lang="en-US" altLang="ja-JP" sz="1800" dirty="0">
              <a:latin typeface="Arial" panose="020B0604020202020204" pitchFamily="34" charset="0"/>
            </a:endParaRPr>
          </a:p>
          <a:p>
            <a:pPr lvl="1">
              <a:buFont typeface="Arial" panose="020B0604020202020204" pitchFamily="34" charset="0"/>
              <a:buChar char="•"/>
            </a:pPr>
            <a:r>
              <a:rPr kumimoji="0" lang="ja-JP" altLang="en-US" sz="1800">
                <a:latin typeface="Arial" panose="020B0604020202020204" pitchFamily="34" charset="0"/>
              </a:rPr>
              <a:t>高度な推論を繰り返すため、分析作業が属人化しやすい</a:t>
            </a:r>
            <a:endParaRPr kumimoji="0" lang="en-US" altLang="ja-JP" sz="1800" dirty="0">
              <a:latin typeface="Arial" panose="020B0604020202020204" pitchFamily="34" charset="0"/>
            </a:endParaRPr>
          </a:p>
          <a:p>
            <a:pPr>
              <a:buFont typeface="Arial" panose="020B0604020202020204" pitchFamily="34" charset="0"/>
              <a:buChar char="•"/>
            </a:pPr>
            <a:endParaRPr kumimoji="0" lang="en-US" altLang="ja-JP" sz="1800" dirty="0">
              <a:latin typeface="Arial" panose="020B0604020202020204" pitchFamily="34" charset="0"/>
            </a:endParaRPr>
          </a:p>
          <a:p>
            <a:pPr lvl="1">
              <a:buFont typeface="Arial" panose="020B0604020202020204" pitchFamily="34" charset="0"/>
              <a:buChar char="•"/>
            </a:pPr>
            <a:endParaRPr kumimoji="0" lang="ja-JP" altLang="ja-JP" sz="1800">
              <a:latin typeface="Arial" panose="020B0604020202020204" pitchFamily="34" charset="0"/>
            </a:endParaRPr>
          </a:p>
          <a:p>
            <a:endParaRPr kumimoji="0" lang="ja-JP" altLang="ja-JP" sz="1800">
              <a:latin typeface="Arial" panose="020B0604020202020204" pitchFamily="34" charset="0"/>
            </a:endParaRPr>
          </a:p>
        </p:txBody>
      </p:sp>
      <p:sp>
        <p:nvSpPr>
          <p:cNvPr id="6" name="テキスト ボックス 5">
            <a:extLst>
              <a:ext uri="{FF2B5EF4-FFF2-40B4-BE49-F238E27FC236}">
                <a16:creationId xmlns:a16="http://schemas.microsoft.com/office/drawing/2014/main" id="{FEAE3727-99AD-B425-1103-3E0B1998DD56}"/>
              </a:ext>
            </a:extLst>
          </p:cNvPr>
          <p:cNvSpPr txBox="1"/>
          <p:nvPr/>
        </p:nvSpPr>
        <p:spPr>
          <a:xfrm>
            <a:off x="345609" y="4605781"/>
            <a:ext cx="8581195" cy="646331"/>
          </a:xfrm>
          <a:prstGeom prst="rect">
            <a:avLst/>
          </a:prstGeom>
          <a:noFill/>
        </p:spPr>
        <p:txBody>
          <a:bodyPr wrap="none" rtlCol="0">
            <a:spAutoFit/>
          </a:bodyPr>
          <a:lstStyle/>
          <a:p>
            <a:pPr algn="l"/>
            <a:r>
              <a:rPr kumimoji="1" lang="ja-JP" altLang="en-US">
                <a:cs typeface="Arial" panose="020B0604020202020204" pitchFamily="34" charset="0"/>
              </a:rPr>
              <a:t>仮説の策定</a:t>
            </a:r>
            <a:r>
              <a:rPr kumimoji="1" lang="en-US" altLang="ja-JP" dirty="0">
                <a:cs typeface="Arial" panose="020B0604020202020204" pitchFamily="34" charset="0"/>
              </a:rPr>
              <a:t>/</a:t>
            </a:r>
            <a:r>
              <a:rPr kumimoji="1" lang="ja-JP" altLang="en-US">
                <a:cs typeface="Arial" panose="020B0604020202020204" pitchFamily="34" charset="0"/>
              </a:rPr>
              <a:t>更新　→　スコープ決定　→　検索収集　→</a:t>
            </a:r>
            <a:r>
              <a:rPr kumimoji="1" lang="en-US" altLang="ja-JP" dirty="0">
                <a:cs typeface="Arial" panose="020B0604020202020204" pitchFamily="34" charset="0"/>
              </a:rPr>
              <a:t> </a:t>
            </a:r>
            <a:r>
              <a:rPr kumimoji="1" lang="ja-JP" altLang="en-US">
                <a:cs typeface="Arial" panose="020B0604020202020204" pitchFamily="34" charset="0"/>
              </a:rPr>
              <a:t>絞り込み　→</a:t>
            </a:r>
            <a:r>
              <a:rPr kumimoji="1" lang="en-US" altLang="ja-JP" dirty="0">
                <a:cs typeface="Arial" panose="020B0604020202020204" pitchFamily="34" charset="0"/>
              </a:rPr>
              <a:t> </a:t>
            </a:r>
            <a:r>
              <a:rPr kumimoji="1" lang="ja-JP" altLang="en-US">
                <a:cs typeface="Arial" panose="020B0604020202020204" pitchFamily="34" charset="0"/>
              </a:rPr>
              <a:t>行動の復元</a:t>
            </a:r>
            <a:endParaRPr kumimoji="1" lang="en-US" altLang="ja-JP" dirty="0">
              <a:cs typeface="Arial" panose="020B0604020202020204" pitchFamily="34" charset="0"/>
            </a:endParaRPr>
          </a:p>
          <a:p>
            <a:pPr algn="l"/>
            <a:r>
              <a:rPr kumimoji="1" lang="ja-JP" altLang="en-US">
                <a:cs typeface="Arial" panose="020B0604020202020204" pitchFamily="34" charset="0"/>
              </a:rPr>
              <a:t>　　　　　　　</a:t>
            </a:r>
            <a:r>
              <a:rPr kumimoji="1" lang="en-US" altLang="ja-JP" dirty="0">
                <a:cs typeface="Arial" panose="020B0604020202020204" pitchFamily="34" charset="0"/>
              </a:rPr>
              <a:t>       </a:t>
            </a:r>
            <a:endParaRPr kumimoji="1" lang="ja-JP" altLang="en-US" dirty="0">
              <a:cs typeface="Arial" panose="020B0604020202020204" pitchFamily="34" charset="0"/>
            </a:endParaRPr>
          </a:p>
        </p:txBody>
      </p:sp>
      <p:sp>
        <p:nvSpPr>
          <p:cNvPr id="7" name="下カーブ矢印 6">
            <a:extLst>
              <a:ext uri="{FF2B5EF4-FFF2-40B4-BE49-F238E27FC236}">
                <a16:creationId xmlns:a16="http://schemas.microsoft.com/office/drawing/2014/main" id="{21D1FD10-85F4-E9B3-51DC-C4779FC7F7EC}"/>
              </a:ext>
            </a:extLst>
          </p:cNvPr>
          <p:cNvSpPr/>
          <p:nvPr/>
        </p:nvSpPr>
        <p:spPr>
          <a:xfrm flipH="1" flipV="1">
            <a:off x="1178520" y="5361299"/>
            <a:ext cx="5444361" cy="448664"/>
          </a:xfrm>
          <a:prstGeom prst="curved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8" name="テキスト ボックス 7">
            <a:extLst>
              <a:ext uri="{FF2B5EF4-FFF2-40B4-BE49-F238E27FC236}">
                <a16:creationId xmlns:a16="http://schemas.microsoft.com/office/drawing/2014/main" id="{67DF0C4B-19DC-DD39-F0A8-D9FD5011DC7A}"/>
              </a:ext>
            </a:extLst>
          </p:cNvPr>
          <p:cNvSpPr txBox="1"/>
          <p:nvPr/>
        </p:nvSpPr>
        <p:spPr>
          <a:xfrm>
            <a:off x="72164" y="4875449"/>
            <a:ext cx="2585964"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何が起きた可能性があるかの検討</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9" name="テキスト ボックス 8">
            <a:extLst>
              <a:ext uri="{FF2B5EF4-FFF2-40B4-BE49-F238E27FC236}">
                <a16:creationId xmlns:a16="http://schemas.microsoft.com/office/drawing/2014/main" id="{E157D7F9-7AF3-FB0B-5F71-2E0F950DBCBA}"/>
              </a:ext>
            </a:extLst>
          </p:cNvPr>
          <p:cNvSpPr txBox="1"/>
          <p:nvPr/>
        </p:nvSpPr>
        <p:spPr>
          <a:xfrm>
            <a:off x="2533366" y="4860370"/>
            <a:ext cx="2105063"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時間帯</a:t>
            </a:r>
            <a:r>
              <a:rPr kumimoji="1" lang="en-US" altLang="ja-JP" sz="1200" dirty="0">
                <a:cs typeface="Arial" panose="020B0604020202020204" pitchFamily="34" charset="0"/>
              </a:rPr>
              <a:t>,</a:t>
            </a:r>
            <a:r>
              <a:rPr kumimoji="1" lang="ja-JP" altLang="en-US" sz="1200">
                <a:cs typeface="Arial" panose="020B0604020202020204" pitchFamily="34" charset="0"/>
              </a:rPr>
              <a:t>ユーザー</a:t>
            </a:r>
            <a:r>
              <a:rPr kumimoji="1" lang="en-US" altLang="ja-JP" sz="1200" dirty="0">
                <a:cs typeface="Arial" panose="020B0604020202020204" pitchFamily="34" charset="0"/>
              </a:rPr>
              <a:t>,</a:t>
            </a:r>
            <a:r>
              <a:rPr kumimoji="1" lang="ja-JP" altLang="en-US" sz="1200">
                <a:cs typeface="Arial" panose="020B0604020202020204" pitchFamily="34" charset="0"/>
              </a:rPr>
              <a:t>プロセス</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10" name="テキスト ボックス 9">
            <a:extLst>
              <a:ext uri="{FF2B5EF4-FFF2-40B4-BE49-F238E27FC236}">
                <a16:creationId xmlns:a16="http://schemas.microsoft.com/office/drawing/2014/main" id="{74CA74ED-E110-5896-B146-67E48354769C}"/>
              </a:ext>
            </a:extLst>
          </p:cNvPr>
          <p:cNvSpPr txBox="1"/>
          <p:nvPr/>
        </p:nvSpPr>
        <p:spPr>
          <a:xfrm>
            <a:off x="4579482" y="4874089"/>
            <a:ext cx="1487908"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クエリ作成→検索</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12" name="テキスト ボックス 11">
            <a:extLst>
              <a:ext uri="{FF2B5EF4-FFF2-40B4-BE49-F238E27FC236}">
                <a16:creationId xmlns:a16="http://schemas.microsoft.com/office/drawing/2014/main" id="{EFBF8F9A-F1CF-DCAC-0FB8-3ECE8D2551D2}"/>
              </a:ext>
            </a:extLst>
          </p:cNvPr>
          <p:cNvSpPr txBox="1"/>
          <p:nvPr/>
        </p:nvSpPr>
        <p:spPr>
          <a:xfrm>
            <a:off x="6003632" y="4887123"/>
            <a:ext cx="1508746"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関連ログのみ残す</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24" name="テキスト ボックス 23">
            <a:extLst>
              <a:ext uri="{FF2B5EF4-FFF2-40B4-BE49-F238E27FC236}">
                <a16:creationId xmlns:a16="http://schemas.microsoft.com/office/drawing/2014/main" id="{923B0F40-5A6D-83A5-2FEE-FF458F3EA4DF}"/>
              </a:ext>
            </a:extLst>
          </p:cNvPr>
          <p:cNvSpPr txBox="1"/>
          <p:nvPr/>
        </p:nvSpPr>
        <p:spPr>
          <a:xfrm>
            <a:off x="2701993" y="5358819"/>
            <a:ext cx="2723823" cy="369332"/>
          </a:xfrm>
          <a:prstGeom prst="rect">
            <a:avLst/>
          </a:prstGeom>
          <a:noFill/>
        </p:spPr>
        <p:txBody>
          <a:bodyPr wrap="none" rtlCol="0">
            <a:spAutoFit/>
          </a:bodyPr>
          <a:lstStyle/>
          <a:p>
            <a:pPr algn="l"/>
            <a:r>
              <a:rPr kumimoji="1" lang="ja-JP" altLang="en-US" b="1">
                <a:cs typeface="Arial" panose="020B0604020202020204" pitchFamily="34" charset="0"/>
              </a:rPr>
              <a:t>情報が揃うまで繰り返す</a:t>
            </a:r>
            <a:endParaRPr kumimoji="1" lang="ja-JP" altLang="en-US" b="1" dirty="0">
              <a:cs typeface="Arial" panose="020B0604020202020204" pitchFamily="34" charset="0"/>
            </a:endParaRPr>
          </a:p>
        </p:txBody>
      </p:sp>
      <p:sp>
        <p:nvSpPr>
          <p:cNvPr id="27" name="テキスト ボックス 26">
            <a:extLst>
              <a:ext uri="{FF2B5EF4-FFF2-40B4-BE49-F238E27FC236}">
                <a16:creationId xmlns:a16="http://schemas.microsoft.com/office/drawing/2014/main" id="{89550F85-F519-01C5-3E14-708386768C4D}"/>
              </a:ext>
            </a:extLst>
          </p:cNvPr>
          <p:cNvSpPr txBox="1"/>
          <p:nvPr/>
        </p:nvSpPr>
        <p:spPr>
          <a:xfrm>
            <a:off x="7159324" y="6386685"/>
            <a:ext cx="1890261" cy="369332"/>
          </a:xfrm>
          <a:prstGeom prst="rect">
            <a:avLst/>
          </a:prstGeom>
          <a:noFill/>
        </p:spPr>
        <p:txBody>
          <a:bodyPr wrap="none" rtlCol="0">
            <a:spAutoFit/>
          </a:bodyPr>
          <a:lstStyle/>
          <a:p>
            <a:pPr algn="l"/>
            <a:r>
              <a:rPr kumimoji="1" lang="ja-JP" altLang="en-US">
                <a:cs typeface="Arial" panose="020B0604020202020204" pitchFamily="34" charset="0"/>
              </a:rPr>
              <a:t>攻撃</a:t>
            </a:r>
            <a:r>
              <a:rPr kumimoji="1" lang="en-US" altLang="ja-JP" dirty="0">
                <a:cs typeface="Arial" panose="020B0604020202020204" pitchFamily="34" charset="0"/>
              </a:rPr>
              <a:t>/</a:t>
            </a:r>
            <a:r>
              <a:rPr kumimoji="1" lang="ja-JP" altLang="en-US">
                <a:cs typeface="Arial" panose="020B0604020202020204" pitchFamily="34" charset="0"/>
              </a:rPr>
              <a:t>正常の判断</a:t>
            </a:r>
            <a:endParaRPr kumimoji="1" lang="ja-JP" altLang="en-US" dirty="0">
              <a:cs typeface="Arial" panose="020B0604020202020204" pitchFamily="34" charset="0"/>
            </a:endParaRPr>
          </a:p>
        </p:txBody>
      </p:sp>
      <p:pic>
        <p:nvPicPr>
          <p:cNvPr id="28" name="グラフィックス 27" descr="警告 単色塗りつぶし">
            <a:extLst>
              <a:ext uri="{FF2B5EF4-FFF2-40B4-BE49-F238E27FC236}">
                <a16:creationId xmlns:a16="http://schemas.microsoft.com/office/drawing/2014/main" id="{DDF85F10-5794-BA79-FE51-BE6EB1E6ACB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142" y="2735834"/>
            <a:ext cx="914400" cy="914400"/>
          </a:xfrm>
          <a:prstGeom prst="rect">
            <a:avLst/>
          </a:prstGeom>
        </p:spPr>
      </p:pic>
      <p:sp>
        <p:nvSpPr>
          <p:cNvPr id="29" name="テキスト ボックス 28">
            <a:extLst>
              <a:ext uri="{FF2B5EF4-FFF2-40B4-BE49-F238E27FC236}">
                <a16:creationId xmlns:a16="http://schemas.microsoft.com/office/drawing/2014/main" id="{DDF06BE0-03A9-223F-C357-881229891B89}"/>
              </a:ext>
            </a:extLst>
          </p:cNvPr>
          <p:cNvSpPr txBox="1"/>
          <p:nvPr/>
        </p:nvSpPr>
        <p:spPr>
          <a:xfrm>
            <a:off x="502133" y="3582726"/>
            <a:ext cx="1261884" cy="523220"/>
          </a:xfrm>
          <a:prstGeom prst="rect">
            <a:avLst/>
          </a:prstGeom>
          <a:noFill/>
        </p:spPr>
        <p:txBody>
          <a:bodyPr wrap="none" rtlCol="0">
            <a:spAutoFit/>
          </a:bodyPr>
          <a:lstStyle/>
          <a:p>
            <a:pPr algn="l"/>
            <a:r>
              <a:rPr kumimoji="1" lang="ja-JP" altLang="en-US" sz="1400">
                <a:cs typeface="Arial" panose="020B0604020202020204" pitchFamily="34" charset="0"/>
              </a:rPr>
              <a:t>セキュリティ</a:t>
            </a:r>
            <a:endParaRPr kumimoji="1" lang="en-US" altLang="ja-JP" sz="1400" dirty="0">
              <a:cs typeface="Arial" panose="020B0604020202020204" pitchFamily="34" charset="0"/>
            </a:endParaRPr>
          </a:p>
          <a:p>
            <a:pPr algn="l"/>
            <a:r>
              <a:rPr kumimoji="1" lang="ja-JP" altLang="en-US" sz="1400">
                <a:cs typeface="Arial" panose="020B0604020202020204" pitchFamily="34" charset="0"/>
              </a:rPr>
              <a:t>　アラート</a:t>
            </a:r>
            <a:endParaRPr kumimoji="1" lang="ja-JP" altLang="en-US" sz="1400" dirty="0">
              <a:cs typeface="Arial" panose="020B0604020202020204" pitchFamily="34" charset="0"/>
            </a:endParaRPr>
          </a:p>
        </p:txBody>
      </p:sp>
      <p:sp>
        <p:nvSpPr>
          <p:cNvPr id="31" name="下矢印 30">
            <a:extLst>
              <a:ext uri="{FF2B5EF4-FFF2-40B4-BE49-F238E27FC236}">
                <a16:creationId xmlns:a16="http://schemas.microsoft.com/office/drawing/2014/main" id="{C2A161C8-E9ED-9E53-6A79-3015C871C20C}"/>
              </a:ext>
            </a:extLst>
          </p:cNvPr>
          <p:cNvSpPr/>
          <p:nvPr/>
        </p:nvSpPr>
        <p:spPr>
          <a:xfrm>
            <a:off x="7681838" y="6062704"/>
            <a:ext cx="535736" cy="287040"/>
          </a:xfrm>
          <a:prstGeom prst="down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solidFill>
                <a:sysClr val="windowText" lastClr="000000"/>
              </a:solidFill>
            </a:endParaRPr>
          </a:p>
        </p:txBody>
      </p:sp>
      <p:sp>
        <p:nvSpPr>
          <p:cNvPr id="32" name="下矢印 31">
            <a:extLst>
              <a:ext uri="{FF2B5EF4-FFF2-40B4-BE49-F238E27FC236}">
                <a16:creationId xmlns:a16="http://schemas.microsoft.com/office/drawing/2014/main" id="{944B20DE-1149-056E-2AE3-EFFA0C4A9DEF}"/>
              </a:ext>
            </a:extLst>
          </p:cNvPr>
          <p:cNvSpPr/>
          <p:nvPr/>
        </p:nvSpPr>
        <p:spPr>
          <a:xfrm>
            <a:off x="829410" y="4124001"/>
            <a:ext cx="535736" cy="287040"/>
          </a:xfrm>
          <a:prstGeom prst="down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solidFill>
                <a:sysClr val="windowText" lastClr="000000"/>
              </a:solidFill>
            </a:endParaRPr>
          </a:p>
        </p:txBody>
      </p:sp>
    </p:spTree>
    <p:extLst>
      <p:ext uri="{BB962C8B-B14F-4D97-AF65-F5344CB8AC3E}">
        <p14:creationId xmlns:p14="http://schemas.microsoft.com/office/powerpoint/2010/main" val="151886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D1432-3473-BDB4-4751-5E7A42302563}"/>
            </a:ext>
          </a:extLst>
        </p:cNvPr>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82DAF3D7-339A-3877-A736-E44D0C3173FC}"/>
              </a:ext>
            </a:extLst>
          </p:cNvPr>
          <p:cNvSpPr/>
          <p:nvPr/>
        </p:nvSpPr>
        <p:spPr>
          <a:xfrm>
            <a:off x="7260086" y="6183648"/>
            <a:ext cx="1508746" cy="59764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7115E8D1-878C-0DF8-A8DB-A75E640404BC}"/>
              </a:ext>
            </a:extLst>
          </p:cNvPr>
          <p:cNvSpPr>
            <a:spLocks noGrp="1"/>
          </p:cNvSpPr>
          <p:nvPr>
            <p:ph type="title"/>
          </p:nvPr>
        </p:nvSpPr>
        <p:spPr>
          <a:xfrm>
            <a:off x="217755" y="13766"/>
            <a:ext cx="7886700" cy="626133"/>
          </a:xfrm>
        </p:spPr>
        <p:txBody>
          <a:bodyPr>
            <a:normAutofit/>
          </a:bodyPr>
          <a:lstStyle/>
          <a:p>
            <a:r>
              <a:rPr lang="ja-JP" altLang="en-US"/>
              <a:t>先行研究　</a:t>
            </a:r>
            <a:r>
              <a:rPr lang="en-US" altLang="ja-JP" dirty="0"/>
              <a:t>  </a:t>
            </a:r>
            <a:endParaRPr lang="en-US" dirty="0"/>
          </a:p>
        </p:txBody>
      </p:sp>
      <p:sp>
        <p:nvSpPr>
          <p:cNvPr id="4" name="スライド番号プレースホルダー 3">
            <a:extLst>
              <a:ext uri="{FF2B5EF4-FFF2-40B4-BE49-F238E27FC236}">
                <a16:creationId xmlns:a16="http://schemas.microsoft.com/office/drawing/2014/main" id="{ECA3AE88-5A00-4D55-0C45-C859A8AFBDBA}"/>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4</a:t>
            </a:fld>
            <a:endParaRPr lang="en-US"/>
          </a:p>
        </p:txBody>
      </p:sp>
      <p:sp>
        <p:nvSpPr>
          <p:cNvPr id="2" name="コンテンツ プレースホルダー 5">
            <a:extLst>
              <a:ext uri="{FF2B5EF4-FFF2-40B4-BE49-F238E27FC236}">
                <a16:creationId xmlns:a16="http://schemas.microsoft.com/office/drawing/2014/main" id="{5D4BE43A-A342-88F6-73C6-994FD1EA8479}"/>
              </a:ext>
            </a:extLst>
          </p:cNvPr>
          <p:cNvSpPr txBox="1">
            <a:spLocks/>
          </p:cNvSpPr>
          <p:nvPr/>
        </p:nvSpPr>
        <p:spPr bwMode="auto">
          <a:xfrm>
            <a:off x="0" y="651776"/>
            <a:ext cx="9133155" cy="190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t" anchorCtr="0" compatLnSpc="1">
            <a:prstTxWarp prst="textNoShape">
              <a:avLst/>
            </a:prstTxWarp>
            <a:noAutofit/>
          </a:bodyPr>
          <a:lstStyle>
            <a:lvl1pPr marL="371464" indent="-371464" algn="l" defTabSz="990570" rtl="0" eaLnBrk="1" latinLnBrk="0" hangingPunct="1">
              <a:spcBef>
                <a:spcPct val="20000"/>
              </a:spcBef>
              <a:buFontTx/>
              <a:buBlip>
                <a:blip r:embed="rId3"/>
              </a:buBlip>
              <a:defRPr kumimoji="1" sz="2800" kern="1200" baseline="0">
                <a:solidFill>
                  <a:schemeClr val="tx1"/>
                </a:solidFill>
                <a:latin typeface="Segoe UI" panose="020B0502040204020203" pitchFamily="34" charset="0"/>
                <a:ea typeface="メイリオ" panose="020B0604030504040204" pitchFamily="50" charset="-128"/>
                <a:cs typeface="+mn-cs"/>
              </a:defRPr>
            </a:lvl1pPr>
            <a:lvl2pPr marL="804838" indent="-309553" algn="l" defTabSz="990570" rtl="0" eaLnBrk="1" latinLnBrk="0" hangingPunct="1">
              <a:spcBef>
                <a:spcPct val="20000"/>
              </a:spcBef>
              <a:buFontTx/>
              <a:buBlip>
                <a:blip r:embed="rId4"/>
              </a:buBlip>
              <a:defRPr kumimoji="1" sz="2400" kern="1200" baseline="0">
                <a:solidFill>
                  <a:schemeClr val="tx1"/>
                </a:solidFill>
                <a:latin typeface="Segoe UI" panose="020B0502040204020203" pitchFamily="34" charset="0"/>
                <a:ea typeface="メイリオ" panose="020B0604030504040204" pitchFamily="50" charset="-128"/>
                <a:cs typeface="+mn-cs"/>
              </a:defRPr>
            </a:lvl2pPr>
            <a:lvl3pPr marL="1238212" indent="-247642" algn="l" defTabSz="990570" rtl="0" eaLnBrk="1" latinLnBrk="0" hangingPunct="1">
              <a:spcBef>
                <a:spcPct val="20000"/>
              </a:spcBef>
              <a:buFontTx/>
              <a:buBlip>
                <a:blip r:embed="rId5"/>
              </a:buBlip>
              <a:defRPr kumimoji="1" sz="2000" kern="1200" baseline="0">
                <a:solidFill>
                  <a:schemeClr val="tx1"/>
                </a:solidFill>
                <a:latin typeface="Segoe UI" panose="020B0502040204020203" pitchFamily="34" charset="0"/>
                <a:ea typeface="メイリオ" panose="020B0604030504040204" pitchFamily="50" charset="-128"/>
                <a:cs typeface="+mn-cs"/>
              </a:defRPr>
            </a:lvl3pPr>
            <a:lvl4pPr marL="1733497" indent="-247642" algn="l" defTabSz="990570" rtl="0" eaLnBrk="1" latinLnBrk="0" hangingPunct="1">
              <a:spcBef>
                <a:spcPct val="20000"/>
              </a:spcBef>
              <a:buFontTx/>
              <a:buBlip>
                <a:blip r:embed="rId6"/>
              </a:buBlip>
              <a:defRPr kumimoji="1" sz="1800" kern="1200" baseline="0">
                <a:solidFill>
                  <a:schemeClr val="tx1"/>
                </a:solidFill>
                <a:latin typeface="Segoe UI" panose="020B0502040204020203" pitchFamily="34" charset="0"/>
                <a:ea typeface="メイリオ" panose="020B0604030504040204" pitchFamily="50" charset="-128"/>
                <a:cs typeface="+mn-cs"/>
              </a:defRPr>
            </a:lvl4pPr>
            <a:lvl5pPr marL="2228781" indent="-247642" algn="l" defTabSz="990570" rtl="0" eaLnBrk="1" latinLnBrk="0" hangingPunct="1">
              <a:spcBef>
                <a:spcPct val="20000"/>
              </a:spcBef>
              <a:buFontTx/>
              <a:buBlip>
                <a:blip r:embed="rId3"/>
              </a:buBlip>
              <a:defRPr kumimoji="1" sz="1800" kern="1200" baseline="0">
                <a:solidFill>
                  <a:schemeClr val="tx1"/>
                </a:solidFill>
                <a:latin typeface="Segoe UI" panose="020B0502040204020203" pitchFamily="34" charset="0"/>
                <a:ea typeface="メイリオ" panose="020B0604030504040204" pitchFamily="50" charset="-128"/>
                <a:cs typeface="+mn-cs"/>
              </a:defRPr>
            </a:lvl5pPr>
            <a:lvl6pPr marL="272406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6pPr>
            <a:lvl7pPr marL="3219351"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7pPr>
            <a:lvl8pPr marL="3714636"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8pPr>
            <a:lvl9pPr marL="4209920" indent="-247642" algn="l" defTabSz="990570" rtl="0" eaLnBrk="1" latinLnBrk="0" hangingPunct="1">
              <a:spcBef>
                <a:spcPct val="20000"/>
              </a:spcBef>
              <a:buFont typeface="Arial" panose="020B0604020202020204" pitchFamily="34" charset="0"/>
              <a:buChar char="•"/>
              <a:defRPr kumimoji="1" sz="2167" kern="1200">
                <a:solidFill>
                  <a:schemeClr val="tx1"/>
                </a:solidFill>
                <a:latin typeface="+mn-lt"/>
                <a:ea typeface="+mn-ea"/>
                <a:cs typeface="+mn-cs"/>
              </a:defRPr>
            </a:lvl9pPr>
          </a:lstStyle>
          <a:p>
            <a:pPr>
              <a:buFont typeface="Arial" panose="020B0604020202020204" pitchFamily="34" charset="0"/>
              <a:buChar char="•"/>
            </a:pPr>
            <a:r>
              <a:rPr kumimoji="0" lang="ja-JP" altLang="ja-JP" sz="1600">
                <a:solidFill>
                  <a:srgbClr val="000000"/>
                </a:solidFill>
                <a:latin typeface="Arial" panose="020B0604020202020204" pitchFamily="34" charset="0"/>
              </a:rPr>
              <a:t>機械</a:t>
            </a:r>
            <a:r>
              <a:rPr kumimoji="0" lang="en-US" altLang="ja-JP" sz="1600" dirty="0">
                <a:solidFill>
                  <a:srgbClr val="000000"/>
                </a:solidFill>
                <a:latin typeface="Arial" panose="020B0604020202020204" pitchFamily="34" charset="0"/>
              </a:rPr>
              <a:t>/</a:t>
            </a:r>
            <a:r>
              <a:rPr kumimoji="0" lang="ja-JP" altLang="en-US" sz="1600">
                <a:solidFill>
                  <a:srgbClr val="000000"/>
                </a:solidFill>
                <a:latin typeface="Arial" panose="020B0604020202020204" pitchFamily="34" charset="0"/>
              </a:rPr>
              <a:t>深層</a:t>
            </a:r>
            <a:r>
              <a:rPr kumimoji="0" lang="ja-JP" altLang="ja-JP" sz="1600">
                <a:solidFill>
                  <a:srgbClr val="000000"/>
                </a:solidFill>
                <a:latin typeface="Arial" panose="020B0604020202020204" pitchFamily="34" charset="0"/>
              </a:rPr>
              <a:t>学習, LLMにより</a:t>
            </a:r>
            <a:r>
              <a:rPr kumimoji="0" lang="ja-JP" altLang="en-US" sz="1600">
                <a:solidFill>
                  <a:srgbClr val="000000"/>
                </a:solidFill>
                <a:latin typeface="Arial" panose="020B0604020202020204" pitchFamily="34" charset="0"/>
              </a:rPr>
              <a:t>「</a:t>
            </a:r>
            <a:r>
              <a:rPr kumimoji="0" lang="en-US" altLang="ja-JP" sz="1600" dirty="0">
                <a:solidFill>
                  <a:srgbClr val="000000"/>
                </a:solidFill>
                <a:latin typeface="Arial" panose="020B0604020202020204" pitchFamily="34" charset="0"/>
              </a:rPr>
              <a:t>A.</a:t>
            </a:r>
            <a:r>
              <a:rPr kumimoji="0" lang="ja-JP" altLang="ja-JP" sz="1600">
                <a:solidFill>
                  <a:srgbClr val="000000"/>
                </a:solidFill>
                <a:latin typeface="Arial" panose="020B0604020202020204" pitchFamily="34" charset="0"/>
              </a:rPr>
              <a:t>探索集約の高速化</a:t>
            </a:r>
            <a:r>
              <a:rPr kumimoji="0" lang="ja-JP" altLang="en-US" sz="1600">
                <a:solidFill>
                  <a:srgbClr val="000000"/>
                </a:solidFill>
                <a:latin typeface="Arial" panose="020B0604020202020204" pitchFamily="34" charset="0"/>
              </a:rPr>
              <a:t>」「</a:t>
            </a:r>
            <a:r>
              <a:rPr kumimoji="0" lang="en-US" altLang="ja-JP" sz="1600" dirty="0">
                <a:solidFill>
                  <a:srgbClr val="000000"/>
                </a:solidFill>
                <a:latin typeface="Arial" panose="020B0604020202020204" pitchFamily="34" charset="0"/>
              </a:rPr>
              <a:t>B.</a:t>
            </a:r>
            <a:r>
              <a:rPr kumimoji="0" lang="ja-JP" altLang="ja-JP" sz="1600">
                <a:solidFill>
                  <a:srgbClr val="000000"/>
                </a:solidFill>
                <a:latin typeface="Arial" panose="020B0604020202020204" pitchFamily="34" charset="0"/>
              </a:rPr>
              <a:t>関連ログから</a:t>
            </a:r>
            <a:r>
              <a:rPr kumimoji="0" lang="ja-JP" altLang="en-US" sz="1600">
                <a:solidFill>
                  <a:srgbClr val="000000"/>
                </a:solidFill>
                <a:latin typeface="Arial" panose="020B0604020202020204" pitchFamily="34" charset="0"/>
              </a:rPr>
              <a:t>攻撃</a:t>
            </a:r>
            <a:r>
              <a:rPr kumimoji="0" lang="ja-JP" altLang="ja-JP" sz="1600">
                <a:solidFill>
                  <a:srgbClr val="000000"/>
                </a:solidFill>
                <a:latin typeface="Arial" panose="020B0604020202020204" pitchFamily="34" charset="0"/>
              </a:rPr>
              <a:t>の再現</a:t>
            </a:r>
            <a:r>
              <a:rPr kumimoji="0" lang="ja-JP" altLang="en-US" sz="1600">
                <a:solidFill>
                  <a:srgbClr val="000000"/>
                </a:solidFill>
                <a:latin typeface="Arial" panose="020B0604020202020204" pitchFamily="34" charset="0"/>
              </a:rPr>
              <a:t>」が可能に</a:t>
            </a:r>
            <a:endParaRPr kumimoji="0" lang="en-US" altLang="ja-JP" sz="1600" dirty="0">
              <a:solidFill>
                <a:srgbClr val="000000"/>
              </a:solidFill>
              <a:latin typeface="Arial" panose="020B0604020202020204" pitchFamily="34" charset="0"/>
            </a:endParaRPr>
          </a:p>
          <a:p>
            <a:pPr lvl="1">
              <a:buFont typeface="Arial" panose="020B0604020202020204" pitchFamily="34" charset="0"/>
              <a:buChar char="•"/>
            </a:pPr>
            <a:r>
              <a:rPr kumimoji="0" lang="ja-JP" altLang="ja-JP" sz="1400">
                <a:solidFill>
                  <a:srgbClr val="000000"/>
                </a:solidFill>
                <a:latin typeface="Arial" panose="020B0604020202020204" pitchFamily="34" charset="0"/>
              </a:rPr>
              <a:t>ATLAS: A Sequence-based Learning Approach for Attack Investigation（USENIX Security 2021）</a:t>
            </a:r>
            <a:endParaRPr kumimoji="0" lang="en-US" altLang="ja-JP" sz="1400" dirty="0">
              <a:solidFill>
                <a:srgbClr val="000000"/>
              </a:solidFill>
              <a:latin typeface="Arial" panose="020B0604020202020204" pitchFamily="34" charset="0"/>
            </a:endParaRPr>
          </a:p>
          <a:p>
            <a:pPr lvl="1">
              <a:buFont typeface="Arial" panose="020B0604020202020204" pitchFamily="34" charset="0"/>
              <a:buChar char="•"/>
            </a:pPr>
            <a:r>
              <a:rPr kumimoji="0" lang="ja-JP" altLang="ja-JP" sz="1400">
                <a:solidFill>
                  <a:srgbClr val="000000"/>
                </a:solidFill>
                <a:latin typeface="Arial" panose="020B0604020202020204" pitchFamily="34" charset="0"/>
              </a:rPr>
              <a:t>AIRTAG: Towards Automated Attack Investigation by Unsupervised Learning with Log Texts（USENIX Security 2023）</a:t>
            </a:r>
            <a:endParaRPr kumimoji="0" lang="en-US" altLang="ja-JP" sz="1400" dirty="0">
              <a:solidFill>
                <a:srgbClr val="000000"/>
              </a:solidFill>
              <a:latin typeface="Arial" panose="020B0604020202020204" pitchFamily="34" charset="0"/>
            </a:endParaRPr>
          </a:p>
          <a:p>
            <a:pPr>
              <a:buFont typeface="Arial" panose="020B0604020202020204" pitchFamily="34" charset="0"/>
              <a:buChar char="•"/>
            </a:pPr>
            <a:r>
              <a:rPr kumimoji="0" lang="ja-JP" altLang="ja-JP" sz="1600">
                <a:solidFill>
                  <a:srgbClr val="000000"/>
                </a:solidFill>
                <a:latin typeface="Arial" panose="020B0604020202020204" pitchFamily="34" charset="0"/>
              </a:rPr>
              <a:t>マルチエージェントシステムにより</a:t>
            </a:r>
            <a:r>
              <a:rPr kumimoji="0" lang="ja-JP" altLang="en-US" sz="1600">
                <a:solidFill>
                  <a:srgbClr val="000000"/>
                </a:solidFill>
                <a:latin typeface="Arial" panose="020B0604020202020204" pitchFamily="34" charset="0"/>
              </a:rPr>
              <a:t>「</a:t>
            </a:r>
            <a:r>
              <a:rPr kumimoji="0" lang="en-US" altLang="ja-JP" sz="1600" dirty="0">
                <a:solidFill>
                  <a:srgbClr val="000000"/>
                </a:solidFill>
                <a:latin typeface="Arial" panose="020B0604020202020204" pitchFamily="34" charset="0"/>
              </a:rPr>
              <a:t>C.</a:t>
            </a:r>
            <a:r>
              <a:rPr lang="ja-JP" altLang="en-US" sz="1600">
                <a:cs typeface="Arial" panose="020B0604020202020204" pitchFamily="34" charset="0"/>
              </a:rPr>
              <a:t>関連ログの収集</a:t>
            </a:r>
            <a:r>
              <a:rPr lang="en-US" altLang="ja-JP" sz="1600" dirty="0">
                <a:cs typeface="Arial" panose="020B0604020202020204" pitchFamily="34" charset="0"/>
              </a:rPr>
              <a:t>+</a:t>
            </a:r>
            <a:r>
              <a:rPr lang="ja-JP" altLang="en-US" sz="1600">
                <a:cs typeface="Arial" panose="020B0604020202020204" pitchFamily="34" charset="0"/>
              </a:rPr>
              <a:t>攻撃の再現</a:t>
            </a:r>
            <a:r>
              <a:rPr kumimoji="0" lang="ja-JP" altLang="en-US" sz="1600">
                <a:solidFill>
                  <a:srgbClr val="000000"/>
                </a:solidFill>
                <a:latin typeface="Arial" panose="020B0604020202020204" pitchFamily="34" charset="0"/>
              </a:rPr>
              <a:t>」も実現されつつある</a:t>
            </a:r>
            <a:endParaRPr kumimoji="0" lang="en-US" altLang="ja-JP" sz="1600" dirty="0">
              <a:solidFill>
                <a:srgbClr val="000000"/>
              </a:solidFill>
              <a:latin typeface="Arial" panose="020B0604020202020204" pitchFamily="34" charset="0"/>
            </a:endParaRPr>
          </a:p>
          <a:p>
            <a:pPr lvl="1">
              <a:buFont typeface="Arial" panose="020B0604020202020204" pitchFamily="34" charset="0"/>
              <a:buChar char="•"/>
            </a:pPr>
            <a:r>
              <a:rPr kumimoji="0" lang="ja-JP" altLang="ja-JP" sz="1400">
                <a:solidFill>
                  <a:srgbClr val="000000"/>
                </a:solidFill>
                <a:latin typeface="Arial" panose="020B0604020202020204" pitchFamily="34" charset="0"/>
              </a:rPr>
              <a:t>CLOUSEAU: A Hierarchical Multi-Agent Approach for Autonomous Attack Investigation（ACSAC 2025）</a:t>
            </a:r>
            <a:endParaRPr kumimoji="0" lang="ja-JP" altLang="ja-JP" sz="1600">
              <a:latin typeface="Arial" panose="020B0604020202020204" pitchFamily="34" charset="0"/>
            </a:endParaRPr>
          </a:p>
          <a:p>
            <a:pPr lvl="1"/>
            <a:endParaRPr kumimoji="0" lang="ja-JP" altLang="ja-JP" sz="1600">
              <a:latin typeface="Arial" panose="020B0604020202020204" pitchFamily="34" charset="0"/>
            </a:endParaRPr>
          </a:p>
          <a:p>
            <a:endParaRPr kumimoji="0" lang="ja-JP" altLang="ja-JP" sz="1600">
              <a:latin typeface="Arial" panose="020B0604020202020204" pitchFamily="34" charset="0"/>
            </a:endParaRPr>
          </a:p>
        </p:txBody>
      </p:sp>
      <p:sp>
        <p:nvSpPr>
          <p:cNvPr id="6" name="テキスト ボックス 5">
            <a:extLst>
              <a:ext uri="{FF2B5EF4-FFF2-40B4-BE49-F238E27FC236}">
                <a16:creationId xmlns:a16="http://schemas.microsoft.com/office/drawing/2014/main" id="{8CB522FD-7063-193D-5FAA-8F2BA8DAFCCB}"/>
              </a:ext>
            </a:extLst>
          </p:cNvPr>
          <p:cNvSpPr txBox="1"/>
          <p:nvPr/>
        </p:nvSpPr>
        <p:spPr>
          <a:xfrm>
            <a:off x="345609" y="4986777"/>
            <a:ext cx="8581195" cy="646331"/>
          </a:xfrm>
          <a:prstGeom prst="rect">
            <a:avLst/>
          </a:prstGeom>
          <a:noFill/>
        </p:spPr>
        <p:txBody>
          <a:bodyPr wrap="none" rtlCol="0">
            <a:spAutoFit/>
          </a:bodyPr>
          <a:lstStyle/>
          <a:p>
            <a:pPr algn="l"/>
            <a:r>
              <a:rPr kumimoji="1" lang="ja-JP" altLang="en-US">
                <a:cs typeface="Arial" panose="020B0604020202020204" pitchFamily="34" charset="0"/>
              </a:rPr>
              <a:t>仮説の策定</a:t>
            </a:r>
            <a:r>
              <a:rPr kumimoji="1" lang="en-US" altLang="ja-JP" dirty="0">
                <a:cs typeface="Arial" panose="020B0604020202020204" pitchFamily="34" charset="0"/>
              </a:rPr>
              <a:t>/</a:t>
            </a:r>
            <a:r>
              <a:rPr kumimoji="1" lang="ja-JP" altLang="en-US">
                <a:cs typeface="Arial" panose="020B0604020202020204" pitchFamily="34" charset="0"/>
              </a:rPr>
              <a:t>更新　→　スコープ決定　→　検索収集　→</a:t>
            </a:r>
            <a:r>
              <a:rPr kumimoji="1" lang="en-US" altLang="ja-JP" dirty="0">
                <a:cs typeface="Arial" panose="020B0604020202020204" pitchFamily="34" charset="0"/>
              </a:rPr>
              <a:t> </a:t>
            </a:r>
            <a:r>
              <a:rPr kumimoji="1" lang="ja-JP" altLang="en-US">
                <a:cs typeface="Arial" panose="020B0604020202020204" pitchFamily="34" charset="0"/>
              </a:rPr>
              <a:t>絞り込み　→</a:t>
            </a:r>
            <a:r>
              <a:rPr kumimoji="1" lang="en-US" altLang="ja-JP" dirty="0">
                <a:cs typeface="Arial" panose="020B0604020202020204" pitchFamily="34" charset="0"/>
              </a:rPr>
              <a:t> </a:t>
            </a:r>
            <a:r>
              <a:rPr kumimoji="1" lang="ja-JP" altLang="en-US">
                <a:cs typeface="Arial" panose="020B0604020202020204" pitchFamily="34" charset="0"/>
              </a:rPr>
              <a:t>行動の復元</a:t>
            </a:r>
            <a:endParaRPr kumimoji="1" lang="en-US" altLang="ja-JP" dirty="0">
              <a:cs typeface="Arial" panose="020B0604020202020204" pitchFamily="34" charset="0"/>
            </a:endParaRPr>
          </a:p>
          <a:p>
            <a:pPr algn="l"/>
            <a:r>
              <a:rPr kumimoji="1" lang="ja-JP" altLang="en-US">
                <a:cs typeface="Arial" panose="020B0604020202020204" pitchFamily="34" charset="0"/>
              </a:rPr>
              <a:t>　　　　　　　</a:t>
            </a:r>
            <a:r>
              <a:rPr kumimoji="1" lang="en-US" altLang="ja-JP" dirty="0">
                <a:cs typeface="Arial" panose="020B0604020202020204" pitchFamily="34" charset="0"/>
              </a:rPr>
              <a:t>       </a:t>
            </a:r>
            <a:endParaRPr kumimoji="1" lang="ja-JP" altLang="en-US" dirty="0">
              <a:cs typeface="Arial" panose="020B0604020202020204" pitchFamily="34" charset="0"/>
            </a:endParaRPr>
          </a:p>
        </p:txBody>
      </p:sp>
      <p:sp>
        <p:nvSpPr>
          <p:cNvPr id="7" name="下カーブ矢印 6">
            <a:extLst>
              <a:ext uri="{FF2B5EF4-FFF2-40B4-BE49-F238E27FC236}">
                <a16:creationId xmlns:a16="http://schemas.microsoft.com/office/drawing/2014/main" id="{B702F475-2AA2-4543-F9EC-5BCEEDB6E6EA}"/>
              </a:ext>
            </a:extLst>
          </p:cNvPr>
          <p:cNvSpPr/>
          <p:nvPr/>
        </p:nvSpPr>
        <p:spPr>
          <a:xfrm flipH="1" flipV="1">
            <a:off x="1178522" y="5621476"/>
            <a:ext cx="5444361" cy="448664"/>
          </a:xfrm>
          <a:prstGeom prst="curved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8" name="テキスト ボックス 7">
            <a:extLst>
              <a:ext uri="{FF2B5EF4-FFF2-40B4-BE49-F238E27FC236}">
                <a16:creationId xmlns:a16="http://schemas.microsoft.com/office/drawing/2014/main" id="{D0BA0832-EF75-522C-A58C-A1B9FD851FEA}"/>
              </a:ext>
            </a:extLst>
          </p:cNvPr>
          <p:cNvSpPr txBox="1"/>
          <p:nvPr/>
        </p:nvSpPr>
        <p:spPr>
          <a:xfrm>
            <a:off x="72164" y="5256445"/>
            <a:ext cx="2585964"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何が起きた可能性があるかの検討</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9" name="テキスト ボックス 8">
            <a:extLst>
              <a:ext uri="{FF2B5EF4-FFF2-40B4-BE49-F238E27FC236}">
                <a16:creationId xmlns:a16="http://schemas.microsoft.com/office/drawing/2014/main" id="{E6899B38-CADD-27F3-9110-73B06728B1E9}"/>
              </a:ext>
            </a:extLst>
          </p:cNvPr>
          <p:cNvSpPr txBox="1"/>
          <p:nvPr/>
        </p:nvSpPr>
        <p:spPr>
          <a:xfrm>
            <a:off x="2533366" y="5241366"/>
            <a:ext cx="2105063"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時間帯</a:t>
            </a:r>
            <a:r>
              <a:rPr kumimoji="1" lang="en-US" altLang="ja-JP" sz="1200" dirty="0">
                <a:cs typeface="Arial" panose="020B0604020202020204" pitchFamily="34" charset="0"/>
              </a:rPr>
              <a:t>,</a:t>
            </a:r>
            <a:r>
              <a:rPr kumimoji="1" lang="ja-JP" altLang="en-US" sz="1200">
                <a:cs typeface="Arial" panose="020B0604020202020204" pitchFamily="34" charset="0"/>
              </a:rPr>
              <a:t>ユーザー</a:t>
            </a:r>
            <a:r>
              <a:rPr kumimoji="1" lang="en-US" altLang="ja-JP" sz="1200" dirty="0">
                <a:cs typeface="Arial" panose="020B0604020202020204" pitchFamily="34" charset="0"/>
              </a:rPr>
              <a:t>,</a:t>
            </a:r>
            <a:r>
              <a:rPr kumimoji="1" lang="ja-JP" altLang="en-US" sz="1200">
                <a:cs typeface="Arial" panose="020B0604020202020204" pitchFamily="34" charset="0"/>
              </a:rPr>
              <a:t>プロセス</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10" name="テキスト ボックス 9">
            <a:extLst>
              <a:ext uri="{FF2B5EF4-FFF2-40B4-BE49-F238E27FC236}">
                <a16:creationId xmlns:a16="http://schemas.microsoft.com/office/drawing/2014/main" id="{BE938E80-2AE9-7651-0953-0EDCCA2D47E1}"/>
              </a:ext>
            </a:extLst>
          </p:cNvPr>
          <p:cNvSpPr txBox="1"/>
          <p:nvPr/>
        </p:nvSpPr>
        <p:spPr>
          <a:xfrm>
            <a:off x="4579482" y="5255085"/>
            <a:ext cx="1487908"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クエリ作成→検索</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11" name="テキスト ボックス 10">
            <a:extLst>
              <a:ext uri="{FF2B5EF4-FFF2-40B4-BE49-F238E27FC236}">
                <a16:creationId xmlns:a16="http://schemas.microsoft.com/office/drawing/2014/main" id="{AAC8EEF7-1E8E-CBE0-0D9C-C6F5905D2E0C}"/>
              </a:ext>
            </a:extLst>
          </p:cNvPr>
          <p:cNvSpPr txBox="1"/>
          <p:nvPr/>
        </p:nvSpPr>
        <p:spPr>
          <a:xfrm>
            <a:off x="27474" y="3369706"/>
            <a:ext cx="4339650" cy="369332"/>
          </a:xfrm>
          <a:prstGeom prst="rect">
            <a:avLst/>
          </a:prstGeom>
          <a:noFill/>
        </p:spPr>
        <p:txBody>
          <a:bodyPr wrap="none" rtlCol="0">
            <a:spAutoFit/>
          </a:bodyPr>
          <a:lstStyle/>
          <a:p>
            <a:pPr algn="l"/>
            <a:r>
              <a:rPr kumimoji="1" lang="ja-JP" altLang="en-US">
                <a:cs typeface="Arial" panose="020B0604020202020204" pitchFamily="34" charset="0"/>
              </a:rPr>
              <a:t>図：インシデント分析自動化研究の整理</a:t>
            </a:r>
            <a:endParaRPr kumimoji="1" lang="ja-JP" altLang="en-US" dirty="0">
              <a:cs typeface="Arial" panose="020B0604020202020204" pitchFamily="34" charset="0"/>
            </a:endParaRPr>
          </a:p>
        </p:txBody>
      </p:sp>
      <p:sp>
        <p:nvSpPr>
          <p:cNvPr id="12" name="テキスト ボックス 11">
            <a:extLst>
              <a:ext uri="{FF2B5EF4-FFF2-40B4-BE49-F238E27FC236}">
                <a16:creationId xmlns:a16="http://schemas.microsoft.com/office/drawing/2014/main" id="{B6A600A5-8FB4-8FB0-6466-3E149F6D5593}"/>
              </a:ext>
            </a:extLst>
          </p:cNvPr>
          <p:cNvSpPr txBox="1"/>
          <p:nvPr/>
        </p:nvSpPr>
        <p:spPr>
          <a:xfrm>
            <a:off x="6003632" y="5268119"/>
            <a:ext cx="1508746" cy="276999"/>
          </a:xfrm>
          <a:prstGeom prst="rect">
            <a:avLst/>
          </a:prstGeom>
          <a:noFill/>
        </p:spPr>
        <p:txBody>
          <a:bodyPr wrap="none" rtlCol="0">
            <a:spAutoFit/>
          </a:bodyPr>
          <a:lstStyle/>
          <a:p>
            <a:pPr algn="l"/>
            <a:r>
              <a:rPr kumimoji="1" lang="en-US" altLang="ja-JP" sz="1200" dirty="0">
                <a:cs typeface="Arial" panose="020B0604020202020204" pitchFamily="34" charset="0"/>
              </a:rPr>
              <a:t>(</a:t>
            </a:r>
            <a:r>
              <a:rPr kumimoji="1" lang="ja-JP" altLang="en-US" sz="1200">
                <a:cs typeface="Arial" panose="020B0604020202020204" pitchFamily="34" charset="0"/>
              </a:rPr>
              <a:t>関連ログのみ残す</a:t>
            </a:r>
            <a:r>
              <a:rPr kumimoji="1" lang="en-US" altLang="ja-JP" sz="1200" dirty="0">
                <a:cs typeface="Arial" panose="020B0604020202020204" pitchFamily="34" charset="0"/>
              </a:rPr>
              <a:t>)</a:t>
            </a:r>
            <a:endParaRPr kumimoji="1" lang="ja-JP" altLang="en-US" sz="1200" dirty="0">
              <a:cs typeface="Arial" panose="020B0604020202020204" pitchFamily="34" charset="0"/>
            </a:endParaRPr>
          </a:p>
        </p:txBody>
      </p:sp>
      <p:sp>
        <p:nvSpPr>
          <p:cNvPr id="13" name="左右矢印 12">
            <a:extLst>
              <a:ext uri="{FF2B5EF4-FFF2-40B4-BE49-F238E27FC236}">
                <a16:creationId xmlns:a16="http://schemas.microsoft.com/office/drawing/2014/main" id="{E52E39E0-78FA-0FE3-9855-39EAAFE14214}"/>
              </a:ext>
            </a:extLst>
          </p:cNvPr>
          <p:cNvSpPr/>
          <p:nvPr/>
        </p:nvSpPr>
        <p:spPr>
          <a:xfrm>
            <a:off x="6003632" y="4823481"/>
            <a:ext cx="2867801" cy="102149"/>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左右矢印 13">
            <a:extLst>
              <a:ext uri="{FF2B5EF4-FFF2-40B4-BE49-F238E27FC236}">
                <a16:creationId xmlns:a16="http://schemas.microsoft.com/office/drawing/2014/main" id="{2546E4EA-9977-3DD7-2A51-667598655F5F}"/>
              </a:ext>
            </a:extLst>
          </p:cNvPr>
          <p:cNvSpPr/>
          <p:nvPr/>
        </p:nvSpPr>
        <p:spPr>
          <a:xfrm>
            <a:off x="4645639" y="4432589"/>
            <a:ext cx="2535933" cy="98674"/>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左右矢印 14">
            <a:extLst>
              <a:ext uri="{FF2B5EF4-FFF2-40B4-BE49-F238E27FC236}">
                <a16:creationId xmlns:a16="http://schemas.microsoft.com/office/drawing/2014/main" id="{D20A6DF6-82C1-7CF9-9010-EBF3BA1DE49F}"/>
              </a:ext>
            </a:extLst>
          </p:cNvPr>
          <p:cNvSpPr/>
          <p:nvPr/>
        </p:nvSpPr>
        <p:spPr>
          <a:xfrm>
            <a:off x="345609" y="4072748"/>
            <a:ext cx="8600061" cy="121594"/>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3BCC2F9B-340E-6400-54DA-B2EBE59D20CD}"/>
              </a:ext>
            </a:extLst>
          </p:cNvPr>
          <p:cNvSpPr txBox="1"/>
          <p:nvPr/>
        </p:nvSpPr>
        <p:spPr>
          <a:xfrm>
            <a:off x="1861865" y="3793380"/>
            <a:ext cx="3039615" cy="338554"/>
          </a:xfrm>
          <a:prstGeom prst="rect">
            <a:avLst/>
          </a:prstGeom>
          <a:noFill/>
        </p:spPr>
        <p:txBody>
          <a:bodyPr wrap="none" rtlCol="0">
            <a:spAutoFit/>
          </a:bodyPr>
          <a:lstStyle/>
          <a:p>
            <a:pPr algn="l"/>
            <a:r>
              <a:rPr kumimoji="1" lang="en-US" altLang="ja-JP" sz="1600" dirty="0">
                <a:cs typeface="Arial" panose="020B0604020202020204" pitchFamily="34" charset="0"/>
              </a:rPr>
              <a:t>C(</a:t>
            </a:r>
            <a:r>
              <a:rPr kumimoji="1" lang="ja-JP" altLang="en-US" sz="1600">
                <a:cs typeface="Arial" panose="020B0604020202020204" pitchFamily="34" charset="0"/>
              </a:rPr>
              <a:t>関連ログの収集</a:t>
            </a:r>
            <a:r>
              <a:rPr kumimoji="1" lang="en-US" altLang="ja-JP" sz="1600" dirty="0">
                <a:cs typeface="Arial" panose="020B0604020202020204" pitchFamily="34" charset="0"/>
              </a:rPr>
              <a:t>+</a:t>
            </a:r>
            <a:r>
              <a:rPr kumimoji="1" lang="ja-JP" altLang="en-US" sz="1600">
                <a:cs typeface="Arial" panose="020B0604020202020204" pitchFamily="34" charset="0"/>
              </a:rPr>
              <a:t>攻撃の再現</a:t>
            </a:r>
            <a:r>
              <a:rPr kumimoji="1" lang="en-US" altLang="ja-JP" sz="1600" dirty="0">
                <a:cs typeface="Arial" panose="020B0604020202020204" pitchFamily="34" charset="0"/>
              </a:rPr>
              <a:t>)</a:t>
            </a:r>
            <a:endParaRPr kumimoji="1" lang="ja-JP" altLang="en-US" sz="1600" dirty="0">
              <a:cs typeface="Arial" panose="020B0604020202020204" pitchFamily="34" charset="0"/>
            </a:endParaRPr>
          </a:p>
        </p:txBody>
      </p:sp>
      <p:sp>
        <p:nvSpPr>
          <p:cNvPr id="17" name="テキスト ボックス 16">
            <a:extLst>
              <a:ext uri="{FF2B5EF4-FFF2-40B4-BE49-F238E27FC236}">
                <a16:creationId xmlns:a16="http://schemas.microsoft.com/office/drawing/2014/main" id="{8313E39E-5DBC-A30A-D753-08C6392B8FFC}"/>
              </a:ext>
            </a:extLst>
          </p:cNvPr>
          <p:cNvSpPr txBox="1"/>
          <p:nvPr/>
        </p:nvSpPr>
        <p:spPr>
          <a:xfrm>
            <a:off x="4780664" y="4184381"/>
            <a:ext cx="2084225" cy="338554"/>
          </a:xfrm>
          <a:prstGeom prst="rect">
            <a:avLst/>
          </a:prstGeom>
          <a:noFill/>
        </p:spPr>
        <p:txBody>
          <a:bodyPr wrap="none" rtlCol="0">
            <a:spAutoFit/>
          </a:bodyPr>
          <a:lstStyle/>
          <a:p>
            <a:pPr algn="l"/>
            <a:r>
              <a:rPr kumimoji="1" lang="en-US" altLang="ja-JP" sz="1600" dirty="0">
                <a:cs typeface="Arial" panose="020B0604020202020204" pitchFamily="34" charset="0"/>
              </a:rPr>
              <a:t>A(</a:t>
            </a:r>
            <a:r>
              <a:rPr kumimoji="1" lang="ja-JP" altLang="en-US" sz="1600">
                <a:cs typeface="Arial" panose="020B0604020202020204" pitchFamily="34" charset="0"/>
              </a:rPr>
              <a:t>探索集約の高速化</a:t>
            </a:r>
            <a:r>
              <a:rPr kumimoji="1" lang="en-US" altLang="ja-JP" sz="1600" dirty="0">
                <a:cs typeface="Arial" panose="020B0604020202020204" pitchFamily="34" charset="0"/>
              </a:rPr>
              <a:t>)</a:t>
            </a:r>
            <a:endParaRPr kumimoji="1" lang="ja-JP" altLang="en-US" sz="1600" dirty="0">
              <a:cs typeface="Arial" panose="020B0604020202020204" pitchFamily="34" charset="0"/>
            </a:endParaRPr>
          </a:p>
        </p:txBody>
      </p:sp>
      <p:sp>
        <p:nvSpPr>
          <p:cNvPr id="18" name="テキスト ボックス 17">
            <a:extLst>
              <a:ext uri="{FF2B5EF4-FFF2-40B4-BE49-F238E27FC236}">
                <a16:creationId xmlns:a16="http://schemas.microsoft.com/office/drawing/2014/main" id="{54432D05-5F95-95B9-D660-6FD583158325}"/>
              </a:ext>
            </a:extLst>
          </p:cNvPr>
          <p:cNvSpPr txBox="1"/>
          <p:nvPr/>
        </p:nvSpPr>
        <p:spPr>
          <a:xfrm>
            <a:off x="6111652" y="4569641"/>
            <a:ext cx="2273379" cy="338554"/>
          </a:xfrm>
          <a:prstGeom prst="rect">
            <a:avLst/>
          </a:prstGeom>
          <a:noFill/>
        </p:spPr>
        <p:txBody>
          <a:bodyPr wrap="none" rtlCol="0">
            <a:spAutoFit/>
          </a:bodyPr>
          <a:lstStyle/>
          <a:p>
            <a:pPr algn="l"/>
            <a:r>
              <a:rPr kumimoji="1" lang="en-US" altLang="ja-JP" sz="1600" dirty="0">
                <a:cs typeface="Arial" panose="020B0604020202020204" pitchFamily="34" charset="0"/>
              </a:rPr>
              <a:t>B(</a:t>
            </a:r>
            <a:r>
              <a:rPr kumimoji="1" lang="ja-JP" altLang="en-US" sz="1600">
                <a:cs typeface="Arial" panose="020B0604020202020204" pitchFamily="34" charset="0"/>
              </a:rPr>
              <a:t>関連ログからの再現</a:t>
            </a:r>
            <a:r>
              <a:rPr kumimoji="1" lang="en-US" altLang="ja-JP" sz="1600" dirty="0">
                <a:cs typeface="Arial" panose="020B0604020202020204" pitchFamily="34" charset="0"/>
              </a:rPr>
              <a:t>)</a:t>
            </a:r>
            <a:endParaRPr kumimoji="1" lang="ja-JP" altLang="en-US" sz="1600" dirty="0">
              <a:cs typeface="Arial" panose="020B0604020202020204" pitchFamily="34" charset="0"/>
            </a:endParaRPr>
          </a:p>
        </p:txBody>
      </p:sp>
      <p:sp>
        <p:nvSpPr>
          <p:cNvPr id="19" name="テキスト ボックス 18">
            <a:extLst>
              <a:ext uri="{FF2B5EF4-FFF2-40B4-BE49-F238E27FC236}">
                <a16:creationId xmlns:a16="http://schemas.microsoft.com/office/drawing/2014/main" id="{188437CB-5622-08E9-9648-147D0216154F}"/>
              </a:ext>
            </a:extLst>
          </p:cNvPr>
          <p:cNvSpPr txBox="1"/>
          <p:nvPr/>
        </p:nvSpPr>
        <p:spPr>
          <a:xfrm>
            <a:off x="377145" y="4426197"/>
            <a:ext cx="2081019" cy="646331"/>
          </a:xfrm>
          <a:prstGeom prst="rect">
            <a:avLst/>
          </a:prstGeom>
          <a:noFill/>
        </p:spPr>
        <p:txBody>
          <a:bodyPr wrap="none" rtlCol="0">
            <a:spAutoFit/>
          </a:bodyPr>
          <a:lstStyle/>
          <a:p>
            <a:pPr algn="l"/>
            <a:r>
              <a:rPr kumimoji="1" lang="ja-JP" altLang="en-US">
                <a:cs typeface="Arial" panose="020B0604020202020204" pitchFamily="34" charset="0"/>
              </a:rPr>
              <a:t>入力</a:t>
            </a:r>
            <a:r>
              <a:rPr kumimoji="1" lang="en-US" altLang="ja-JP" dirty="0">
                <a:cs typeface="Arial" panose="020B0604020202020204" pitchFamily="34" charset="0"/>
              </a:rPr>
              <a:t>:</a:t>
            </a:r>
            <a:r>
              <a:rPr kumimoji="1" lang="ja-JP" altLang="en-US">
                <a:cs typeface="Arial" panose="020B0604020202020204" pitchFamily="34" charset="0"/>
              </a:rPr>
              <a:t>異常アラート</a:t>
            </a:r>
            <a:endParaRPr kumimoji="1" lang="en-US" altLang="ja-JP" dirty="0">
              <a:cs typeface="Arial" panose="020B0604020202020204" pitchFamily="34" charset="0"/>
            </a:endParaRPr>
          </a:p>
          <a:p>
            <a:pPr algn="l"/>
            <a:r>
              <a:rPr kumimoji="1" lang="ja-JP" altLang="en-US">
                <a:cs typeface="Arial" panose="020B0604020202020204" pitchFamily="34" charset="0"/>
              </a:rPr>
              <a:t>　　　↓</a:t>
            </a:r>
            <a:endParaRPr kumimoji="1" lang="ja-JP" altLang="en-US" dirty="0">
              <a:cs typeface="Arial" panose="020B0604020202020204" pitchFamily="34" charset="0"/>
            </a:endParaRPr>
          </a:p>
        </p:txBody>
      </p:sp>
      <p:sp>
        <p:nvSpPr>
          <p:cNvPr id="22" name="テキスト ボックス 21">
            <a:extLst>
              <a:ext uri="{FF2B5EF4-FFF2-40B4-BE49-F238E27FC236}">
                <a16:creationId xmlns:a16="http://schemas.microsoft.com/office/drawing/2014/main" id="{469E8161-626A-A8F9-32F9-A8BACED1CB4A}"/>
              </a:ext>
            </a:extLst>
          </p:cNvPr>
          <p:cNvSpPr txBox="1"/>
          <p:nvPr/>
        </p:nvSpPr>
        <p:spPr>
          <a:xfrm>
            <a:off x="7216661" y="6169648"/>
            <a:ext cx="800219" cy="338554"/>
          </a:xfrm>
          <a:prstGeom prst="rect">
            <a:avLst/>
          </a:prstGeom>
          <a:noFill/>
        </p:spPr>
        <p:txBody>
          <a:bodyPr wrap="none" rtlCol="0">
            <a:spAutoFit/>
          </a:bodyPr>
          <a:lstStyle/>
          <a:p>
            <a:pPr algn="l"/>
            <a:r>
              <a:rPr kumimoji="1" lang="ja-JP" altLang="en-US" sz="1600" b="1">
                <a:solidFill>
                  <a:srgbClr val="FF0000"/>
                </a:solidFill>
                <a:cs typeface="Arial" panose="020B0604020202020204" pitchFamily="34" charset="0"/>
              </a:rPr>
              <a:t>未整理</a:t>
            </a:r>
            <a:endParaRPr kumimoji="1" lang="ja-JP" altLang="en-US" sz="1600" b="1" dirty="0">
              <a:solidFill>
                <a:srgbClr val="FF0000"/>
              </a:solidFill>
              <a:cs typeface="Arial" panose="020B0604020202020204" pitchFamily="34" charset="0"/>
            </a:endParaRPr>
          </a:p>
        </p:txBody>
      </p:sp>
      <p:sp>
        <p:nvSpPr>
          <p:cNvPr id="23" name="テキスト ボックス 22">
            <a:extLst>
              <a:ext uri="{FF2B5EF4-FFF2-40B4-BE49-F238E27FC236}">
                <a16:creationId xmlns:a16="http://schemas.microsoft.com/office/drawing/2014/main" id="{5BBD5980-4AC4-8A19-61B3-010C1EF64C4A}"/>
              </a:ext>
            </a:extLst>
          </p:cNvPr>
          <p:cNvSpPr txBox="1"/>
          <p:nvPr/>
        </p:nvSpPr>
        <p:spPr>
          <a:xfrm>
            <a:off x="-424509" y="2535708"/>
            <a:ext cx="9434040" cy="584775"/>
          </a:xfrm>
          <a:prstGeom prst="rect">
            <a:avLst/>
          </a:prstGeom>
          <a:noFill/>
        </p:spPr>
        <p:txBody>
          <a:bodyPr wrap="square" rtlCol="0">
            <a:spAutoFit/>
          </a:bodyPr>
          <a:lstStyle/>
          <a:p>
            <a:pPr marL="495285" lvl="1" indent="0">
              <a:buNone/>
            </a:pPr>
            <a:r>
              <a:rPr lang="ja-JP" altLang="en-US" sz="1600" b="1">
                <a:solidFill>
                  <a:srgbClr val="000000"/>
                </a:solidFill>
                <a:latin typeface="Arial" panose="020B0604020202020204" pitchFamily="34" charset="0"/>
              </a:rPr>
              <a:t>→攻撃を前提としたインシデント分析は実現されつつあるが、実務では偽陽性の解析が大半。</a:t>
            </a:r>
            <a:endParaRPr lang="en-US" altLang="ja-JP" sz="1600" b="1" dirty="0">
              <a:solidFill>
                <a:srgbClr val="000000"/>
              </a:solidFill>
              <a:latin typeface="Arial" panose="020B0604020202020204" pitchFamily="34" charset="0"/>
            </a:endParaRPr>
          </a:p>
          <a:p>
            <a:pPr marL="495285" lvl="1" indent="0">
              <a:buNone/>
            </a:pPr>
            <a:r>
              <a:rPr lang="ja-JP" altLang="en-US" sz="1600" b="1">
                <a:solidFill>
                  <a:srgbClr val="000000"/>
                </a:solidFill>
                <a:latin typeface="Arial" panose="020B0604020202020204" pitchFamily="34" charset="0"/>
              </a:rPr>
              <a:t>正常のログも含めた「関連ログの収集」「行動の復元」「正常の判断」は未整理</a:t>
            </a:r>
            <a:endParaRPr lang="ja-JP" altLang="ja-JP" sz="1200" b="1">
              <a:solidFill>
                <a:srgbClr val="000000"/>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BD89A3CB-6BC6-BCDC-DECC-B8856ABCF945}"/>
              </a:ext>
            </a:extLst>
          </p:cNvPr>
          <p:cNvSpPr txBox="1"/>
          <p:nvPr/>
        </p:nvSpPr>
        <p:spPr>
          <a:xfrm>
            <a:off x="7496961" y="5405851"/>
            <a:ext cx="1210588" cy="1323439"/>
          </a:xfrm>
          <a:prstGeom prst="rect">
            <a:avLst/>
          </a:prstGeom>
          <a:noFill/>
        </p:spPr>
        <p:txBody>
          <a:bodyPr wrap="none" rtlCol="0">
            <a:spAutoFit/>
          </a:bodyPr>
          <a:lstStyle/>
          <a:p>
            <a:pPr algn="l"/>
            <a:r>
              <a:rPr kumimoji="1" lang="ja-JP" altLang="en-US" sz="1600">
                <a:cs typeface="Arial" panose="020B0604020202020204" pitchFamily="34" charset="0"/>
              </a:rPr>
              <a:t>　　</a:t>
            </a:r>
            <a:r>
              <a:rPr kumimoji="1" lang="en-US" altLang="ja-JP" sz="1600" dirty="0">
                <a:cs typeface="Arial" panose="020B0604020202020204" pitchFamily="34" charset="0"/>
              </a:rPr>
              <a:t> </a:t>
            </a:r>
          </a:p>
          <a:p>
            <a:pPr algn="l"/>
            <a:r>
              <a:rPr kumimoji="1" lang="ja-JP" altLang="en-US" sz="1600" b="1">
                <a:cs typeface="Arial" panose="020B0604020202020204" pitchFamily="34" charset="0"/>
              </a:rPr>
              <a:t>攻撃の判断</a:t>
            </a:r>
            <a:endParaRPr kumimoji="1" lang="en-US" altLang="ja-JP" sz="1600" b="1" dirty="0">
              <a:cs typeface="Arial" panose="020B0604020202020204" pitchFamily="34" charset="0"/>
            </a:endParaRPr>
          </a:p>
          <a:p>
            <a:pPr algn="l"/>
            <a:r>
              <a:rPr kumimoji="1" lang="en-US" altLang="ja-JP" sz="1600" b="1" dirty="0">
                <a:cs typeface="Arial" panose="020B0604020202020204" pitchFamily="34" charset="0"/>
              </a:rPr>
              <a:t>       or</a:t>
            </a:r>
          </a:p>
          <a:p>
            <a:pPr algn="l"/>
            <a:endParaRPr kumimoji="1" lang="en-US" altLang="ja-JP" sz="1600" b="1" dirty="0">
              <a:cs typeface="Arial" panose="020B0604020202020204" pitchFamily="34" charset="0"/>
            </a:endParaRPr>
          </a:p>
          <a:p>
            <a:pPr algn="l"/>
            <a:r>
              <a:rPr kumimoji="1" lang="ja-JP" altLang="en-US" sz="1600" b="1">
                <a:cs typeface="Arial" panose="020B0604020202020204" pitchFamily="34" charset="0"/>
              </a:rPr>
              <a:t>正常の判断</a:t>
            </a:r>
            <a:endParaRPr kumimoji="1" lang="ja-JP" altLang="en-US" sz="1600" b="1" dirty="0">
              <a:cs typeface="Arial" panose="020B0604020202020204" pitchFamily="34" charset="0"/>
            </a:endParaRPr>
          </a:p>
        </p:txBody>
      </p:sp>
      <p:sp>
        <p:nvSpPr>
          <p:cNvPr id="24" name="テキスト ボックス 23">
            <a:extLst>
              <a:ext uri="{FF2B5EF4-FFF2-40B4-BE49-F238E27FC236}">
                <a16:creationId xmlns:a16="http://schemas.microsoft.com/office/drawing/2014/main" id="{7E6F0C7A-54E4-9AC1-5961-CD5096061FF5}"/>
              </a:ext>
            </a:extLst>
          </p:cNvPr>
          <p:cNvSpPr txBox="1"/>
          <p:nvPr/>
        </p:nvSpPr>
        <p:spPr>
          <a:xfrm>
            <a:off x="3024043" y="5793141"/>
            <a:ext cx="1877437" cy="276999"/>
          </a:xfrm>
          <a:prstGeom prst="rect">
            <a:avLst/>
          </a:prstGeom>
          <a:noFill/>
        </p:spPr>
        <p:txBody>
          <a:bodyPr wrap="none" rtlCol="0">
            <a:spAutoFit/>
          </a:bodyPr>
          <a:lstStyle/>
          <a:p>
            <a:pPr algn="l"/>
            <a:r>
              <a:rPr kumimoji="1" lang="ja-JP" altLang="en-US" sz="1200" b="1">
                <a:cs typeface="Arial" panose="020B0604020202020204" pitchFamily="34" charset="0"/>
              </a:rPr>
              <a:t>情報が揃うまで繰り返す</a:t>
            </a:r>
            <a:endParaRPr kumimoji="1" lang="ja-JP" altLang="en-US" sz="1200" b="1" dirty="0">
              <a:cs typeface="Arial" panose="020B0604020202020204" pitchFamily="34" charset="0"/>
            </a:endParaRPr>
          </a:p>
        </p:txBody>
      </p:sp>
      <p:sp>
        <p:nvSpPr>
          <p:cNvPr id="25" name="正方形/長方形 24">
            <a:extLst>
              <a:ext uri="{FF2B5EF4-FFF2-40B4-BE49-F238E27FC236}">
                <a16:creationId xmlns:a16="http://schemas.microsoft.com/office/drawing/2014/main" id="{FDD13FE4-84A6-8AA1-7F3E-6C9ACB77C781}"/>
              </a:ext>
            </a:extLst>
          </p:cNvPr>
          <p:cNvSpPr/>
          <p:nvPr/>
        </p:nvSpPr>
        <p:spPr>
          <a:xfrm>
            <a:off x="7004304" y="5600554"/>
            <a:ext cx="2139696" cy="12436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A83EB021-1C78-7B99-F31A-5A5DE7DEBD90}"/>
              </a:ext>
            </a:extLst>
          </p:cNvPr>
          <p:cNvSpPr txBox="1"/>
          <p:nvPr/>
        </p:nvSpPr>
        <p:spPr>
          <a:xfrm>
            <a:off x="7921036" y="5257360"/>
            <a:ext cx="293670" cy="369332"/>
          </a:xfrm>
          <a:prstGeom prst="rect">
            <a:avLst/>
          </a:prstGeom>
          <a:noFill/>
        </p:spPr>
        <p:txBody>
          <a:bodyPr wrap="none" rtlCol="0">
            <a:spAutoFit/>
          </a:bodyPr>
          <a:lstStyle/>
          <a:p>
            <a:pPr algn="l"/>
            <a:r>
              <a:rPr kumimoji="1" lang="ja-JP" altLang="en-US">
                <a:cs typeface="Arial" panose="020B0604020202020204" pitchFamily="34" charset="0"/>
              </a:rPr>
              <a:t>↓</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659978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E5E72-3365-6829-E79E-0B54A4F473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B82D3F-9E7F-5C1A-1A62-B4C5A495872A}"/>
              </a:ext>
            </a:extLst>
          </p:cNvPr>
          <p:cNvSpPr>
            <a:spLocks noGrp="1"/>
          </p:cNvSpPr>
          <p:nvPr>
            <p:ph type="ctrTitle"/>
          </p:nvPr>
        </p:nvSpPr>
        <p:spPr>
          <a:xfrm>
            <a:off x="1199300" y="1682048"/>
            <a:ext cx="7717350" cy="2195001"/>
          </a:xfrm>
        </p:spPr>
        <p:txBody>
          <a:bodyPr>
            <a:normAutofit/>
          </a:bodyPr>
          <a:lstStyle/>
          <a:p>
            <a:r>
              <a:rPr lang="en-US" sz="4800" dirty="0"/>
              <a:t> 6/10 </a:t>
            </a:r>
            <a:r>
              <a:rPr lang="en-US" sz="4800"/>
              <a:t>網屋MTG</a:t>
            </a:r>
            <a:br>
              <a:rPr lang="en-US" sz="4800" dirty="0"/>
            </a:br>
            <a:r>
              <a:rPr kumimoji="0" lang="ja-JP" altLang="ja-JP" sz="3100">
                <a:latin typeface="Arial" panose="020B0604020202020204" pitchFamily="34" charset="0"/>
                <a:ea typeface="-webkit-standard"/>
              </a:rPr>
              <a:t>Windowsエンドポイントログを用いた正常行動の行動復元列による偽陽性判断の</a:t>
            </a:r>
            <a:r>
              <a:rPr kumimoji="0" lang="ja-JP" altLang="en-US" sz="3100">
                <a:latin typeface="Arial" panose="020B0604020202020204" pitchFamily="34" charset="0"/>
                <a:ea typeface="-webkit-standard"/>
              </a:rPr>
              <a:t>検討</a:t>
            </a:r>
            <a:endParaRPr lang="en-US" sz="4800" dirty="0"/>
          </a:p>
        </p:txBody>
      </p:sp>
      <p:sp>
        <p:nvSpPr>
          <p:cNvPr id="14" name="タイトル 2">
            <a:extLst>
              <a:ext uri="{FF2B5EF4-FFF2-40B4-BE49-F238E27FC236}">
                <a16:creationId xmlns:a16="http://schemas.microsoft.com/office/drawing/2014/main" id="{854594E3-7DEA-5F97-7D9A-16A18834F9E7}"/>
              </a:ext>
            </a:extLst>
          </p:cNvPr>
          <p:cNvSpPr txBox="1">
            <a:spLocks/>
          </p:cNvSpPr>
          <p:nvPr/>
        </p:nvSpPr>
        <p:spPr>
          <a:xfrm>
            <a:off x="1199300" y="4064003"/>
            <a:ext cx="7717350" cy="1190291"/>
          </a:xfrm>
          <a:prstGeom prst="rect">
            <a:avLst/>
          </a:prstGeom>
          <a:solidFill>
            <a:schemeClr val="bg2">
              <a:lumMod val="10000"/>
              <a:alpha val="65000"/>
            </a:schemeClr>
          </a:solidFill>
          <a:ln>
            <a:noFill/>
          </a:ln>
        </p:spPr>
        <p:txBody>
          <a:bodyPr anchor="ctr">
            <a:normAutofit/>
          </a:bodyPr>
          <a:lstStyle>
            <a:lvl1pPr algn="ctr" defTabSz="990570" rtl="0" eaLnBrk="1" latinLnBrk="0" hangingPunct="1">
              <a:spcBef>
                <a:spcPct val="0"/>
              </a:spcBef>
              <a:buNone/>
              <a:defRPr sz="4000" kern="1200">
                <a:solidFill>
                  <a:schemeClr val="bg1"/>
                </a:solidFill>
                <a:latin typeface="メイリオ" panose="020B0604030504040204" pitchFamily="50" charset="-128"/>
                <a:ea typeface="メイリオ" panose="020B0604030504040204" pitchFamily="50" charset="-128"/>
                <a:cs typeface="+mj-cs"/>
              </a:defRPr>
            </a:lvl1pPr>
          </a:lstStyle>
          <a:p>
            <a:r>
              <a:rPr kumimoji="1" lang="ja-JP" altLang="en-US" sz="1800" dirty="0">
                <a:latin typeface="+mn-lt"/>
                <a:ea typeface="+mn-ea"/>
              </a:rPr>
              <a:t>北海道大学 </a:t>
            </a:r>
            <a:r>
              <a:rPr lang="ja-JP" altLang="en-US" sz="1800" dirty="0">
                <a:latin typeface="+mn-lt"/>
                <a:ea typeface="+mn-ea"/>
              </a:rPr>
              <a:t>大学院情報科学研究院</a:t>
            </a:r>
            <a:endParaRPr kumimoji="1" lang="en-US" altLang="ja-JP" sz="1800" dirty="0">
              <a:latin typeface="+mn-lt"/>
              <a:ea typeface="+mn-ea"/>
            </a:endParaRPr>
          </a:p>
          <a:p>
            <a:r>
              <a:rPr lang="ja-JP" altLang="en-US" sz="1800" dirty="0">
                <a:latin typeface="+mn-lt"/>
                <a:ea typeface="+mn-ea"/>
              </a:rPr>
              <a:t>情報理工学部門 複合情報工学分野 調和系工学研究室</a:t>
            </a:r>
            <a:endParaRPr lang="en-US" altLang="ja-JP" sz="1800" dirty="0">
              <a:latin typeface="+mn-lt"/>
              <a:ea typeface="+mn-ea"/>
            </a:endParaRPr>
          </a:p>
          <a:p>
            <a:r>
              <a:rPr lang="ja-JP" altLang="en-US" sz="1800">
                <a:latin typeface="+mn-lt"/>
                <a:ea typeface="+mn-ea"/>
              </a:rPr>
              <a:t>修士課程</a:t>
            </a:r>
            <a:r>
              <a:rPr lang="en-US" altLang="ja-JP" sz="1800" dirty="0">
                <a:latin typeface="+mn-lt"/>
                <a:ea typeface="+mn-ea"/>
              </a:rPr>
              <a:t>2</a:t>
            </a:r>
            <a:r>
              <a:rPr lang="ja-JP" altLang="en-US" sz="1800">
                <a:latin typeface="+mn-lt"/>
                <a:ea typeface="+mn-ea"/>
              </a:rPr>
              <a:t>年　小松崎　大世</a:t>
            </a:r>
            <a:endParaRPr lang="en-US" altLang="ja-JP" sz="1800" dirty="0">
              <a:latin typeface="+mn-lt"/>
              <a:ea typeface="+mn-ea"/>
            </a:endParaRPr>
          </a:p>
        </p:txBody>
      </p:sp>
    </p:spTree>
    <p:extLst>
      <p:ext uri="{BB962C8B-B14F-4D97-AF65-F5344CB8AC3E}">
        <p14:creationId xmlns:p14="http://schemas.microsoft.com/office/powerpoint/2010/main" val="4159740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4E64-D4A4-B280-9210-8ADF2AED2A28}"/>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87AE0FC4-6EA4-B165-B17E-8354550D6F52}"/>
              </a:ext>
            </a:extLst>
          </p:cNvPr>
          <p:cNvSpPr>
            <a:spLocks noGrp="1"/>
          </p:cNvSpPr>
          <p:nvPr>
            <p:ph type="title"/>
          </p:nvPr>
        </p:nvSpPr>
        <p:spPr>
          <a:xfrm>
            <a:off x="217755" y="13766"/>
            <a:ext cx="7886700" cy="626133"/>
          </a:xfrm>
        </p:spPr>
        <p:txBody>
          <a:bodyPr>
            <a:normAutofit/>
          </a:bodyPr>
          <a:lstStyle/>
          <a:p>
            <a:r>
              <a:rPr lang="en-US" dirty="0" err="1"/>
              <a:t>研究目的とその手法</a:t>
            </a:r>
            <a:endParaRPr lang="en-US" dirty="0"/>
          </a:p>
        </p:txBody>
      </p:sp>
      <p:sp>
        <p:nvSpPr>
          <p:cNvPr id="4" name="スライド番号プレースホルダー 3">
            <a:extLst>
              <a:ext uri="{FF2B5EF4-FFF2-40B4-BE49-F238E27FC236}">
                <a16:creationId xmlns:a16="http://schemas.microsoft.com/office/drawing/2014/main" id="{2DF4BEA4-2361-337D-2D60-B0C78CEF6B8E}"/>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6</a:t>
            </a:fld>
            <a:endParaRPr lang="en-US"/>
          </a:p>
        </p:txBody>
      </p:sp>
      <p:sp>
        <p:nvSpPr>
          <p:cNvPr id="6" name="テキスト ボックス 5">
            <a:extLst>
              <a:ext uri="{FF2B5EF4-FFF2-40B4-BE49-F238E27FC236}">
                <a16:creationId xmlns:a16="http://schemas.microsoft.com/office/drawing/2014/main" id="{1F8D6629-13D1-D3D3-3B50-3B629C18533D}"/>
              </a:ext>
            </a:extLst>
          </p:cNvPr>
          <p:cNvSpPr txBox="1"/>
          <p:nvPr/>
        </p:nvSpPr>
        <p:spPr>
          <a:xfrm>
            <a:off x="51605" y="1848214"/>
            <a:ext cx="9040790" cy="4154984"/>
          </a:xfrm>
          <a:prstGeom prst="rect">
            <a:avLst/>
          </a:prstGeom>
          <a:noFill/>
        </p:spPr>
        <p:txBody>
          <a:bodyPr wrap="square" rtlCol="0">
            <a:spAutoFit/>
          </a:bodyPr>
          <a:lstStyle/>
          <a:p>
            <a:pPr marL="285750" indent="-285750" defTabSz="914400" eaLnBrk="0" fontAlgn="base" hangingPunct="0">
              <a:spcBef>
                <a:spcPct val="0"/>
              </a:spcBef>
              <a:spcAft>
                <a:spcPct val="0"/>
              </a:spcAft>
              <a:buFont typeface="Arial" panose="020B0604020202020204" pitchFamily="34" charset="0"/>
              <a:buChar char="•"/>
            </a:pPr>
            <a:r>
              <a:rPr lang="ja-JP" altLang="ja-JP" sz="2400">
                <a:solidFill>
                  <a:srgbClr val="000000"/>
                </a:solidFill>
                <a:latin typeface="Arial" panose="020B0604020202020204" pitchFamily="34" charset="0"/>
              </a:rPr>
              <a:t>研究目的</a:t>
            </a:r>
            <a:endParaRPr lang="en-US" altLang="ja-JP" sz="2400"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ja-JP" sz="2400">
                <a:solidFill>
                  <a:srgbClr val="000000"/>
                </a:solidFill>
                <a:latin typeface="Arial" panose="020B0604020202020204" pitchFamily="34" charset="0"/>
              </a:rPr>
              <a:t>正常行動を対象としたインシデント分析支援手法の開発</a:t>
            </a:r>
            <a:endParaRPr lang="en-US" altLang="ja-JP" sz="2400" dirty="0">
              <a:solidFill>
                <a:srgbClr val="000000"/>
              </a:solidFill>
              <a:latin typeface="Arial" panose="020B0604020202020204" pitchFamily="34" charset="0"/>
            </a:endParaRPr>
          </a:p>
          <a:p>
            <a:pPr lvl="2" defTabSz="914400" eaLnBrk="0" fontAlgn="base" hangingPunct="0">
              <a:spcBef>
                <a:spcPct val="0"/>
              </a:spcBef>
              <a:spcAft>
                <a:spcPct val="0"/>
              </a:spcAft>
            </a:pPr>
            <a:endParaRPr lang="en-US" altLang="ja-JP" sz="2400" dirty="0">
              <a:solidFill>
                <a:srgbClr val="000000"/>
              </a:solidFill>
              <a:latin typeface="Arial" panose="020B0604020202020204" pitchFamily="34" charset="0"/>
            </a:endParaRPr>
          </a:p>
          <a:p>
            <a:pPr marL="285750" indent="-285750" defTabSz="914400" eaLnBrk="0" fontAlgn="base" hangingPunct="0">
              <a:spcBef>
                <a:spcPct val="0"/>
              </a:spcBef>
              <a:spcAft>
                <a:spcPct val="0"/>
              </a:spcAft>
              <a:buFont typeface="Arial" panose="020B0604020202020204" pitchFamily="34" charset="0"/>
              <a:buChar char="•"/>
            </a:pPr>
            <a:r>
              <a:rPr lang="ja-JP" altLang="ja-JP" sz="2400">
                <a:solidFill>
                  <a:srgbClr val="000000"/>
                </a:solidFill>
                <a:latin typeface="Arial" panose="020B0604020202020204" pitchFamily="34" charset="0"/>
              </a:rPr>
              <a:t>手法</a:t>
            </a:r>
            <a:endParaRPr lang="en-US" altLang="ja-JP" sz="2400"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en-US" altLang="ja-JP" sz="2400" dirty="0">
                <a:solidFill>
                  <a:srgbClr val="000000"/>
                </a:solidFill>
                <a:latin typeface="Arial" panose="020B0604020202020204" pitchFamily="34" charset="0"/>
              </a:rPr>
              <a:t>M</a:t>
            </a:r>
            <a:r>
              <a:rPr lang="ja-JP" altLang="ja-JP" sz="2400">
                <a:solidFill>
                  <a:srgbClr val="000000"/>
                </a:solidFill>
                <a:latin typeface="Arial" panose="020B0604020202020204" pitchFamily="34" charset="0"/>
              </a:rPr>
              <a:t>ulti-agentシステムを用いて</a:t>
            </a:r>
            <a:r>
              <a:rPr lang="ja-JP" altLang="en-US" sz="2400">
                <a:solidFill>
                  <a:srgbClr val="000000"/>
                </a:solidFill>
                <a:latin typeface="Arial" panose="020B0604020202020204" pitchFamily="34" charset="0"/>
              </a:rPr>
              <a:t>正常の</a:t>
            </a:r>
            <a:r>
              <a:rPr lang="ja-JP" altLang="ja-JP" sz="2400">
                <a:solidFill>
                  <a:srgbClr val="000000"/>
                </a:solidFill>
                <a:latin typeface="Arial" panose="020B0604020202020204" pitchFamily="34" charset="0"/>
              </a:rPr>
              <a:t>行動列を復元</a:t>
            </a:r>
            <a:endParaRPr lang="en-US" altLang="ja-JP" sz="2400" dirty="0">
              <a:solidFill>
                <a:srgbClr val="000000"/>
              </a:solidFill>
              <a:latin typeface="Arial" panose="020B0604020202020204" pitchFamily="34" charset="0"/>
            </a:endParaRPr>
          </a:p>
          <a:p>
            <a:pPr marL="1200150" lvl="2" indent="-285750" defTabSz="914400" eaLnBrk="0" fontAlgn="base" hangingPunct="0">
              <a:spcBef>
                <a:spcPct val="0"/>
              </a:spcBef>
              <a:spcAft>
                <a:spcPct val="0"/>
              </a:spcAft>
              <a:buFont typeface="Arial" panose="020B0604020202020204" pitchFamily="34" charset="0"/>
              <a:buChar char="•"/>
            </a:pPr>
            <a:r>
              <a:rPr lang="ja-JP" altLang="en-US" sz="2400">
                <a:solidFill>
                  <a:srgbClr val="000000"/>
                </a:solidFill>
                <a:latin typeface="Arial" panose="020B0604020202020204" pitchFamily="34" charset="0"/>
              </a:rPr>
              <a:t>高度な推論を繰り返すインシデント分析は</a:t>
            </a:r>
            <a:r>
              <a:rPr lang="en-US" altLang="ja-JP" sz="2400" dirty="0">
                <a:solidFill>
                  <a:srgbClr val="000000"/>
                </a:solidFill>
                <a:latin typeface="Arial" panose="020B0604020202020204" pitchFamily="34" charset="0"/>
              </a:rPr>
              <a:t>Multi-agent</a:t>
            </a:r>
            <a:r>
              <a:rPr lang="ja-JP" altLang="en-US" sz="2400">
                <a:solidFill>
                  <a:srgbClr val="000000"/>
                </a:solidFill>
                <a:latin typeface="Arial" panose="020B0604020202020204" pitchFamily="34" charset="0"/>
              </a:rPr>
              <a:t>システム以外では実現出来ない</a:t>
            </a:r>
            <a:endParaRPr lang="ja-JP" altLang="ja-JP" sz="2400">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2400">
              <a:latin typeface="Arial" panose="020B0604020202020204" pitchFamily="34" charset="0"/>
            </a:endParaRPr>
          </a:p>
          <a:p>
            <a:pPr lvl="0" defTabSz="914400" eaLnBrk="0" fontAlgn="base" hangingPunct="0">
              <a:spcBef>
                <a:spcPct val="0"/>
              </a:spcBef>
              <a:spcAft>
                <a:spcPct val="0"/>
              </a:spcAft>
            </a:pPr>
            <a:endParaRPr lang="ja-JP" altLang="ja-JP" sz="2400">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2400">
              <a:latin typeface="Arial" panose="020B0604020202020204" pitchFamily="34" charset="0"/>
            </a:endParaRPr>
          </a:p>
          <a:p>
            <a:pPr algn="l"/>
            <a:endParaRPr kumimoji="1" lang="ja-JP" altLang="en-US" sz="2400" dirty="0">
              <a:cs typeface="Arial" panose="020B0604020202020204" pitchFamily="34" charset="0"/>
            </a:endParaRPr>
          </a:p>
        </p:txBody>
      </p:sp>
    </p:spTree>
    <p:extLst>
      <p:ext uri="{BB962C8B-B14F-4D97-AF65-F5344CB8AC3E}">
        <p14:creationId xmlns:p14="http://schemas.microsoft.com/office/powerpoint/2010/main" val="2537134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B7A36-AD40-1D0B-DA75-566C4AFA0FF7}"/>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7ABAB900-3F46-33A0-D1BB-54AB609A1F08}"/>
              </a:ext>
            </a:extLst>
          </p:cNvPr>
          <p:cNvSpPr>
            <a:spLocks noGrp="1"/>
          </p:cNvSpPr>
          <p:nvPr>
            <p:ph type="title"/>
          </p:nvPr>
        </p:nvSpPr>
        <p:spPr>
          <a:xfrm>
            <a:off x="217755" y="13766"/>
            <a:ext cx="7886700" cy="626133"/>
          </a:xfrm>
        </p:spPr>
        <p:txBody>
          <a:bodyPr>
            <a:normAutofit/>
          </a:bodyPr>
          <a:lstStyle/>
          <a:p>
            <a:r>
              <a:rPr lang="en-US" dirty="0" err="1"/>
              <a:t>問題設定：入力</a:t>
            </a:r>
            <a:endParaRPr lang="en-US" dirty="0"/>
          </a:p>
        </p:txBody>
      </p:sp>
      <p:sp>
        <p:nvSpPr>
          <p:cNvPr id="4" name="スライド番号プレースホルダー 3">
            <a:extLst>
              <a:ext uri="{FF2B5EF4-FFF2-40B4-BE49-F238E27FC236}">
                <a16:creationId xmlns:a16="http://schemas.microsoft.com/office/drawing/2014/main" id="{8CE51577-D0B0-76B2-69EF-3A18633F5F69}"/>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7</a:t>
            </a:fld>
            <a:endParaRPr lang="en-US"/>
          </a:p>
        </p:txBody>
      </p:sp>
      <p:pic>
        <p:nvPicPr>
          <p:cNvPr id="8" name="図 7">
            <a:extLst>
              <a:ext uri="{FF2B5EF4-FFF2-40B4-BE49-F238E27FC236}">
                <a16:creationId xmlns:a16="http://schemas.microsoft.com/office/drawing/2014/main" id="{4049044A-F22F-ACBE-E5F3-BC55A91EA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45" y="7964318"/>
            <a:ext cx="8627911" cy="4855778"/>
          </a:xfrm>
          <a:prstGeom prst="rect">
            <a:avLst/>
          </a:prstGeom>
        </p:spPr>
      </p:pic>
      <p:sp>
        <p:nvSpPr>
          <p:cNvPr id="2" name="テキスト ボックス 1">
            <a:extLst>
              <a:ext uri="{FF2B5EF4-FFF2-40B4-BE49-F238E27FC236}">
                <a16:creationId xmlns:a16="http://schemas.microsoft.com/office/drawing/2014/main" id="{0DB168B3-9E2A-1CD7-ADFF-44834B1DD7C6}"/>
              </a:ext>
            </a:extLst>
          </p:cNvPr>
          <p:cNvSpPr txBox="1"/>
          <p:nvPr/>
        </p:nvSpPr>
        <p:spPr>
          <a:xfrm>
            <a:off x="95919" y="651774"/>
            <a:ext cx="8008536" cy="923330"/>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エンドポイントセキュリティシステムのアラートが入力</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このアラートはインシデント分析が開始されるきっかけ</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時間、プロセス情報、アタート内容が含まれる</a:t>
            </a:r>
            <a:endParaRPr kumimoji="1" lang="ja-JP" altLang="en-US" dirty="0">
              <a:cs typeface="Arial" panose="020B0604020202020204" pitchFamily="34" charset="0"/>
            </a:endParaRPr>
          </a:p>
        </p:txBody>
      </p:sp>
      <p:sp>
        <p:nvSpPr>
          <p:cNvPr id="3" name="正方形/長方形 2">
            <a:extLst>
              <a:ext uri="{FF2B5EF4-FFF2-40B4-BE49-F238E27FC236}">
                <a16:creationId xmlns:a16="http://schemas.microsoft.com/office/drawing/2014/main" id="{4295471F-6CA9-B229-F813-73443BE1B600}"/>
              </a:ext>
            </a:extLst>
          </p:cNvPr>
          <p:cNvSpPr/>
          <p:nvPr/>
        </p:nvSpPr>
        <p:spPr>
          <a:xfrm>
            <a:off x="217755" y="2029766"/>
            <a:ext cx="5620337" cy="47340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ja-JP" altLang="ja-JP" b="1">
                <a:solidFill>
                  <a:schemeClr val="tx1"/>
                </a:solidFill>
              </a:rPr>
              <a:t>time</a:t>
            </a:r>
            <a:r>
              <a:rPr lang="ja-JP" altLang="ja-JP">
                <a:solidFill>
                  <a:schemeClr val="tx1"/>
                </a:solidFill>
              </a:rPr>
              <a:t>=2022-07-16 15:07:46</a:t>
            </a:r>
            <a:endParaRPr lang="en-US" altLang="ja-JP" dirty="0">
              <a:solidFill>
                <a:schemeClr val="tx1"/>
              </a:solidFill>
            </a:endParaRPr>
          </a:p>
          <a:p>
            <a:r>
              <a:rPr lang="ja-JP" altLang="ja-JP" b="1">
                <a:solidFill>
                  <a:schemeClr val="tx1"/>
                </a:solidFill>
              </a:rPr>
              <a:t>source_stream</a:t>
            </a:r>
            <a:r>
              <a:rPr lang="ja-JP" altLang="ja-JP">
                <a:solidFill>
                  <a:schemeClr val="tx1"/>
                </a:solidFill>
              </a:rPr>
              <a:t>=cbc-edr-alerts</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r>
              <a:rPr lang="ja-JP" altLang="ja-JP" b="1">
                <a:solidFill>
                  <a:schemeClr val="tx1"/>
                </a:solidFill>
              </a:rPr>
              <a:t>process</a:t>
            </a:r>
            <a:r>
              <a:rPr lang="ja-JP" altLang="ja-JP">
                <a:solidFill>
                  <a:schemeClr val="tx1"/>
                </a:solidFill>
              </a:rPr>
              <a:t>=reg.exe </a:t>
            </a:r>
            <a:endParaRPr lang="en-US" altLang="ja-JP" dirty="0">
              <a:solidFill>
                <a:schemeClr val="tx1"/>
              </a:solidFill>
            </a:endParaRPr>
          </a:p>
          <a:p>
            <a:r>
              <a:rPr lang="ja-JP" altLang="ja-JP" b="1">
                <a:solidFill>
                  <a:schemeClr val="tx1"/>
                </a:solidFill>
              </a:rPr>
              <a:t>pid</a:t>
            </a:r>
            <a:r>
              <a:rPr lang="ja-JP" altLang="ja-JP">
                <a:solidFill>
                  <a:schemeClr val="tx1"/>
                </a:solidFill>
              </a:rPr>
              <a:t>=5424</a:t>
            </a:r>
            <a:endParaRPr lang="en-US" altLang="ja-JP" dirty="0">
              <a:solidFill>
                <a:schemeClr val="tx1"/>
              </a:solidFill>
            </a:endParaRPr>
          </a:p>
          <a:p>
            <a:r>
              <a:rPr lang="ja-JP" altLang="ja-JP" b="1">
                <a:solidFill>
                  <a:schemeClr val="tx1"/>
                </a:solidFill>
              </a:rPr>
              <a:t>ppid</a:t>
            </a:r>
            <a:r>
              <a:rPr lang="ja-JP" altLang="ja-JP">
                <a:solidFill>
                  <a:schemeClr val="tx1"/>
                </a:solidFill>
              </a:rPr>
              <a:t>=1204 </a:t>
            </a:r>
            <a:endParaRPr lang="en-US" altLang="ja-JP" dirty="0">
              <a:solidFill>
                <a:schemeClr val="tx1"/>
              </a:solidFill>
            </a:endParaRPr>
          </a:p>
          <a:p>
            <a:r>
              <a:rPr lang="ja-JP" altLang="ja-JP" b="1">
                <a:solidFill>
                  <a:schemeClr val="tx1"/>
                </a:solidFill>
              </a:rPr>
              <a:t>parent</a:t>
            </a:r>
            <a:r>
              <a:rPr lang="ja-JP" altLang="ja-JP">
                <a:solidFill>
                  <a:schemeClr val="tx1"/>
                </a:solidFill>
              </a:rPr>
              <a:t>=discord.exe</a:t>
            </a:r>
            <a:endParaRPr lang="en-US" altLang="ja-JP" dirty="0">
              <a:solidFill>
                <a:schemeClr val="tx1"/>
              </a:solidFill>
            </a:endParaRPr>
          </a:p>
          <a:p>
            <a:endParaRPr lang="en-US" altLang="ja-JP" dirty="0">
              <a:solidFill>
                <a:schemeClr val="tx1"/>
              </a:solidFill>
            </a:endParaRPr>
          </a:p>
          <a:p>
            <a:endParaRPr lang="en-US" altLang="ja-JP" dirty="0">
              <a:solidFill>
                <a:schemeClr val="tx1"/>
              </a:solidFill>
            </a:endParaRPr>
          </a:p>
          <a:p>
            <a:r>
              <a:rPr lang="ja-JP" altLang="ja-JP" b="1">
                <a:solidFill>
                  <a:schemeClr val="tx1"/>
                </a:solidFill>
              </a:rPr>
              <a:t>alert_id</a:t>
            </a:r>
            <a:r>
              <a:rPr lang="ja-JP" altLang="ja-JP">
                <a:solidFill>
                  <a:schemeClr val="tx1"/>
                </a:solidFill>
              </a:rPr>
              <a:t>=CFnKBKLTv6hUkBGFobRdg-565631 </a:t>
            </a:r>
            <a:r>
              <a:rPr lang="ja-JP" altLang="ja-JP" b="1">
                <a:solidFill>
                  <a:schemeClr val="tx1"/>
                </a:solidFill>
              </a:rPr>
              <a:t>alert_name</a:t>
            </a:r>
            <a:r>
              <a:rPr lang="ja-JP" altLang="ja-JP">
                <a:solidFill>
                  <a:schemeClr val="tx1"/>
                </a:solidFill>
              </a:rPr>
              <a:t>=Discovery - Query Registry reason=None</a:t>
            </a:r>
            <a:endParaRPr lang="en-US" altLang="ja-JP" dirty="0">
              <a:solidFill>
                <a:schemeClr val="tx1"/>
              </a:solidFill>
            </a:endParaRPr>
          </a:p>
          <a:p>
            <a:r>
              <a:rPr lang="ja-JP" altLang="ja-JP" b="1">
                <a:solidFill>
                  <a:schemeClr val="tx1"/>
                </a:solidFill>
              </a:rPr>
              <a:t>command_line</a:t>
            </a:r>
            <a:r>
              <a:rPr lang="ja-JP" altLang="ja-JP">
                <a:solidFill>
                  <a:schemeClr val="tx1"/>
                </a:solidFill>
              </a:rPr>
              <a:t>=C:\Windows\System32\reg.exe query HKCU\Software\Microsoft\Windows\CurrentVersion\Run /v Discord</a:t>
            </a:r>
            <a:endParaRPr kumimoji="1" lang="ja-JP" altLang="en-US">
              <a:solidFill>
                <a:schemeClr val="tx1"/>
              </a:solidFill>
            </a:endParaRPr>
          </a:p>
        </p:txBody>
      </p:sp>
      <p:sp>
        <p:nvSpPr>
          <p:cNvPr id="6" name="角丸四角形 5">
            <a:extLst>
              <a:ext uri="{FF2B5EF4-FFF2-40B4-BE49-F238E27FC236}">
                <a16:creationId xmlns:a16="http://schemas.microsoft.com/office/drawing/2014/main" id="{4DBAA27C-CA84-D803-9CC7-DD36A5B997EE}"/>
              </a:ext>
            </a:extLst>
          </p:cNvPr>
          <p:cNvSpPr/>
          <p:nvPr/>
        </p:nvSpPr>
        <p:spPr>
          <a:xfrm>
            <a:off x="6085942" y="2124289"/>
            <a:ext cx="2605881" cy="36619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solidFill>
                  <a:schemeClr val="tx1"/>
                </a:solidFill>
              </a:rPr>
              <a:t>時間</a:t>
            </a:r>
          </a:p>
        </p:txBody>
      </p:sp>
      <p:sp>
        <p:nvSpPr>
          <p:cNvPr id="9" name="角丸四角形 8">
            <a:extLst>
              <a:ext uri="{FF2B5EF4-FFF2-40B4-BE49-F238E27FC236}">
                <a16:creationId xmlns:a16="http://schemas.microsoft.com/office/drawing/2014/main" id="{F8D35036-E262-5E0E-9FC6-F31FD0E7512B}"/>
              </a:ext>
            </a:extLst>
          </p:cNvPr>
          <p:cNvSpPr/>
          <p:nvPr/>
        </p:nvSpPr>
        <p:spPr>
          <a:xfrm>
            <a:off x="6085942" y="5634814"/>
            <a:ext cx="2605881" cy="36619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solidFill>
                  <a:schemeClr val="tx1"/>
                </a:solidFill>
              </a:rPr>
              <a:t>検知情報</a:t>
            </a:r>
          </a:p>
        </p:txBody>
      </p:sp>
      <p:sp>
        <p:nvSpPr>
          <p:cNvPr id="10" name="角丸四角形 9">
            <a:extLst>
              <a:ext uri="{FF2B5EF4-FFF2-40B4-BE49-F238E27FC236}">
                <a16:creationId xmlns:a16="http://schemas.microsoft.com/office/drawing/2014/main" id="{844CFCFE-EE6F-01AD-73E7-6F703DAA4089}"/>
              </a:ext>
            </a:extLst>
          </p:cNvPr>
          <p:cNvSpPr/>
          <p:nvPr/>
        </p:nvSpPr>
        <p:spPr>
          <a:xfrm>
            <a:off x="6085942" y="3671510"/>
            <a:ext cx="2605881" cy="36619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solidFill>
                  <a:schemeClr val="tx1"/>
                </a:solidFill>
              </a:rPr>
              <a:t>プロセス情報</a:t>
            </a:r>
          </a:p>
        </p:txBody>
      </p:sp>
      <p:sp>
        <p:nvSpPr>
          <p:cNvPr id="12" name="テキスト ボックス 11">
            <a:extLst>
              <a:ext uri="{FF2B5EF4-FFF2-40B4-BE49-F238E27FC236}">
                <a16:creationId xmlns:a16="http://schemas.microsoft.com/office/drawing/2014/main" id="{6F970A88-F253-3116-4496-832347BE3255}"/>
              </a:ext>
            </a:extLst>
          </p:cNvPr>
          <p:cNvSpPr txBox="1"/>
          <p:nvPr/>
        </p:nvSpPr>
        <p:spPr>
          <a:xfrm>
            <a:off x="207707" y="1725318"/>
            <a:ext cx="3349828" cy="307777"/>
          </a:xfrm>
          <a:prstGeom prst="rect">
            <a:avLst/>
          </a:prstGeom>
          <a:noFill/>
        </p:spPr>
        <p:txBody>
          <a:bodyPr wrap="none" rtlCol="0">
            <a:spAutoFit/>
          </a:bodyPr>
          <a:lstStyle/>
          <a:p>
            <a:pPr algn="l"/>
            <a:r>
              <a:rPr kumimoji="1" lang="ja-JP" altLang="en-US" sz="1400">
                <a:cs typeface="Arial" panose="020B0604020202020204" pitchFamily="34" charset="0"/>
              </a:rPr>
              <a:t>例：</a:t>
            </a:r>
            <a:r>
              <a:rPr kumimoji="1" lang="en-US" altLang="ja-JP" sz="1400" dirty="0">
                <a:cs typeface="Arial" panose="020B0604020202020204" pitchFamily="34" charset="0"/>
              </a:rPr>
              <a:t>Discord </a:t>
            </a:r>
            <a:r>
              <a:rPr kumimoji="1" lang="ja-JP" altLang="en-US" sz="1400">
                <a:cs typeface="Arial" panose="020B0604020202020204" pitchFamily="34" charset="0"/>
              </a:rPr>
              <a:t>インストール時のアラート</a:t>
            </a:r>
            <a:endParaRPr kumimoji="1" lang="ja-JP" altLang="en-US" sz="1400" dirty="0">
              <a:cs typeface="Arial" panose="020B0604020202020204" pitchFamily="34" charset="0"/>
            </a:endParaRPr>
          </a:p>
        </p:txBody>
      </p:sp>
    </p:spTree>
    <p:extLst>
      <p:ext uri="{BB962C8B-B14F-4D97-AF65-F5344CB8AC3E}">
        <p14:creationId xmlns:p14="http://schemas.microsoft.com/office/powerpoint/2010/main" val="231317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2DF1E-5976-942A-F89A-716AD45B20E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8E18928F-1220-7B4A-8DE5-C7D0494AC7E1}"/>
              </a:ext>
            </a:extLst>
          </p:cNvPr>
          <p:cNvSpPr>
            <a:spLocks noGrp="1"/>
          </p:cNvSpPr>
          <p:nvPr>
            <p:ph type="title"/>
          </p:nvPr>
        </p:nvSpPr>
        <p:spPr>
          <a:xfrm>
            <a:off x="217755" y="13766"/>
            <a:ext cx="7886700" cy="626133"/>
          </a:xfrm>
        </p:spPr>
        <p:txBody>
          <a:bodyPr>
            <a:normAutofit/>
          </a:bodyPr>
          <a:lstStyle/>
          <a:p>
            <a:r>
              <a:rPr lang="en-US" dirty="0" err="1"/>
              <a:t>問題設定：データベース</a:t>
            </a:r>
            <a:endParaRPr lang="en-US" dirty="0"/>
          </a:p>
        </p:txBody>
      </p:sp>
      <p:sp>
        <p:nvSpPr>
          <p:cNvPr id="4" name="スライド番号プレースホルダー 3">
            <a:extLst>
              <a:ext uri="{FF2B5EF4-FFF2-40B4-BE49-F238E27FC236}">
                <a16:creationId xmlns:a16="http://schemas.microsoft.com/office/drawing/2014/main" id="{DE53FBED-4E93-D924-5532-CE8EAC5AA5DE}"/>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8</a:t>
            </a:fld>
            <a:endParaRPr lang="en-US"/>
          </a:p>
        </p:txBody>
      </p:sp>
    </p:spTree>
    <p:extLst>
      <p:ext uri="{BB962C8B-B14F-4D97-AF65-F5344CB8AC3E}">
        <p14:creationId xmlns:p14="http://schemas.microsoft.com/office/powerpoint/2010/main" val="3312752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2AC4B-C052-E52E-39DC-6464684C7863}"/>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5A7A7EE-EA60-A81A-3439-43137BF176B5}"/>
              </a:ext>
            </a:extLst>
          </p:cNvPr>
          <p:cNvSpPr>
            <a:spLocks noGrp="1"/>
          </p:cNvSpPr>
          <p:nvPr>
            <p:ph type="title"/>
          </p:nvPr>
        </p:nvSpPr>
        <p:spPr>
          <a:xfrm>
            <a:off x="217755" y="13766"/>
            <a:ext cx="7886700" cy="626133"/>
          </a:xfrm>
        </p:spPr>
        <p:txBody>
          <a:bodyPr>
            <a:normAutofit/>
          </a:bodyPr>
          <a:lstStyle/>
          <a:p>
            <a:r>
              <a:rPr lang="ja-JP" altLang="en-US"/>
              <a:t>問題設定　出力</a:t>
            </a:r>
            <a:endParaRPr lang="en-US" dirty="0"/>
          </a:p>
        </p:txBody>
      </p:sp>
      <p:sp>
        <p:nvSpPr>
          <p:cNvPr id="4" name="スライド番号プレースホルダー 3">
            <a:extLst>
              <a:ext uri="{FF2B5EF4-FFF2-40B4-BE49-F238E27FC236}">
                <a16:creationId xmlns:a16="http://schemas.microsoft.com/office/drawing/2014/main" id="{FF19E711-0EBD-4C82-4FAE-F578835CB72F}"/>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9</a:t>
            </a:fld>
            <a:endParaRPr lang="en-US"/>
          </a:p>
        </p:txBody>
      </p:sp>
      <p:sp>
        <p:nvSpPr>
          <p:cNvPr id="6" name="テキスト ボックス 5">
            <a:extLst>
              <a:ext uri="{FF2B5EF4-FFF2-40B4-BE49-F238E27FC236}">
                <a16:creationId xmlns:a16="http://schemas.microsoft.com/office/drawing/2014/main" id="{CB01FFDD-6004-B23A-27D2-F05204E38142}"/>
              </a:ext>
            </a:extLst>
          </p:cNvPr>
          <p:cNvSpPr txBox="1"/>
          <p:nvPr/>
        </p:nvSpPr>
        <p:spPr>
          <a:xfrm>
            <a:off x="0" y="639899"/>
            <a:ext cx="9040790" cy="923330"/>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インシデント分析で復元する行動列の定義</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ユーザー時間ごとに、「主体」「行動」「対象」が書かれた行動ステップを時系列で並べた行動列を出力</a:t>
            </a:r>
            <a:endParaRPr kumimoji="1" lang="ja-JP" altLang="en-US" dirty="0">
              <a:cs typeface="Arial" panose="020B0604020202020204" pitchFamily="34" charset="0"/>
            </a:endParaRPr>
          </a:p>
        </p:txBody>
      </p:sp>
      <p:sp>
        <p:nvSpPr>
          <p:cNvPr id="11" name="正方形/長方形 10">
            <a:extLst>
              <a:ext uri="{FF2B5EF4-FFF2-40B4-BE49-F238E27FC236}">
                <a16:creationId xmlns:a16="http://schemas.microsoft.com/office/drawing/2014/main" id="{35B2F8E1-9320-875F-8DFF-9B1BDE0B7298}"/>
              </a:ext>
            </a:extLst>
          </p:cNvPr>
          <p:cNvSpPr/>
          <p:nvPr/>
        </p:nvSpPr>
        <p:spPr>
          <a:xfrm>
            <a:off x="217755" y="2873828"/>
            <a:ext cx="8823035" cy="381477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ja-JP" sz="1400">
                <a:solidFill>
                  <a:srgbClr val="000000"/>
                </a:solidFill>
                <a:latin typeface="Arial" panose="020B0604020202020204" pitchFamily="34" charset="0"/>
                <a:ea typeface="-webkit-standard"/>
              </a:rPr>
              <a:t>"timeline_ja": [ </a:t>
            </a:r>
            <a:endParaRPr lang="en-US" altLang="ja-JP" sz="1400" dirty="0">
              <a:solidFill>
                <a:srgbClr val="000000"/>
              </a:solidFill>
              <a:latin typeface="Arial" panose="020B0604020202020204" pitchFamily="34" charset="0"/>
              <a:ea typeface="-webkit-standard"/>
            </a:endParaRPr>
          </a:p>
          <a:p>
            <a:r>
              <a:rPr lang="en-US" altLang="ja-JP" sz="1400" dirty="0">
                <a:solidFill>
                  <a:srgbClr val="000000"/>
                </a:solidFill>
                <a:latin typeface="Arial" panose="020B0604020202020204" pitchFamily="34" charset="0"/>
                <a:ea typeface="-webkit-standard"/>
              </a:rPr>
              <a:t> </a:t>
            </a:r>
            <a:r>
              <a:rPr lang="ja-JP" altLang="ja-JP" sz="1400">
                <a:solidFill>
                  <a:srgbClr val="000000"/>
                </a:solidFill>
                <a:latin typeface="Arial" panose="020B0604020202020204" pitchFamily="34" charset="0"/>
                <a:ea typeface="-webkit-standard"/>
              </a:rPr>
              <a:t>"1. [2022-07-16 15:07:46 付近 / ユーザー: WIN-32-H1\\aalsahee]</a:t>
            </a:r>
            <a:endParaRPr lang="en-US" altLang="ja-JP" sz="1400" dirty="0">
              <a:solidFill>
                <a:srgbClr val="000000"/>
              </a:solidFill>
              <a:latin typeface="Arial" panose="020B0604020202020204" pitchFamily="34" charset="0"/>
              <a:ea typeface="-webkit-standard"/>
            </a:endParaRPr>
          </a:p>
          <a:p>
            <a:r>
              <a:rPr lang="ja-JP" altLang="ja-JP" sz="1400">
                <a:solidFill>
                  <a:srgbClr val="000000"/>
                </a:solidFill>
                <a:latin typeface="Arial" panose="020B0604020202020204" pitchFamily="34" charset="0"/>
                <a:ea typeface="-webkit-standard"/>
              </a:rPr>
              <a:t> </a:t>
            </a:r>
            <a:r>
              <a:rPr lang="ja-JP" altLang="ja-JP" sz="1400" b="1">
                <a:solidFill>
                  <a:srgbClr val="FF0000"/>
                </a:solidFill>
                <a:latin typeface="Arial" panose="020B0604020202020204" pitchFamily="34" charset="0"/>
                <a:ea typeface="-webkit-standard"/>
              </a:rPr>
              <a:t>Discord.exe </a:t>
            </a:r>
            <a:r>
              <a:rPr lang="ja-JP" altLang="ja-JP" sz="1400" b="1">
                <a:solidFill>
                  <a:srgbClr val="000000"/>
                </a:solidFill>
                <a:latin typeface="Arial" panose="020B0604020202020204" pitchFamily="34" charset="0"/>
                <a:ea typeface="-webkit-standard"/>
              </a:rPr>
              <a:t>は</a:t>
            </a:r>
            <a:r>
              <a:rPr lang="ja-JP" altLang="ja-JP" sz="1400">
                <a:solidFill>
                  <a:srgbClr val="000000"/>
                </a:solidFill>
                <a:latin typeface="Arial" panose="020B0604020202020204" pitchFamily="34" charset="0"/>
                <a:ea typeface="-webkit-standard"/>
              </a:rPr>
              <a:t>初回起動または更新処理を示す \"--squirrel-firstrun\" の文脈で動作し、その流れの中で </a:t>
            </a:r>
            <a:r>
              <a:rPr lang="ja-JP" altLang="ja-JP" sz="1400" b="1">
                <a:solidFill>
                  <a:srgbClr val="FF0000"/>
                </a:solidFill>
                <a:latin typeface="Arial" panose="020B0604020202020204" pitchFamily="34" charset="0"/>
                <a:ea typeface="-webkit-standard"/>
              </a:rPr>
              <a:t>reg.exe を子プロセスとして呼び出した</a:t>
            </a:r>
            <a:r>
              <a:rPr lang="ja-JP" altLang="ja-JP" sz="1400" b="1">
                <a:solidFill>
                  <a:srgbClr val="000000"/>
                </a:solidFill>
                <a:latin typeface="Arial" panose="020B0604020202020204" pitchFamily="34" charset="0"/>
                <a:ea typeface="-webkit-standard"/>
              </a:rPr>
              <a:t>。</a:t>
            </a:r>
            <a:r>
              <a:rPr lang="ja-JP" altLang="ja-JP" sz="1400">
                <a:solidFill>
                  <a:srgbClr val="000000"/>
                </a:solidFill>
                <a:latin typeface="Arial" panose="020B0604020202020204" pitchFamily="34" charset="0"/>
                <a:ea typeface="-webkit-standard"/>
              </a:rPr>
              <a:t>",</a:t>
            </a:r>
            <a:endParaRPr lang="en-US" altLang="ja-JP" sz="1400" dirty="0">
              <a:solidFill>
                <a:srgbClr val="000000"/>
              </a:solidFill>
              <a:latin typeface="Arial" panose="020B0604020202020204" pitchFamily="34" charset="0"/>
              <a:ea typeface="-webkit-standard"/>
            </a:endParaRPr>
          </a:p>
          <a:p>
            <a:endParaRPr lang="en-US" altLang="ja-JP" sz="1400" dirty="0">
              <a:solidFill>
                <a:srgbClr val="000000"/>
              </a:solidFill>
              <a:latin typeface="Arial" panose="020B0604020202020204" pitchFamily="34" charset="0"/>
              <a:ea typeface="-webkit-standard"/>
            </a:endParaRPr>
          </a:p>
          <a:p>
            <a:r>
              <a:rPr lang="ja-JP" altLang="ja-JP" sz="1400">
                <a:solidFill>
                  <a:srgbClr val="000000"/>
                </a:solidFill>
                <a:latin typeface="Arial" panose="020B0604020202020204" pitchFamily="34" charset="0"/>
                <a:ea typeface="-webkit-standard"/>
              </a:rPr>
              <a:t> "2. [2022-07-16 15:07:46 付近 / ユーザー: WIN-32-H1\\aalsahee] </a:t>
            </a:r>
            <a:endParaRPr lang="en-US" altLang="ja-JP" sz="1400" dirty="0">
              <a:solidFill>
                <a:srgbClr val="000000"/>
              </a:solidFill>
              <a:latin typeface="Arial" panose="020B0604020202020204" pitchFamily="34" charset="0"/>
              <a:ea typeface="-webkit-standard"/>
            </a:endParaRPr>
          </a:p>
          <a:p>
            <a:r>
              <a:rPr lang="ja-JP" altLang="ja-JP" sz="1400">
                <a:solidFill>
                  <a:srgbClr val="000000"/>
                </a:solidFill>
                <a:latin typeface="Arial" panose="020B0604020202020204" pitchFamily="34" charset="0"/>
                <a:ea typeface="-webkit-standard"/>
              </a:rPr>
              <a:t>Discord.exe から起動された </a:t>
            </a:r>
            <a:r>
              <a:rPr lang="ja-JP" altLang="ja-JP" sz="1400" b="1">
                <a:solidFill>
                  <a:srgbClr val="FF0000"/>
                </a:solidFill>
                <a:latin typeface="Arial" panose="020B0604020202020204" pitchFamily="34" charset="0"/>
                <a:ea typeface="-webkit-standard"/>
              </a:rPr>
              <a:t>reg.exe </a:t>
            </a:r>
            <a:r>
              <a:rPr lang="ja-JP" altLang="ja-JP" sz="1400" b="1">
                <a:solidFill>
                  <a:srgbClr val="000000"/>
                </a:solidFill>
                <a:latin typeface="Arial" panose="020B0604020202020204" pitchFamily="34" charset="0"/>
                <a:ea typeface="-webkit-standard"/>
              </a:rPr>
              <a:t>は</a:t>
            </a:r>
            <a:r>
              <a:rPr lang="ja-JP" altLang="ja-JP" sz="1400">
                <a:solidFill>
                  <a:srgbClr val="000000"/>
                </a:solidFill>
                <a:latin typeface="Arial" panose="020B0604020202020204" pitchFamily="34" charset="0"/>
                <a:ea typeface="-webkit-standard"/>
              </a:rPr>
              <a:t>、C:\\Windows\\System32\\reg.exe query HKCU\\Software\\Microsoft\\Windows\\CurrentVersion\\Run /v Discord を実行し、</a:t>
            </a:r>
            <a:r>
              <a:rPr lang="ja-JP" altLang="ja-JP" sz="1400" b="1">
                <a:solidFill>
                  <a:srgbClr val="FF0000"/>
                </a:solidFill>
                <a:latin typeface="Arial" panose="020B0604020202020204" pitchFamily="34" charset="0"/>
                <a:ea typeface="-webkit-standard"/>
              </a:rPr>
              <a:t>現在ユーザーの Run key にある Discord 値を照会した。</a:t>
            </a:r>
            <a:r>
              <a:rPr lang="ja-JP" altLang="ja-JP" sz="1400">
                <a:solidFill>
                  <a:srgbClr val="FF0000"/>
                </a:solidFill>
                <a:latin typeface="Arial" panose="020B0604020202020204" pitchFamily="34" charset="0"/>
                <a:ea typeface="-webkit-standard"/>
              </a:rPr>
              <a:t>",</a:t>
            </a:r>
            <a:endParaRPr lang="en-US" altLang="ja-JP" sz="1400" dirty="0">
              <a:solidFill>
                <a:srgbClr val="FF0000"/>
              </a:solidFill>
              <a:latin typeface="Arial" panose="020B0604020202020204" pitchFamily="34" charset="0"/>
              <a:ea typeface="-webkit-standard"/>
            </a:endParaRPr>
          </a:p>
          <a:p>
            <a:endParaRPr lang="en-US" altLang="ja-JP" sz="1400" dirty="0">
              <a:solidFill>
                <a:srgbClr val="000000"/>
              </a:solidFill>
              <a:latin typeface="Arial" panose="020B0604020202020204" pitchFamily="34" charset="0"/>
              <a:ea typeface="-webkit-standard"/>
            </a:endParaRPr>
          </a:p>
          <a:p>
            <a:r>
              <a:rPr lang="ja-JP" altLang="ja-JP" sz="1400">
                <a:solidFill>
                  <a:srgbClr val="000000"/>
                </a:solidFill>
                <a:latin typeface="Arial" panose="020B0604020202020204" pitchFamily="34" charset="0"/>
                <a:ea typeface="-webkit-standard"/>
              </a:rPr>
              <a:t> "3. [2022-07-16 15:07:46 付近 / ユーザー: WIN-32-H1\\aalsahee]</a:t>
            </a:r>
            <a:endParaRPr lang="en-US" altLang="ja-JP" sz="1400" dirty="0">
              <a:solidFill>
                <a:srgbClr val="000000"/>
              </a:solidFill>
              <a:latin typeface="Arial" panose="020B0604020202020204" pitchFamily="34" charset="0"/>
              <a:ea typeface="-webkit-standard"/>
            </a:endParaRPr>
          </a:p>
          <a:p>
            <a:r>
              <a:rPr lang="ja-JP" altLang="ja-JP" sz="1400">
                <a:solidFill>
                  <a:srgbClr val="000000"/>
                </a:solidFill>
                <a:latin typeface="Arial" panose="020B0604020202020204" pitchFamily="34" charset="0"/>
                <a:ea typeface="-webkit-standard"/>
              </a:rPr>
              <a:t> 同じ Discord 関連のエピソード内で、</a:t>
            </a:r>
            <a:r>
              <a:rPr lang="ja-JP" altLang="ja-JP" sz="1400" b="1">
                <a:solidFill>
                  <a:srgbClr val="FF0000"/>
                </a:solidFill>
                <a:latin typeface="Arial" panose="020B0604020202020204" pitchFamily="34" charset="0"/>
                <a:ea typeface="-webkit-standard"/>
              </a:rPr>
              <a:t>Run key の Discord 値は </a:t>
            </a:r>
            <a:r>
              <a:rPr lang="ja-JP" altLang="ja-JP" sz="1400">
                <a:solidFill>
                  <a:srgbClr val="000000"/>
                </a:solidFill>
                <a:latin typeface="Arial" panose="020B0604020202020204" pitchFamily="34" charset="0"/>
                <a:ea typeface="-webkit-standard"/>
              </a:rPr>
              <a:t>C:\\Users\\aalsahee\\AppData\\Local\\Discord\\Update.exe --processStart Discord.exe に</a:t>
            </a:r>
            <a:r>
              <a:rPr lang="ja-JP" altLang="ja-JP" sz="1400" b="1">
                <a:solidFill>
                  <a:srgbClr val="FF0000"/>
                </a:solidFill>
                <a:latin typeface="Arial" panose="020B0604020202020204" pitchFamily="34" charset="0"/>
                <a:ea typeface="-webkit-standard"/>
              </a:rPr>
              <a:t>関連する自動起動設定として追加または更新された可能性がある。</a:t>
            </a:r>
            <a:r>
              <a:rPr lang="ja-JP" altLang="ja-JP" sz="1400">
                <a:solidFill>
                  <a:srgbClr val="FF0000"/>
                </a:solidFill>
                <a:latin typeface="Arial" panose="020B0604020202020204" pitchFamily="34" charset="0"/>
                <a:ea typeface="-webkit-standard"/>
              </a:rPr>
              <a:t>", </a:t>
            </a:r>
            <a:endParaRPr lang="en-US" altLang="ja-JP" sz="1400" dirty="0">
              <a:solidFill>
                <a:srgbClr val="FF0000"/>
              </a:solidFill>
              <a:latin typeface="Arial" panose="020B0604020202020204" pitchFamily="34" charset="0"/>
              <a:ea typeface="-webkit-standard"/>
            </a:endParaRPr>
          </a:p>
        </p:txBody>
      </p:sp>
      <p:sp>
        <p:nvSpPr>
          <p:cNvPr id="3" name="テキスト ボックス 2">
            <a:extLst>
              <a:ext uri="{FF2B5EF4-FFF2-40B4-BE49-F238E27FC236}">
                <a16:creationId xmlns:a16="http://schemas.microsoft.com/office/drawing/2014/main" id="{39A30B00-577F-AF90-290A-85E1BEFDBE94}"/>
              </a:ext>
            </a:extLst>
          </p:cNvPr>
          <p:cNvSpPr txBox="1"/>
          <p:nvPr/>
        </p:nvSpPr>
        <p:spPr>
          <a:xfrm>
            <a:off x="217755" y="2389572"/>
            <a:ext cx="8249566" cy="369332"/>
          </a:xfrm>
          <a:prstGeom prst="rect">
            <a:avLst/>
          </a:prstGeom>
          <a:noFill/>
        </p:spPr>
        <p:txBody>
          <a:bodyPr wrap="none" rtlCol="0">
            <a:spAutoFit/>
          </a:bodyPr>
          <a:lstStyle/>
          <a:p>
            <a:pPr algn="l"/>
            <a:r>
              <a:rPr kumimoji="1" lang="ja-JP" altLang="en-US">
                <a:cs typeface="Arial" panose="020B0604020202020204" pitchFamily="34" charset="0"/>
              </a:rPr>
              <a:t>行動列の出力例：</a:t>
            </a:r>
            <a:r>
              <a:rPr kumimoji="1" lang="en-US" altLang="ja-JP" dirty="0">
                <a:cs typeface="Arial" panose="020B0604020202020204" pitchFamily="34" charset="0"/>
              </a:rPr>
              <a:t>Discord</a:t>
            </a:r>
            <a:r>
              <a:rPr kumimoji="1" lang="ja-JP" altLang="en-US">
                <a:cs typeface="Arial" panose="020B0604020202020204" pitchFamily="34" charset="0"/>
              </a:rPr>
              <a:t>をインストールした際の行動列</a:t>
            </a:r>
            <a:r>
              <a:rPr kumimoji="1" lang="en-US" altLang="ja-JP" dirty="0">
                <a:cs typeface="Arial" panose="020B0604020202020204" pitchFamily="34" charset="0"/>
              </a:rPr>
              <a:t>  </a:t>
            </a:r>
            <a:r>
              <a:rPr kumimoji="1" lang="ja-JP" altLang="en-US">
                <a:cs typeface="Arial" panose="020B0604020202020204" pitchFamily="34" charset="0"/>
              </a:rPr>
              <a:t>　入力</a:t>
            </a:r>
            <a:r>
              <a:rPr kumimoji="1" lang="en-US" altLang="ja-JP" dirty="0">
                <a:cs typeface="Arial" panose="020B0604020202020204" pitchFamily="34" charset="0"/>
              </a:rPr>
              <a:t>:</a:t>
            </a:r>
            <a:r>
              <a:rPr kumimoji="1" lang="en-US" altLang="ja-JP" dirty="0" err="1">
                <a:cs typeface="Arial" panose="020B0604020202020204" pitchFamily="34" charset="0"/>
              </a:rPr>
              <a:t>reg.exe</a:t>
            </a:r>
            <a:r>
              <a:rPr kumimoji="1" lang="en-US" altLang="ja-JP" dirty="0">
                <a:cs typeface="Arial" panose="020B0604020202020204" pitchFamily="34" charset="0"/>
              </a:rPr>
              <a:t>+</a:t>
            </a:r>
            <a:r>
              <a:rPr kumimoji="1" lang="ja-JP" altLang="en-US">
                <a:cs typeface="Arial" panose="020B0604020202020204" pitchFamily="34" charset="0"/>
              </a:rPr>
              <a:t>時間</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700196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058F-6E69-99E9-724F-52752D9AA570}"/>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762ECCA3-81F1-EEDB-E1EF-145181E25A00}"/>
              </a:ext>
            </a:extLst>
          </p:cNvPr>
          <p:cNvSpPr>
            <a:spLocks noGrp="1"/>
          </p:cNvSpPr>
          <p:nvPr>
            <p:ph type="title"/>
          </p:nvPr>
        </p:nvSpPr>
        <p:spPr>
          <a:xfrm>
            <a:off x="217755" y="13766"/>
            <a:ext cx="7886700" cy="626133"/>
          </a:xfrm>
        </p:spPr>
        <p:txBody>
          <a:bodyPr>
            <a:normAutofit/>
          </a:bodyPr>
          <a:lstStyle/>
          <a:p>
            <a:r>
              <a:rPr lang="ja-JP" altLang="en-US"/>
              <a:t>問題設定　出力</a:t>
            </a:r>
            <a:endParaRPr lang="en-US" dirty="0"/>
          </a:p>
        </p:txBody>
      </p:sp>
      <p:sp>
        <p:nvSpPr>
          <p:cNvPr id="4" name="スライド番号プレースホルダー 3">
            <a:extLst>
              <a:ext uri="{FF2B5EF4-FFF2-40B4-BE49-F238E27FC236}">
                <a16:creationId xmlns:a16="http://schemas.microsoft.com/office/drawing/2014/main" id="{C5DC7724-A03F-2219-042F-DDB52E2ABF51}"/>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10</a:t>
            </a:fld>
            <a:endParaRPr lang="en-US"/>
          </a:p>
        </p:txBody>
      </p:sp>
      <p:sp>
        <p:nvSpPr>
          <p:cNvPr id="6" name="テキスト ボックス 5">
            <a:extLst>
              <a:ext uri="{FF2B5EF4-FFF2-40B4-BE49-F238E27FC236}">
                <a16:creationId xmlns:a16="http://schemas.microsoft.com/office/drawing/2014/main" id="{BEE1E511-AE44-FE56-3CB4-4DD81C18B5E4}"/>
              </a:ext>
            </a:extLst>
          </p:cNvPr>
          <p:cNvSpPr txBox="1"/>
          <p:nvPr/>
        </p:nvSpPr>
        <p:spPr>
          <a:xfrm>
            <a:off x="0" y="639899"/>
            <a:ext cx="9040790" cy="923330"/>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ja-JP" altLang="en-US">
                <a:solidFill>
                  <a:srgbClr val="000000"/>
                </a:solidFill>
                <a:latin typeface="Arial" panose="020B0604020202020204" pitchFamily="34" charset="0"/>
              </a:rPr>
              <a:t>行動列を構成する行動ステップの定義</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ja-JP" altLang="en-US">
                <a:solidFill>
                  <a:srgbClr val="000000"/>
                </a:solidFill>
                <a:latin typeface="Arial" panose="020B0604020202020204" pitchFamily="34" charset="0"/>
              </a:rPr>
              <a:t>行動ステップは「主体」「行動」「対象」「証跡」の</a:t>
            </a:r>
            <a:r>
              <a:rPr lang="en-US" altLang="ja-JP" dirty="0">
                <a:solidFill>
                  <a:srgbClr val="000000"/>
                </a:solidFill>
                <a:latin typeface="Arial" panose="020B0604020202020204" pitchFamily="34" charset="0"/>
              </a:rPr>
              <a:t>4</a:t>
            </a:r>
            <a:r>
              <a:rPr lang="ja-JP" altLang="en-US">
                <a:solidFill>
                  <a:srgbClr val="000000"/>
                </a:solidFill>
                <a:latin typeface="Arial" panose="020B0604020202020204" pitchFamily="34" charset="0"/>
              </a:rPr>
              <a:t>つの要素で構成される</a:t>
            </a:r>
            <a:endParaRPr lang="ja-JP" altLang="ja-JP">
              <a:latin typeface="Arial" panose="020B0604020202020204" pitchFamily="34" charset="0"/>
            </a:endParaRPr>
          </a:p>
          <a:p>
            <a:pPr algn="l"/>
            <a:endParaRPr kumimoji="1" lang="ja-JP" altLang="en-US" dirty="0">
              <a:cs typeface="Arial" panose="020B0604020202020204" pitchFamily="34" charset="0"/>
            </a:endParaRPr>
          </a:p>
        </p:txBody>
      </p:sp>
      <p:sp>
        <p:nvSpPr>
          <p:cNvPr id="11" name="正方形/長方形 10">
            <a:extLst>
              <a:ext uri="{FF2B5EF4-FFF2-40B4-BE49-F238E27FC236}">
                <a16:creationId xmlns:a16="http://schemas.microsoft.com/office/drawing/2014/main" id="{BA9CCEA7-E987-4046-BD35-8B1E1B1D5EDE}"/>
              </a:ext>
            </a:extLst>
          </p:cNvPr>
          <p:cNvSpPr/>
          <p:nvPr/>
        </p:nvSpPr>
        <p:spPr>
          <a:xfrm>
            <a:off x="396638" y="1882865"/>
            <a:ext cx="8350724" cy="483673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ct val="0"/>
              </a:spcAft>
            </a:pPr>
            <a:r>
              <a:rPr lang="ja-JP" altLang="ja-JP">
                <a:solidFill>
                  <a:srgbClr val="000000"/>
                </a:solidFill>
                <a:latin typeface="Arial" panose="020B0604020202020204" pitchFamily="34" charset="0"/>
                <a:ea typeface="-webkit-standard"/>
              </a:rPr>
              <a:t>{ "order": 1,</a:t>
            </a:r>
            <a:endParaRPr lang="en-US" altLang="ja-JP"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a:solidFill>
                  <a:srgbClr val="000000"/>
                </a:solidFill>
                <a:latin typeface="Arial" panose="020B0604020202020204" pitchFamily="34" charset="0"/>
                <a:ea typeface="-webkit-standard"/>
              </a:rPr>
              <a:t> "type": "実行文脈", </a:t>
            </a:r>
            <a:endParaRPr lang="en-US" altLang="ja-JP"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a:solidFill>
                  <a:srgbClr val="000000"/>
                </a:solidFill>
                <a:latin typeface="Arial" panose="020B0604020202020204" pitchFamily="34" charset="0"/>
                <a:ea typeface="-webkit-standard"/>
              </a:rPr>
              <a:t>"step_summary_ja": "Discord.exe が動作している。", </a:t>
            </a:r>
            <a:endParaRPr lang="en-US" altLang="ja-JP" dirty="0">
              <a:solidFill>
                <a:srgbClr val="000000"/>
              </a:solidFill>
              <a:latin typeface="Arial" panose="020B0604020202020204" pitchFamily="34" charset="0"/>
              <a:ea typeface="-webkit-standard"/>
            </a:endParaRPr>
          </a:p>
          <a:p>
            <a:pPr defTabSz="914400" eaLnBrk="0" fontAlgn="base" hangingPunct="0">
              <a:spcBef>
                <a:spcPct val="0"/>
              </a:spcBef>
              <a:spcAft>
                <a:spcPct val="0"/>
              </a:spcAft>
            </a:pPr>
            <a:r>
              <a:rPr lang="en-US" altLang="ja-JP" b="1" dirty="0">
                <a:solidFill>
                  <a:srgbClr val="FF0000"/>
                </a:solidFill>
                <a:latin typeface="Arial" panose="020B0604020202020204" pitchFamily="34" charset="0"/>
                <a:ea typeface="-webkit-standard"/>
              </a:rPr>
              <a:t>(</a:t>
            </a:r>
            <a:r>
              <a:rPr lang="ja-JP" altLang="en-US" b="1">
                <a:solidFill>
                  <a:srgbClr val="FF0000"/>
                </a:solidFill>
                <a:latin typeface="Arial" panose="020B0604020202020204" pitchFamily="34" charset="0"/>
                <a:ea typeface="-webkit-standard"/>
              </a:rPr>
              <a:t>主体</a:t>
            </a:r>
            <a:r>
              <a:rPr lang="en-US" altLang="ja-JP" b="1" dirty="0">
                <a:solidFill>
                  <a:srgbClr val="FF0000"/>
                </a:solidFill>
                <a:latin typeface="Arial" panose="020B0604020202020204" pitchFamily="34" charset="0"/>
                <a:ea typeface="-webkit-standard"/>
              </a:rPr>
              <a:t>)</a:t>
            </a:r>
            <a:endParaRPr lang="en-US" altLang="ja-JP"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b="1">
                <a:solidFill>
                  <a:schemeClr val="tx1"/>
                </a:solidFill>
                <a:latin typeface="Arial" panose="020B0604020202020204" pitchFamily="34" charset="0"/>
                <a:ea typeface="-webkit-standard"/>
              </a:rPr>
              <a:t>"subject": { "process_name": "Discord.exe", "role": "親プロセス" },</a:t>
            </a:r>
            <a:endParaRPr lang="en-US" altLang="ja-JP" b="1" dirty="0">
              <a:solidFill>
                <a:schemeClr val="tx1"/>
              </a:solidFill>
              <a:latin typeface="Arial" panose="020B0604020202020204" pitchFamily="34" charset="0"/>
              <a:ea typeface="-webkit-standard"/>
            </a:endParaRPr>
          </a:p>
          <a:p>
            <a:pPr lvl="0" defTabSz="914400" eaLnBrk="0" fontAlgn="base" hangingPunct="0">
              <a:spcBef>
                <a:spcPct val="0"/>
              </a:spcBef>
              <a:spcAft>
                <a:spcPct val="0"/>
              </a:spcAft>
            </a:pPr>
            <a:r>
              <a:rPr lang="en-US" altLang="ja-JP" b="1" dirty="0">
                <a:solidFill>
                  <a:srgbClr val="FF0000"/>
                </a:solidFill>
                <a:latin typeface="Arial" panose="020B0604020202020204" pitchFamily="34" charset="0"/>
                <a:ea typeface="-webkit-standard"/>
              </a:rPr>
              <a:t>(</a:t>
            </a:r>
            <a:r>
              <a:rPr lang="ja-JP" altLang="en-US" b="1">
                <a:solidFill>
                  <a:srgbClr val="FF0000"/>
                </a:solidFill>
                <a:latin typeface="Arial" panose="020B0604020202020204" pitchFamily="34" charset="0"/>
                <a:ea typeface="-webkit-standard"/>
              </a:rPr>
              <a:t>行動</a:t>
            </a:r>
            <a:r>
              <a:rPr lang="en-US" altLang="ja-JP" b="1" dirty="0">
                <a:solidFill>
                  <a:srgbClr val="FF0000"/>
                </a:solidFill>
                <a:latin typeface="Arial" panose="020B0604020202020204" pitchFamily="34" charset="0"/>
                <a:ea typeface="-webkit-standard"/>
              </a:rPr>
              <a:t>)</a:t>
            </a:r>
          </a:p>
          <a:p>
            <a:pPr lvl="0" defTabSz="914400" eaLnBrk="0" fontAlgn="base" hangingPunct="0">
              <a:spcBef>
                <a:spcPct val="0"/>
              </a:spcBef>
              <a:spcAft>
                <a:spcPct val="0"/>
              </a:spcAft>
            </a:pPr>
            <a:r>
              <a:rPr lang="ja-JP" altLang="ja-JP" b="1">
                <a:solidFill>
                  <a:schemeClr val="tx1"/>
                </a:solidFill>
                <a:latin typeface="Arial" panose="020B0604020202020204" pitchFamily="34" charset="0"/>
                <a:ea typeface="-webkit-standard"/>
              </a:rPr>
              <a:t>"relation": "後続の reg.exe 実行の親プロセスとして観測された",</a:t>
            </a:r>
            <a:endParaRPr lang="en-US" altLang="ja-JP" b="1" dirty="0">
              <a:solidFill>
                <a:schemeClr val="tx1"/>
              </a:solidFill>
              <a:latin typeface="Arial" panose="020B0604020202020204" pitchFamily="34" charset="0"/>
              <a:ea typeface="-webkit-standard"/>
            </a:endParaRPr>
          </a:p>
          <a:p>
            <a:pPr lvl="0" defTabSz="914400" eaLnBrk="0" fontAlgn="base" hangingPunct="0">
              <a:spcBef>
                <a:spcPct val="0"/>
              </a:spcBef>
              <a:spcAft>
                <a:spcPct val="0"/>
              </a:spcAft>
            </a:pPr>
            <a:r>
              <a:rPr lang="en-US" altLang="ja-JP" b="1" dirty="0">
                <a:solidFill>
                  <a:srgbClr val="FF0000"/>
                </a:solidFill>
                <a:latin typeface="Arial" panose="020B0604020202020204" pitchFamily="34" charset="0"/>
                <a:ea typeface="-webkit-standard"/>
              </a:rPr>
              <a:t>(</a:t>
            </a:r>
            <a:r>
              <a:rPr lang="ja-JP" altLang="en-US" b="1">
                <a:solidFill>
                  <a:srgbClr val="FF0000"/>
                </a:solidFill>
                <a:latin typeface="Arial" panose="020B0604020202020204" pitchFamily="34" charset="0"/>
                <a:ea typeface="-webkit-standard"/>
              </a:rPr>
              <a:t>対象</a:t>
            </a:r>
            <a:r>
              <a:rPr lang="en-US" altLang="ja-JP" b="1" dirty="0">
                <a:solidFill>
                  <a:srgbClr val="FF0000"/>
                </a:solidFill>
                <a:latin typeface="Arial" panose="020B0604020202020204" pitchFamily="34" charset="0"/>
                <a:ea typeface="-webkit-standard"/>
              </a:rPr>
              <a:t>)</a:t>
            </a:r>
          </a:p>
          <a:p>
            <a:pPr lvl="0" defTabSz="914400" eaLnBrk="0" fontAlgn="base" hangingPunct="0">
              <a:spcBef>
                <a:spcPct val="0"/>
              </a:spcBef>
              <a:spcAft>
                <a:spcPct val="0"/>
              </a:spcAft>
            </a:pPr>
            <a:r>
              <a:rPr lang="ja-JP" altLang="ja-JP" b="1">
                <a:solidFill>
                  <a:schemeClr val="tx1"/>
                </a:solidFill>
                <a:latin typeface="Arial" panose="020B0604020202020204" pitchFamily="34" charset="0"/>
                <a:ea typeface="-webkit-standard"/>
              </a:rPr>
              <a:t>"object": { "kind": "process", "value": "reg.exe" }, </a:t>
            </a:r>
            <a:endParaRPr lang="en-US" altLang="ja-JP" b="1" dirty="0">
              <a:solidFill>
                <a:schemeClr val="tx1"/>
              </a:solidFill>
              <a:latin typeface="Arial" panose="020B0604020202020204" pitchFamily="34" charset="0"/>
              <a:ea typeface="-webkit-standard"/>
            </a:endParaRPr>
          </a:p>
          <a:p>
            <a:pPr lvl="0" defTabSz="914400" eaLnBrk="0" fontAlgn="base" hangingPunct="0">
              <a:spcBef>
                <a:spcPct val="0"/>
              </a:spcBef>
              <a:spcAft>
                <a:spcPct val="0"/>
              </a:spcAft>
            </a:pPr>
            <a:endParaRPr lang="en-US" altLang="ja-JP" b="1"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en-US" altLang="ja-JP" b="1" dirty="0">
                <a:solidFill>
                  <a:srgbClr val="FF0000"/>
                </a:solidFill>
                <a:latin typeface="Arial" panose="020B0604020202020204" pitchFamily="34" charset="0"/>
                <a:ea typeface="-webkit-standard"/>
              </a:rPr>
              <a:t>(</a:t>
            </a:r>
            <a:r>
              <a:rPr lang="ja-JP" altLang="en-US" b="1">
                <a:solidFill>
                  <a:srgbClr val="FF0000"/>
                </a:solidFill>
                <a:latin typeface="Arial" panose="020B0604020202020204" pitchFamily="34" charset="0"/>
                <a:ea typeface="-webkit-standard"/>
              </a:rPr>
              <a:t>証跡</a:t>
            </a:r>
            <a:r>
              <a:rPr lang="en-US" altLang="ja-JP" b="1" dirty="0">
                <a:solidFill>
                  <a:srgbClr val="FF0000"/>
                </a:solidFill>
                <a:latin typeface="Arial" panose="020B0604020202020204" pitchFamily="34" charset="0"/>
                <a:ea typeface="-webkit-standard"/>
              </a:rPr>
              <a:t>)</a:t>
            </a:r>
          </a:p>
          <a:p>
            <a:pPr lvl="0" defTabSz="914400" eaLnBrk="0" fontAlgn="base" hangingPunct="0">
              <a:spcBef>
                <a:spcPct val="0"/>
              </a:spcBef>
              <a:spcAft>
                <a:spcPct val="0"/>
              </a:spcAft>
            </a:pPr>
            <a:r>
              <a:rPr lang="ja-JP" altLang="ja-JP" b="1">
                <a:solidFill>
                  <a:srgbClr val="000000"/>
                </a:solidFill>
                <a:latin typeface="Arial" panose="020B0604020202020204" pitchFamily="34" charset="0"/>
                <a:ea typeface="-webkit-standard"/>
              </a:rPr>
              <a:t>"evidence": </a:t>
            </a:r>
            <a:endParaRPr lang="en-US" altLang="ja-JP" b="1"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b="1">
                <a:solidFill>
                  <a:srgbClr val="000000"/>
                </a:solidFill>
                <a:latin typeface="Arial" panose="020B0604020202020204" pitchFamily="34" charset="0"/>
                <a:ea typeface="-webkit-standard"/>
              </a:rPr>
              <a:t>{ "source_stream": "cbc-edr-alerts", </a:t>
            </a:r>
            <a:endParaRPr lang="en-US" altLang="ja-JP" b="1"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b="1">
                <a:solidFill>
                  <a:srgbClr val="000000"/>
                </a:solidFill>
                <a:latin typeface="Arial" panose="020B0604020202020204" pitchFamily="34" charset="0"/>
                <a:ea typeface="-webkit-standard"/>
              </a:rPr>
              <a:t>"timestamp": "2022-07-16 15:07:46", </a:t>
            </a:r>
            <a:endParaRPr lang="en-US" altLang="ja-JP" b="1"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b="1">
                <a:solidFill>
                  <a:srgbClr val="000000"/>
                </a:solidFill>
                <a:latin typeface="Arial" panose="020B0604020202020204" pitchFamily="34" charset="0"/>
                <a:ea typeface="-webkit-standard"/>
              </a:rPr>
              <a:t>"field": "parent_cmdline", </a:t>
            </a:r>
            <a:endParaRPr lang="en-US" altLang="ja-JP" b="1" dirty="0">
              <a:solidFill>
                <a:srgbClr val="000000"/>
              </a:solidFill>
              <a:latin typeface="Arial" panose="020B0604020202020204" pitchFamily="34" charset="0"/>
              <a:ea typeface="-webkit-standard"/>
            </a:endParaRPr>
          </a:p>
          <a:p>
            <a:pPr lvl="0" defTabSz="914400" eaLnBrk="0" fontAlgn="base" hangingPunct="0">
              <a:spcBef>
                <a:spcPct val="0"/>
              </a:spcBef>
              <a:spcAft>
                <a:spcPct val="0"/>
              </a:spcAft>
            </a:pPr>
            <a:r>
              <a:rPr lang="ja-JP" altLang="ja-JP" b="1">
                <a:solidFill>
                  <a:srgbClr val="000000"/>
                </a:solidFill>
                <a:latin typeface="Arial" panose="020B0604020202020204" pitchFamily="34" charset="0"/>
                <a:ea typeface="-webkit-standard"/>
              </a:rPr>
              <a:t>"value": "Discord.exe --squirrel-firstrun" } }</a:t>
            </a:r>
            <a:endParaRPr lang="ja-JP" altLang="ja-JP" b="1">
              <a:solidFill>
                <a:schemeClr val="tx1"/>
              </a:solidFill>
              <a:latin typeface="Arial" panose="020B0604020202020204" pitchFamily="34" charset="0"/>
            </a:endParaRPr>
          </a:p>
        </p:txBody>
      </p:sp>
      <p:sp>
        <p:nvSpPr>
          <p:cNvPr id="13" name="テキスト ボックス 12">
            <a:extLst>
              <a:ext uri="{FF2B5EF4-FFF2-40B4-BE49-F238E27FC236}">
                <a16:creationId xmlns:a16="http://schemas.microsoft.com/office/drawing/2014/main" id="{16FC6397-03AE-FAD9-025A-C3C44F746ADA}"/>
              </a:ext>
            </a:extLst>
          </p:cNvPr>
          <p:cNvSpPr txBox="1"/>
          <p:nvPr/>
        </p:nvSpPr>
        <p:spPr>
          <a:xfrm>
            <a:off x="396638" y="1513533"/>
            <a:ext cx="6463629" cy="369332"/>
          </a:xfrm>
          <a:prstGeom prst="rect">
            <a:avLst/>
          </a:prstGeom>
          <a:noFill/>
        </p:spPr>
        <p:txBody>
          <a:bodyPr wrap="none" rtlCol="0">
            <a:spAutoFit/>
          </a:bodyPr>
          <a:lstStyle/>
          <a:p>
            <a:pPr algn="l"/>
            <a:r>
              <a:rPr kumimoji="1" lang="ja-JP" altLang="en-US">
                <a:cs typeface="Arial" panose="020B0604020202020204" pitchFamily="34" charset="0"/>
              </a:rPr>
              <a:t>行動ステップの出力例：</a:t>
            </a:r>
            <a:r>
              <a:rPr kumimoji="1" lang="en-US" altLang="ja-JP" dirty="0" err="1">
                <a:cs typeface="Arial" panose="020B0604020202020204" pitchFamily="34" charset="0"/>
              </a:rPr>
              <a:t>reg.exe</a:t>
            </a:r>
            <a:r>
              <a:rPr kumimoji="1" lang="ja-JP" altLang="en-US">
                <a:cs typeface="Arial" panose="020B0604020202020204" pitchFamily="34" charset="0"/>
              </a:rPr>
              <a:t>の親プロセス</a:t>
            </a:r>
            <a:r>
              <a:rPr kumimoji="1" lang="en-US" altLang="ja-JP" dirty="0" err="1">
                <a:cs typeface="Arial" panose="020B0604020202020204" pitchFamily="34" charset="0"/>
              </a:rPr>
              <a:t>Discord.exe</a:t>
            </a:r>
            <a:r>
              <a:rPr kumimoji="1" lang="ja-JP" altLang="en-US">
                <a:cs typeface="Arial" panose="020B0604020202020204" pitchFamily="34" charset="0"/>
              </a:rPr>
              <a:t>　　</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377895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2F8BC-91B5-E301-4F7B-D31443418C5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0063EFE6-F59C-AFD1-1E46-B4E1CD072F21}"/>
              </a:ext>
            </a:extLst>
          </p:cNvPr>
          <p:cNvSpPr>
            <a:spLocks noGrp="1"/>
          </p:cNvSpPr>
          <p:nvPr>
            <p:ph type="title"/>
          </p:nvPr>
        </p:nvSpPr>
        <p:spPr>
          <a:xfrm>
            <a:off x="217755" y="13766"/>
            <a:ext cx="7886700" cy="626133"/>
          </a:xfrm>
        </p:spPr>
        <p:txBody>
          <a:bodyPr>
            <a:normAutofit/>
          </a:bodyPr>
          <a:lstStyle/>
          <a:p>
            <a:r>
              <a:rPr lang="en-US" dirty="0" err="1"/>
              <a:t>提案手法</a:t>
            </a:r>
            <a:r>
              <a:rPr lang="ja-JP" altLang="en-US"/>
              <a:t>　全体像</a:t>
            </a:r>
            <a:endParaRPr lang="en-US" dirty="0"/>
          </a:p>
        </p:txBody>
      </p:sp>
      <p:sp>
        <p:nvSpPr>
          <p:cNvPr id="4" name="スライド番号プレースホルダー 3">
            <a:extLst>
              <a:ext uri="{FF2B5EF4-FFF2-40B4-BE49-F238E27FC236}">
                <a16:creationId xmlns:a16="http://schemas.microsoft.com/office/drawing/2014/main" id="{7C2AB956-D8AF-F1F8-31C5-488A2DCBB8FF}"/>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11</a:t>
            </a:fld>
            <a:endParaRPr lang="en-US"/>
          </a:p>
        </p:txBody>
      </p:sp>
      <p:pic>
        <p:nvPicPr>
          <p:cNvPr id="8" name="図 7">
            <a:extLst>
              <a:ext uri="{FF2B5EF4-FFF2-40B4-BE49-F238E27FC236}">
                <a16:creationId xmlns:a16="http://schemas.microsoft.com/office/drawing/2014/main" id="{BC1B6767-291B-9946-47EF-F111DB055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45" y="7964318"/>
            <a:ext cx="8627911" cy="4855778"/>
          </a:xfrm>
          <a:prstGeom prst="rect">
            <a:avLst/>
          </a:prstGeom>
        </p:spPr>
      </p:pic>
      <p:pic>
        <p:nvPicPr>
          <p:cNvPr id="7" name="グラフィックス 6" descr="データベース 単色塗りつぶし">
            <a:extLst>
              <a:ext uri="{FF2B5EF4-FFF2-40B4-BE49-F238E27FC236}">
                <a16:creationId xmlns:a16="http://schemas.microsoft.com/office/drawing/2014/main" id="{5ADF5D34-D98D-11F4-B2BC-AAA7CFF7B0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6985" y="5297269"/>
            <a:ext cx="914400" cy="914400"/>
          </a:xfrm>
          <a:prstGeom prst="rect">
            <a:avLst/>
          </a:prstGeom>
        </p:spPr>
      </p:pic>
      <p:pic>
        <p:nvPicPr>
          <p:cNvPr id="21" name="グラフィックス 20" descr="警告 単色塗りつぶし">
            <a:extLst>
              <a:ext uri="{FF2B5EF4-FFF2-40B4-BE49-F238E27FC236}">
                <a16:creationId xmlns:a16="http://schemas.microsoft.com/office/drawing/2014/main" id="{C55AB12C-AFCB-7FA1-7FE7-859FEED421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4930" y="2678947"/>
            <a:ext cx="914400" cy="914400"/>
          </a:xfrm>
          <a:prstGeom prst="rect">
            <a:avLst/>
          </a:prstGeom>
        </p:spPr>
      </p:pic>
      <p:pic>
        <p:nvPicPr>
          <p:cNvPr id="32" name="グラフィックス 31" descr="ドキュメント 枠線">
            <a:extLst>
              <a:ext uri="{FF2B5EF4-FFF2-40B4-BE49-F238E27FC236}">
                <a16:creationId xmlns:a16="http://schemas.microsoft.com/office/drawing/2014/main" id="{0E2AB634-D1EC-0054-6F36-CD8C07EEDF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4930" y="5010870"/>
            <a:ext cx="914400" cy="914400"/>
          </a:xfrm>
          <a:prstGeom prst="rect">
            <a:avLst/>
          </a:prstGeom>
        </p:spPr>
      </p:pic>
      <p:pic>
        <p:nvPicPr>
          <p:cNvPr id="33" name="グラフィックス 32" descr="ドキュメント 枠線">
            <a:extLst>
              <a:ext uri="{FF2B5EF4-FFF2-40B4-BE49-F238E27FC236}">
                <a16:creationId xmlns:a16="http://schemas.microsoft.com/office/drawing/2014/main" id="{AEC6860A-6BE4-D460-4F9F-34E635134F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7330" y="5163270"/>
            <a:ext cx="914400" cy="914400"/>
          </a:xfrm>
          <a:prstGeom prst="rect">
            <a:avLst/>
          </a:prstGeom>
        </p:spPr>
      </p:pic>
      <p:pic>
        <p:nvPicPr>
          <p:cNvPr id="34" name="グラフィックス 33" descr="ドキュメント 枠線">
            <a:extLst>
              <a:ext uri="{FF2B5EF4-FFF2-40B4-BE49-F238E27FC236}">
                <a16:creationId xmlns:a16="http://schemas.microsoft.com/office/drawing/2014/main" id="{D2F3E991-3F47-1F76-6E99-2BCF0F80D4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730" y="5315670"/>
            <a:ext cx="914400" cy="914400"/>
          </a:xfrm>
          <a:prstGeom prst="rect">
            <a:avLst/>
          </a:prstGeom>
        </p:spPr>
      </p:pic>
      <p:sp>
        <p:nvSpPr>
          <p:cNvPr id="35" name="テキスト ボックス 34">
            <a:extLst>
              <a:ext uri="{FF2B5EF4-FFF2-40B4-BE49-F238E27FC236}">
                <a16:creationId xmlns:a16="http://schemas.microsoft.com/office/drawing/2014/main" id="{1C60AC0A-A8C7-939F-5051-A4D1E087DE9B}"/>
              </a:ext>
            </a:extLst>
          </p:cNvPr>
          <p:cNvSpPr txBox="1"/>
          <p:nvPr/>
        </p:nvSpPr>
        <p:spPr>
          <a:xfrm>
            <a:off x="-44048" y="3559309"/>
            <a:ext cx="1980029" cy="307777"/>
          </a:xfrm>
          <a:prstGeom prst="rect">
            <a:avLst/>
          </a:prstGeom>
          <a:noFill/>
        </p:spPr>
        <p:txBody>
          <a:bodyPr wrap="none" rtlCol="0">
            <a:spAutoFit/>
          </a:bodyPr>
          <a:lstStyle/>
          <a:p>
            <a:pPr algn="l"/>
            <a:r>
              <a:rPr kumimoji="1" lang="ja-JP" altLang="en-US" sz="1400">
                <a:cs typeface="Arial" panose="020B0604020202020204" pitchFamily="34" charset="0"/>
              </a:rPr>
              <a:t>セキュリティアラート</a:t>
            </a:r>
            <a:endParaRPr kumimoji="1" lang="en-US" altLang="ja-JP" sz="1400" dirty="0">
              <a:cs typeface="Arial" panose="020B0604020202020204" pitchFamily="34" charset="0"/>
            </a:endParaRPr>
          </a:p>
        </p:txBody>
      </p:sp>
      <p:sp>
        <p:nvSpPr>
          <p:cNvPr id="36" name="テキスト ボックス 35">
            <a:extLst>
              <a:ext uri="{FF2B5EF4-FFF2-40B4-BE49-F238E27FC236}">
                <a16:creationId xmlns:a16="http://schemas.microsoft.com/office/drawing/2014/main" id="{CC9F4295-C047-99D0-B8C3-A346AAAC5CBA}"/>
              </a:ext>
            </a:extLst>
          </p:cNvPr>
          <p:cNvSpPr txBox="1"/>
          <p:nvPr/>
        </p:nvSpPr>
        <p:spPr>
          <a:xfrm>
            <a:off x="448692" y="6208343"/>
            <a:ext cx="723275" cy="307777"/>
          </a:xfrm>
          <a:prstGeom prst="rect">
            <a:avLst/>
          </a:prstGeom>
          <a:noFill/>
        </p:spPr>
        <p:txBody>
          <a:bodyPr wrap="none" rtlCol="0">
            <a:spAutoFit/>
          </a:bodyPr>
          <a:lstStyle/>
          <a:p>
            <a:pPr algn="l"/>
            <a:r>
              <a:rPr kumimoji="1" lang="ja-JP" altLang="en-US" sz="1400">
                <a:cs typeface="Arial" panose="020B0604020202020204" pitchFamily="34" charset="0"/>
              </a:rPr>
              <a:t>生ログ</a:t>
            </a:r>
            <a:endParaRPr kumimoji="1" lang="ja-JP" altLang="en-US" sz="1400" dirty="0">
              <a:cs typeface="Arial" panose="020B0604020202020204" pitchFamily="34" charset="0"/>
            </a:endParaRPr>
          </a:p>
        </p:txBody>
      </p:sp>
      <p:sp>
        <p:nvSpPr>
          <p:cNvPr id="37" name="テキスト ボックス 36">
            <a:extLst>
              <a:ext uri="{FF2B5EF4-FFF2-40B4-BE49-F238E27FC236}">
                <a16:creationId xmlns:a16="http://schemas.microsoft.com/office/drawing/2014/main" id="{B1CAAFB4-24AC-CFD8-A3C1-5F0F92F22E59}"/>
              </a:ext>
            </a:extLst>
          </p:cNvPr>
          <p:cNvSpPr txBox="1"/>
          <p:nvPr/>
        </p:nvSpPr>
        <p:spPr>
          <a:xfrm>
            <a:off x="1968421" y="6171477"/>
            <a:ext cx="1261884" cy="523220"/>
          </a:xfrm>
          <a:prstGeom prst="rect">
            <a:avLst/>
          </a:prstGeom>
          <a:noFill/>
        </p:spPr>
        <p:txBody>
          <a:bodyPr wrap="none" rtlCol="0">
            <a:spAutoFit/>
          </a:bodyPr>
          <a:lstStyle/>
          <a:p>
            <a:pPr algn="l"/>
            <a:r>
              <a:rPr kumimoji="1" lang="en-US" altLang="ja-JP" sz="1400" dirty="0">
                <a:cs typeface="Arial" panose="020B0604020202020204" pitchFamily="34" charset="0"/>
              </a:rPr>
              <a:t> </a:t>
            </a:r>
            <a:r>
              <a:rPr kumimoji="1" lang="ja-JP" altLang="en-US" sz="1400">
                <a:cs typeface="Arial" panose="020B0604020202020204" pitchFamily="34" charset="0"/>
              </a:rPr>
              <a:t>前処理済み</a:t>
            </a:r>
            <a:endParaRPr kumimoji="1" lang="en-US" altLang="ja-JP" sz="1400" dirty="0">
              <a:cs typeface="Arial" panose="020B0604020202020204" pitchFamily="34" charset="0"/>
            </a:endParaRPr>
          </a:p>
          <a:p>
            <a:pPr algn="l"/>
            <a:r>
              <a:rPr kumimoji="1" lang="ja-JP" altLang="en-US" sz="1400">
                <a:cs typeface="Arial" panose="020B0604020202020204" pitchFamily="34" charset="0"/>
              </a:rPr>
              <a:t>データベース</a:t>
            </a:r>
            <a:endParaRPr kumimoji="1" lang="ja-JP" altLang="en-US" sz="1400" dirty="0">
              <a:cs typeface="Arial" panose="020B0604020202020204" pitchFamily="34" charset="0"/>
            </a:endParaRPr>
          </a:p>
        </p:txBody>
      </p:sp>
      <p:sp>
        <p:nvSpPr>
          <p:cNvPr id="39" name="テキスト ボックス 38">
            <a:extLst>
              <a:ext uri="{FF2B5EF4-FFF2-40B4-BE49-F238E27FC236}">
                <a16:creationId xmlns:a16="http://schemas.microsoft.com/office/drawing/2014/main" id="{CFED9139-EC93-E792-5839-5D1513E45551}"/>
              </a:ext>
            </a:extLst>
          </p:cNvPr>
          <p:cNvSpPr txBox="1"/>
          <p:nvPr/>
        </p:nvSpPr>
        <p:spPr>
          <a:xfrm>
            <a:off x="1378401" y="5454187"/>
            <a:ext cx="723275" cy="307777"/>
          </a:xfrm>
          <a:prstGeom prst="rect">
            <a:avLst/>
          </a:prstGeom>
          <a:noFill/>
        </p:spPr>
        <p:txBody>
          <a:bodyPr wrap="none" rtlCol="0">
            <a:spAutoFit/>
          </a:bodyPr>
          <a:lstStyle/>
          <a:p>
            <a:pPr algn="l"/>
            <a:r>
              <a:rPr kumimoji="1" lang="ja-JP" altLang="en-US" sz="1400">
                <a:cs typeface="Arial" panose="020B0604020202020204" pitchFamily="34" charset="0"/>
              </a:rPr>
              <a:t>前処理</a:t>
            </a:r>
            <a:endParaRPr kumimoji="1" lang="ja-JP" altLang="en-US" sz="1400" dirty="0">
              <a:cs typeface="Arial" panose="020B0604020202020204" pitchFamily="34" charset="0"/>
            </a:endParaRPr>
          </a:p>
        </p:txBody>
      </p:sp>
      <p:sp>
        <p:nvSpPr>
          <p:cNvPr id="40" name="右矢印 39">
            <a:extLst>
              <a:ext uri="{FF2B5EF4-FFF2-40B4-BE49-F238E27FC236}">
                <a16:creationId xmlns:a16="http://schemas.microsoft.com/office/drawing/2014/main" id="{E4CAA5A5-87C2-F841-1B63-B7615EFBC864}"/>
              </a:ext>
            </a:extLst>
          </p:cNvPr>
          <p:cNvSpPr/>
          <p:nvPr/>
        </p:nvSpPr>
        <p:spPr>
          <a:xfrm>
            <a:off x="1544095" y="5748095"/>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42" name="角丸四角形 41">
            <a:extLst>
              <a:ext uri="{FF2B5EF4-FFF2-40B4-BE49-F238E27FC236}">
                <a16:creationId xmlns:a16="http://schemas.microsoft.com/office/drawing/2014/main" id="{90F0CEBE-5F9A-5E23-425C-295808BADC5C}"/>
              </a:ext>
            </a:extLst>
          </p:cNvPr>
          <p:cNvSpPr/>
          <p:nvPr/>
        </p:nvSpPr>
        <p:spPr>
          <a:xfrm>
            <a:off x="3889358" y="2901789"/>
            <a:ext cx="1888447"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 </a:t>
            </a:r>
            <a:endParaRPr kumimoji="1" lang="ja-JP" altLang="en-US" b="1">
              <a:solidFill>
                <a:schemeClr val="tx1"/>
              </a:solidFill>
            </a:endParaRPr>
          </a:p>
        </p:txBody>
      </p:sp>
      <p:sp>
        <p:nvSpPr>
          <p:cNvPr id="44" name="角丸四角形 43">
            <a:extLst>
              <a:ext uri="{FF2B5EF4-FFF2-40B4-BE49-F238E27FC236}">
                <a16:creationId xmlns:a16="http://schemas.microsoft.com/office/drawing/2014/main" id="{5D3FA0DD-A8EB-9F4D-7CE5-A0D8817CC04B}"/>
              </a:ext>
            </a:extLst>
          </p:cNvPr>
          <p:cNvSpPr/>
          <p:nvPr/>
        </p:nvSpPr>
        <p:spPr>
          <a:xfrm>
            <a:off x="3667611" y="40148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45" name="角丸四角形 44">
            <a:extLst>
              <a:ext uri="{FF2B5EF4-FFF2-40B4-BE49-F238E27FC236}">
                <a16:creationId xmlns:a16="http://schemas.microsoft.com/office/drawing/2014/main" id="{57530FFC-5A03-ABD7-BAA2-E113D57F553F}"/>
              </a:ext>
            </a:extLst>
          </p:cNvPr>
          <p:cNvSpPr/>
          <p:nvPr/>
        </p:nvSpPr>
        <p:spPr>
          <a:xfrm>
            <a:off x="3820011" y="41672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46" name="角丸四角形 45">
            <a:extLst>
              <a:ext uri="{FF2B5EF4-FFF2-40B4-BE49-F238E27FC236}">
                <a16:creationId xmlns:a16="http://schemas.microsoft.com/office/drawing/2014/main" id="{04AB6299-F74C-4EA9-E548-3D003A737F94}"/>
              </a:ext>
            </a:extLst>
          </p:cNvPr>
          <p:cNvSpPr/>
          <p:nvPr/>
        </p:nvSpPr>
        <p:spPr>
          <a:xfrm>
            <a:off x="3972411" y="43196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53" name="角丸四角形 52">
            <a:extLst>
              <a:ext uri="{FF2B5EF4-FFF2-40B4-BE49-F238E27FC236}">
                <a16:creationId xmlns:a16="http://schemas.microsoft.com/office/drawing/2014/main" id="{56C6DE43-D393-E6D5-B13F-E48EBDCE6FC4}"/>
              </a:ext>
            </a:extLst>
          </p:cNvPr>
          <p:cNvSpPr/>
          <p:nvPr/>
        </p:nvSpPr>
        <p:spPr>
          <a:xfrm>
            <a:off x="4163233" y="56344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54" name="角丸四角形 53">
            <a:extLst>
              <a:ext uri="{FF2B5EF4-FFF2-40B4-BE49-F238E27FC236}">
                <a16:creationId xmlns:a16="http://schemas.microsoft.com/office/drawing/2014/main" id="{3970358F-F1FA-9C4B-B712-CFB283B08244}"/>
              </a:ext>
            </a:extLst>
          </p:cNvPr>
          <p:cNvSpPr/>
          <p:nvPr/>
        </p:nvSpPr>
        <p:spPr>
          <a:xfrm>
            <a:off x="4315633" y="57868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55" name="角丸四角形 54">
            <a:extLst>
              <a:ext uri="{FF2B5EF4-FFF2-40B4-BE49-F238E27FC236}">
                <a16:creationId xmlns:a16="http://schemas.microsoft.com/office/drawing/2014/main" id="{649B460A-18D1-4FE6-C153-0D8E21966F3C}"/>
              </a:ext>
            </a:extLst>
          </p:cNvPr>
          <p:cNvSpPr/>
          <p:nvPr/>
        </p:nvSpPr>
        <p:spPr>
          <a:xfrm>
            <a:off x="4468033" y="59392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56" name="右矢印 55">
            <a:extLst>
              <a:ext uri="{FF2B5EF4-FFF2-40B4-BE49-F238E27FC236}">
                <a16:creationId xmlns:a16="http://schemas.microsoft.com/office/drawing/2014/main" id="{C598D7F2-0A76-5C27-A0B6-E7F84E253BEE}"/>
              </a:ext>
            </a:extLst>
          </p:cNvPr>
          <p:cNvSpPr/>
          <p:nvPr/>
        </p:nvSpPr>
        <p:spPr>
          <a:xfrm>
            <a:off x="3414766" y="5930636"/>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57" name="右矢印 56">
            <a:extLst>
              <a:ext uri="{FF2B5EF4-FFF2-40B4-BE49-F238E27FC236}">
                <a16:creationId xmlns:a16="http://schemas.microsoft.com/office/drawing/2014/main" id="{D6744DD2-C77E-ED06-0851-7B30C31460AD}"/>
              </a:ext>
            </a:extLst>
          </p:cNvPr>
          <p:cNvSpPr/>
          <p:nvPr/>
        </p:nvSpPr>
        <p:spPr>
          <a:xfrm rot="10800000">
            <a:off x="3406394" y="5771534"/>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9AEA3F3C-89BA-F18D-3E44-A88BF69C7016}"/>
              </a:ext>
            </a:extLst>
          </p:cNvPr>
          <p:cNvSpPr txBox="1"/>
          <p:nvPr/>
        </p:nvSpPr>
        <p:spPr>
          <a:xfrm>
            <a:off x="3255642" y="5516548"/>
            <a:ext cx="723275" cy="307777"/>
          </a:xfrm>
          <a:prstGeom prst="rect">
            <a:avLst/>
          </a:prstGeom>
          <a:noFill/>
        </p:spPr>
        <p:txBody>
          <a:bodyPr wrap="none" rtlCol="0">
            <a:spAutoFit/>
          </a:bodyPr>
          <a:lstStyle/>
          <a:p>
            <a:pPr algn="l"/>
            <a:r>
              <a:rPr kumimoji="1" lang="ja-JP" altLang="en-US" sz="1400">
                <a:cs typeface="Arial" panose="020B0604020202020204" pitchFamily="34" charset="0"/>
              </a:rPr>
              <a:t>クエリ</a:t>
            </a:r>
            <a:endParaRPr kumimoji="1" lang="ja-JP" altLang="en-US" sz="1400" dirty="0">
              <a:cs typeface="Arial" panose="020B0604020202020204" pitchFamily="34" charset="0"/>
            </a:endParaRPr>
          </a:p>
        </p:txBody>
      </p:sp>
      <p:sp>
        <p:nvSpPr>
          <p:cNvPr id="59" name="テキスト ボックス 58">
            <a:extLst>
              <a:ext uri="{FF2B5EF4-FFF2-40B4-BE49-F238E27FC236}">
                <a16:creationId xmlns:a16="http://schemas.microsoft.com/office/drawing/2014/main" id="{1BDD3460-4686-B2C6-1270-912AD0E5DF28}"/>
              </a:ext>
            </a:extLst>
          </p:cNvPr>
          <p:cNvSpPr txBox="1"/>
          <p:nvPr/>
        </p:nvSpPr>
        <p:spPr>
          <a:xfrm>
            <a:off x="3186982" y="5960355"/>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レコード</a:t>
            </a:r>
            <a:endParaRPr kumimoji="1" lang="ja-JP" altLang="en-US" sz="1400" dirty="0">
              <a:cs typeface="Arial" panose="020B0604020202020204" pitchFamily="34" charset="0"/>
            </a:endParaRPr>
          </a:p>
        </p:txBody>
      </p:sp>
      <p:sp>
        <p:nvSpPr>
          <p:cNvPr id="60" name="右矢印 59">
            <a:extLst>
              <a:ext uri="{FF2B5EF4-FFF2-40B4-BE49-F238E27FC236}">
                <a16:creationId xmlns:a16="http://schemas.microsoft.com/office/drawing/2014/main" id="{4C0B3428-5CB4-BB9F-49F7-A983D7FFD9C2}"/>
              </a:ext>
            </a:extLst>
          </p:cNvPr>
          <p:cNvSpPr/>
          <p:nvPr/>
        </p:nvSpPr>
        <p:spPr>
          <a:xfrm>
            <a:off x="1827484" y="3001930"/>
            <a:ext cx="1543758" cy="142873"/>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1" name="右矢印 60">
            <a:extLst>
              <a:ext uri="{FF2B5EF4-FFF2-40B4-BE49-F238E27FC236}">
                <a16:creationId xmlns:a16="http://schemas.microsoft.com/office/drawing/2014/main" id="{7C9B9DAF-65D7-522A-A2DB-58A477DE2643}"/>
              </a:ext>
            </a:extLst>
          </p:cNvPr>
          <p:cNvSpPr/>
          <p:nvPr/>
        </p:nvSpPr>
        <p:spPr>
          <a:xfrm rot="5400000">
            <a:off x="4121786"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2" name="右矢印 61">
            <a:extLst>
              <a:ext uri="{FF2B5EF4-FFF2-40B4-BE49-F238E27FC236}">
                <a16:creationId xmlns:a16="http://schemas.microsoft.com/office/drawing/2014/main" id="{4EC125DD-C1CC-6384-52EE-84739AEDD1C6}"/>
              </a:ext>
            </a:extLst>
          </p:cNvPr>
          <p:cNvSpPr/>
          <p:nvPr/>
        </p:nvSpPr>
        <p:spPr>
          <a:xfrm rot="5400000">
            <a:off x="4121785" y="5107939"/>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3" name="右矢印 62">
            <a:extLst>
              <a:ext uri="{FF2B5EF4-FFF2-40B4-BE49-F238E27FC236}">
                <a16:creationId xmlns:a16="http://schemas.microsoft.com/office/drawing/2014/main" id="{F78C27F9-F9BB-B35E-B0B2-28683462EBBE}"/>
              </a:ext>
            </a:extLst>
          </p:cNvPr>
          <p:cNvSpPr/>
          <p:nvPr/>
        </p:nvSpPr>
        <p:spPr>
          <a:xfrm rot="16200000">
            <a:off x="4884278"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4" name="右矢印 63">
            <a:extLst>
              <a:ext uri="{FF2B5EF4-FFF2-40B4-BE49-F238E27FC236}">
                <a16:creationId xmlns:a16="http://schemas.microsoft.com/office/drawing/2014/main" id="{83FD274C-B02E-B6F6-0926-8479080606D0}"/>
              </a:ext>
            </a:extLst>
          </p:cNvPr>
          <p:cNvSpPr/>
          <p:nvPr/>
        </p:nvSpPr>
        <p:spPr>
          <a:xfrm rot="16200000">
            <a:off x="4919911" y="5110591"/>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C7CCDCFD-F8EF-5501-7DBD-02FF9BC6A9F6}"/>
              </a:ext>
            </a:extLst>
          </p:cNvPr>
          <p:cNvSpPr txBox="1"/>
          <p:nvPr/>
        </p:nvSpPr>
        <p:spPr>
          <a:xfrm>
            <a:off x="3521005" y="3515037"/>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調査論点</a:t>
            </a:r>
            <a:endParaRPr kumimoji="1" lang="ja-JP" altLang="en-US" sz="1400" dirty="0">
              <a:cs typeface="Arial" panose="020B0604020202020204" pitchFamily="34" charset="0"/>
            </a:endParaRPr>
          </a:p>
        </p:txBody>
      </p:sp>
      <p:sp>
        <p:nvSpPr>
          <p:cNvPr id="66" name="テキスト ボックス 65">
            <a:extLst>
              <a:ext uri="{FF2B5EF4-FFF2-40B4-BE49-F238E27FC236}">
                <a16:creationId xmlns:a16="http://schemas.microsoft.com/office/drawing/2014/main" id="{47CD41BC-3793-9354-0B1F-49A5CC586CF9}"/>
              </a:ext>
            </a:extLst>
          </p:cNvPr>
          <p:cNvSpPr txBox="1"/>
          <p:nvPr/>
        </p:nvSpPr>
        <p:spPr>
          <a:xfrm>
            <a:off x="5266160" y="3505221"/>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レポート</a:t>
            </a:r>
            <a:endParaRPr kumimoji="1" lang="ja-JP" altLang="en-US" sz="1400" dirty="0">
              <a:cs typeface="Arial" panose="020B0604020202020204" pitchFamily="34" charset="0"/>
            </a:endParaRPr>
          </a:p>
        </p:txBody>
      </p:sp>
      <p:sp>
        <p:nvSpPr>
          <p:cNvPr id="67" name="テキスト ボックス 66">
            <a:extLst>
              <a:ext uri="{FF2B5EF4-FFF2-40B4-BE49-F238E27FC236}">
                <a16:creationId xmlns:a16="http://schemas.microsoft.com/office/drawing/2014/main" id="{CA348C5C-0318-CC42-0687-12B42AE75274}"/>
              </a:ext>
            </a:extLst>
          </p:cNvPr>
          <p:cNvSpPr txBox="1"/>
          <p:nvPr/>
        </p:nvSpPr>
        <p:spPr>
          <a:xfrm>
            <a:off x="3741798" y="4971274"/>
            <a:ext cx="543739" cy="307777"/>
          </a:xfrm>
          <a:prstGeom prst="rect">
            <a:avLst/>
          </a:prstGeom>
          <a:noFill/>
        </p:spPr>
        <p:txBody>
          <a:bodyPr wrap="none" rtlCol="0">
            <a:spAutoFit/>
          </a:bodyPr>
          <a:lstStyle/>
          <a:p>
            <a:pPr algn="l"/>
            <a:r>
              <a:rPr kumimoji="1" lang="ja-JP" altLang="en-US" sz="1400">
                <a:cs typeface="Arial" panose="020B0604020202020204" pitchFamily="34" charset="0"/>
              </a:rPr>
              <a:t>質問</a:t>
            </a:r>
            <a:endParaRPr kumimoji="1" lang="ja-JP" altLang="en-US" sz="1400" dirty="0">
              <a:cs typeface="Arial" panose="020B0604020202020204" pitchFamily="34" charset="0"/>
            </a:endParaRPr>
          </a:p>
        </p:txBody>
      </p:sp>
      <p:sp>
        <p:nvSpPr>
          <p:cNvPr id="68" name="テキスト ボックス 67">
            <a:extLst>
              <a:ext uri="{FF2B5EF4-FFF2-40B4-BE49-F238E27FC236}">
                <a16:creationId xmlns:a16="http://schemas.microsoft.com/office/drawing/2014/main" id="{D0913754-45CB-606A-9D3C-65CA45FB7E9A}"/>
              </a:ext>
            </a:extLst>
          </p:cNvPr>
          <p:cNvSpPr txBox="1"/>
          <p:nvPr/>
        </p:nvSpPr>
        <p:spPr>
          <a:xfrm>
            <a:off x="5306750" y="5035516"/>
            <a:ext cx="543739" cy="307777"/>
          </a:xfrm>
          <a:prstGeom prst="rect">
            <a:avLst/>
          </a:prstGeom>
          <a:noFill/>
        </p:spPr>
        <p:txBody>
          <a:bodyPr wrap="none" rtlCol="0">
            <a:spAutoFit/>
          </a:bodyPr>
          <a:lstStyle/>
          <a:p>
            <a:pPr algn="l"/>
            <a:r>
              <a:rPr kumimoji="1" lang="ja-JP" altLang="en-US" sz="1400">
                <a:cs typeface="Arial" panose="020B0604020202020204" pitchFamily="34" charset="0"/>
              </a:rPr>
              <a:t>回答</a:t>
            </a:r>
            <a:endParaRPr kumimoji="1" lang="ja-JP" altLang="en-US" sz="1400" dirty="0">
              <a:cs typeface="Arial" panose="020B0604020202020204" pitchFamily="34" charset="0"/>
            </a:endParaRPr>
          </a:p>
        </p:txBody>
      </p:sp>
      <p:sp>
        <p:nvSpPr>
          <p:cNvPr id="72" name="右矢印 71">
            <a:extLst>
              <a:ext uri="{FF2B5EF4-FFF2-40B4-BE49-F238E27FC236}">
                <a16:creationId xmlns:a16="http://schemas.microsoft.com/office/drawing/2014/main" id="{4F937BDB-BB07-B97A-59E4-1F3C419A1797}"/>
              </a:ext>
            </a:extLst>
          </p:cNvPr>
          <p:cNvSpPr/>
          <p:nvPr/>
        </p:nvSpPr>
        <p:spPr>
          <a:xfrm>
            <a:off x="6168970" y="3013850"/>
            <a:ext cx="1064665" cy="130953"/>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pic>
        <p:nvPicPr>
          <p:cNvPr id="74" name="グラフィックス 73" descr="ドキュメント 枠線">
            <a:extLst>
              <a:ext uri="{FF2B5EF4-FFF2-40B4-BE49-F238E27FC236}">
                <a16:creationId xmlns:a16="http://schemas.microsoft.com/office/drawing/2014/main" id="{68BCBEBE-2A5B-3870-89DD-C9C3A838DF4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84335" y="2521347"/>
            <a:ext cx="1147377" cy="1147377"/>
          </a:xfrm>
          <a:prstGeom prst="rect">
            <a:avLst/>
          </a:prstGeom>
        </p:spPr>
      </p:pic>
      <p:sp>
        <p:nvSpPr>
          <p:cNvPr id="75" name="テキスト ボックス 74">
            <a:extLst>
              <a:ext uri="{FF2B5EF4-FFF2-40B4-BE49-F238E27FC236}">
                <a16:creationId xmlns:a16="http://schemas.microsoft.com/office/drawing/2014/main" id="{F43920D7-8680-AE51-7F56-E69DC5E6163C}"/>
              </a:ext>
            </a:extLst>
          </p:cNvPr>
          <p:cNvSpPr txBox="1"/>
          <p:nvPr/>
        </p:nvSpPr>
        <p:spPr>
          <a:xfrm>
            <a:off x="6606072" y="3594856"/>
            <a:ext cx="2698175" cy="523220"/>
          </a:xfrm>
          <a:prstGeom prst="rect">
            <a:avLst/>
          </a:prstGeom>
          <a:noFill/>
        </p:spPr>
        <p:txBody>
          <a:bodyPr wrap="none" rtlCol="0">
            <a:spAutoFit/>
          </a:bodyPr>
          <a:lstStyle/>
          <a:p>
            <a:pPr algn="l"/>
            <a:r>
              <a:rPr kumimoji="1" lang="ja-JP" altLang="en-US" sz="1400">
                <a:cs typeface="Arial" panose="020B0604020202020204" pitchFamily="34" charset="0"/>
              </a:rPr>
              <a:t>セキュリティアラートに関する</a:t>
            </a:r>
            <a:endParaRPr kumimoji="1" lang="en-US" altLang="ja-JP" sz="1400" dirty="0">
              <a:cs typeface="Arial" panose="020B0604020202020204" pitchFamily="34" charset="0"/>
            </a:endParaRPr>
          </a:p>
          <a:p>
            <a:pPr algn="l"/>
            <a:r>
              <a:rPr kumimoji="1" lang="en-US" altLang="ja-JP" sz="1400" dirty="0">
                <a:cs typeface="Arial" panose="020B0604020202020204" pitchFamily="34" charset="0"/>
              </a:rPr>
              <a:t>    </a:t>
            </a:r>
            <a:r>
              <a:rPr kumimoji="1" lang="ja-JP" altLang="en-US" sz="1400">
                <a:cs typeface="Arial" panose="020B0604020202020204" pitchFamily="34" charset="0"/>
              </a:rPr>
              <a:t>　　行動列のレポート</a:t>
            </a:r>
            <a:endParaRPr kumimoji="1" lang="ja-JP" altLang="en-US" sz="1400" dirty="0">
              <a:cs typeface="Arial" panose="020B0604020202020204" pitchFamily="34" charset="0"/>
            </a:endParaRPr>
          </a:p>
        </p:txBody>
      </p:sp>
      <p:sp>
        <p:nvSpPr>
          <p:cNvPr id="76" name="角丸四角形 75">
            <a:extLst>
              <a:ext uri="{FF2B5EF4-FFF2-40B4-BE49-F238E27FC236}">
                <a16:creationId xmlns:a16="http://schemas.microsoft.com/office/drawing/2014/main" id="{496E67D8-2D20-CDBF-298B-107334CF1357}"/>
              </a:ext>
            </a:extLst>
          </p:cNvPr>
          <p:cNvSpPr/>
          <p:nvPr/>
        </p:nvSpPr>
        <p:spPr>
          <a:xfrm>
            <a:off x="277996" y="2185847"/>
            <a:ext cx="1064666" cy="36619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solidFill>
                  <a:schemeClr val="tx1"/>
                </a:solidFill>
              </a:rPr>
              <a:t>入力</a:t>
            </a:r>
          </a:p>
        </p:txBody>
      </p:sp>
      <p:sp>
        <p:nvSpPr>
          <p:cNvPr id="77" name="角丸四角形 76">
            <a:extLst>
              <a:ext uri="{FF2B5EF4-FFF2-40B4-BE49-F238E27FC236}">
                <a16:creationId xmlns:a16="http://schemas.microsoft.com/office/drawing/2014/main" id="{79C66257-2B9F-7417-0C4B-A2A8F3D2782B}"/>
              </a:ext>
            </a:extLst>
          </p:cNvPr>
          <p:cNvSpPr/>
          <p:nvPr/>
        </p:nvSpPr>
        <p:spPr>
          <a:xfrm>
            <a:off x="7259674" y="2134375"/>
            <a:ext cx="1064666" cy="36619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b="1">
                <a:solidFill>
                  <a:schemeClr val="tx1"/>
                </a:solidFill>
              </a:rPr>
              <a:t>出力</a:t>
            </a:r>
          </a:p>
        </p:txBody>
      </p:sp>
      <p:sp>
        <p:nvSpPr>
          <p:cNvPr id="80" name="テキスト ボックス 79">
            <a:extLst>
              <a:ext uri="{FF2B5EF4-FFF2-40B4-BE49-F238E27FC236}">
                <a16:creationId xmlns:a16="http://schemas.microsoft.com/office/drawing/2014/main" id="{35A23584-8F34-DE82-3541-DFEC0F3E9622}"/>
              </a:ext>
            </a:extLst>
          </p:cNvPr>
          <p:cNvSpPr txBox="1"/>
          <p:nvPr/>
        </p:nvSpPr>
        <p:spPr>
          <a:xfrm>
            <a:off x="62006" y="732861"/>
            <a:ext cx="8981510" cy="646331"/>
          </a:xfrm>
          <a:prstGeom prst="rect">
            <a:avLst/>
          </a:prstGeom>
          <a:noFill/>
        </p:spPr>
        <p:txBody>
          <a:bodyPr wrap="square" rtlCol="0">
            <a:spAutoFit/>
          </a:bodyPr>
          <a:lstStyle/>
          <a:p>
            <a:pPr marL="285750" indent="-285750">
              <a:buFont typeface="Arial" panose="020B0604020202020204" pitchFamily="34" charset="0"/>
              <a:buChar char="•"/>
            </a:pPr>
            <a:r>
              <a:rPr lang="ja-JP" altLang="ja-JP"/>
              <a:t>セキュリティアラートを起点に、Chief・Investigator・SQL Agentが協調して関連ログを探索し、</a:t>
            </a:r>
            <a:r>
              <a:rPr lang="ja-JP" altLang="en-US"/>
              <a:t>正常</a:t>
            </a:r>
            <a:r>
              <a:rPr lang="en-US" altLang="ja-JP" dirty="0"/>
              <a:t>/</a:t>
            </a:r>
            <a:r>
              <a:rPr lang="ja-JP" altLang="en-US"/>
              <a:t>攻撃の行動列として復元する</a:t>
            </a:r>
            <a:endParaRPr kumimoji="1" lang="ja-JP" altLang="en-US" dirty="0">
              <a:cs typeface="Arial" panose="020B0604020202020204" pitchFamily="34" charset="0"/>
            </a:endParaRPr>
          </a:p>
        </p:txBody>
      </p:sp>
      <p:sp>
        <p:nvSpPr>
          <p:cNvPr id="81" name="テキスト ボックス 80">
            <a:extLst>
              <a:ext uri="{FF2B5EF4-FFF2-40B4-BE49-F238E27FC236}">
                <a16:creationId xmlns:a16="http://schemas.microsoft.com/office/drawing/2014/main" id="{B78F4764-888C-A124-694C-4D21F455A7B5}"/>
              </a:ext>
            </a:extLst>
          </p:cNvPr>
          <p:cNvSpPr txBox="1"/>
          <p:nvPr/>
        </p:nvSpPr>
        <p:spPr>
          <a:xfrm>
            <a:off x="6233836" y="2797342"/>
            <a:ext cx="902811" cy="307777"/>
          </a:xfrm>
          <a:prstGeom prst="rect">
            <a:avLst/>
          </a:prstGeom>
          <a:noFill/>
        </p:spPr>
        <p:txBody>
          <a:bodyPr wrap="none" rtlCol="0">
            <a:spAutoFit/>
          </a:bodyPr>
          <a:lstStyle/>
          <a:p>
            <a:pPr algn="l"/>
            <a:r>
              <a:rPr kumimoji="1" lang="ja-JP" altLang="en-US" sz="1400" b="1">
                <a:cs typeface="Arial" panose="020B0604020202020204" pitchFamily="34" charset="0"/>
              </a:rPr>
              <a:t>調査終了</a:t>
            </a:r>
            <a:endParaRPr kumimoji="1" lang="ja-JP" altLang="en-US" sz="1400" b="1" dirty="0">
              <a:cs typeface="Arial" panose="020B0604020202020204" pitchFamily="34" charset="0"/>
            </a:endParaRPr>
          </a:p>
        </p:txBody>
      </p:sp>
      <p:sp>
        <p:nvSpPr>
          <p:cNvPr id="82" name="テキスト ボックス 81">
            <a:extLst>
              <a:ext uri="{FF2B5EF4-FFF2-40B4-BE49-F238E27FC236}">
                <a16:creationId xmlns:a16="http://schemas.microsoft.com/office/drawing/2014/main" id="{DAD14987-A97F-3F46-587D-A0BE3D9F2091}"/>
              </a:ext>
            </a:extLst>
          </p:cNvPr>
          <p:cNvSpPr txBox="1"/>
          <p:nvPr/>
        </p:nvSpPr>
        <p:spPr>
          <a:xfrm>
            <a:off x="2135784" y="2777315"/>
            <a:ext cx="902811" cy="307777"/>
          </a:xfrm>
          <a:prstGeom prst="rect">
            <a:avLst/>
          </a:prstGeom>
          <a:noFill/>
        </p:spPr>
        <p:txBody>
          <a:bodyPr wrap="none" rtlCol="0">
            <a:spAutoFit/>
          </a:bodyPr>
          <a:lstStyle/>
          <a:p>
            <a:pPr algn="l"/>
            <a:r>
              <a:rPr kumimoji="1" lang="ja-JP" altLang="en-US" sz="1400" b="1">
                <a:cs typeface="Arial" panose="020B0604020202020204" pitchFamily="34" charset="0"/>
              </a:rPr>
              <a:t>調査開始</a:t>
            </a:r>
            <a:endParaRPr kumimoji="1" lang="ja-JP" altLang="en-US" sz="1400" b="1" dirty="0">
              <a:cs typeface="Arial" panose="020B0604020202020204" pitchFamily="34" charset="0"/>
            </a:endParaRPr>
          </a:p>
        </p:txBody>
      </p:sp>
    </p:spTree>
    <p:extLst>
      <p:ext uri="{BB962C8B-B14F-4D97-AF65-F5344CB8AC3E}">
        <p14:creationId xmlns:p14="http://schemas.microsoft.com/office/powerpoint/2010/main" val="1018341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219C2-86F6-FD4A-8D1F-142981B963A6}"/>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5913295-1BA9-E720-949D-264629F1FE35}"/>
              </a:ext>
            </a:extLst>
          </p:cNvPr>
          <p:cNvSpPr>
            <a:spLocks noGrp="1"/>
          </p:cNvSpPr>
          <p:nvPr>
            <p:ph type="title"/>
          </p:nvPr>
        </p:nvSpPr>
        <p:spPr>
          <a:xfrm>
            <a:off x="217755" y="13766"/>
            <a:ext cx="7886700" cy="626133"/>
          </a:xfrm>
        </p:spPr>
        <p:txBody>
          <a:bodyPr>
            <a:normAutofit/>
          </a:bodyPr>
          <a:lstStyle/>
          <a:p>
            <a:r>
              <a:rPr lang="en-US" dirty="0" err="1"/>
              <a:t>提案手法</a:t>
            </a:r>
            <a:r>
              <a:rPr lang="ja-JP" altLang="en-US"/>
              <a:t>　内部処理</a:t>
            </a:r>
            <a:endParaRPr lang="en-US" dirty="0"/>
          </a:p>
        </p:txBody>
      </p:sp>
      <p:sp>
        <p:nvSpPr>
          <p:cNvPr id="4" name="スライド番号プレースホルダー 3">
            <a:extLst>
              <a:ext uri="{FF2B5EF4-FFF2-40B4-BE49-F238E27FC236}">
                <a16:creationId xmlns:a16="http://schemas.microsoft.com/office/drawing/2014/main" id="{A8FD5871-FDD7-EAE4-D540-44AA7DFFB1B1}"/>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12</a:t>
            </a:fld>
            <a:endParaRPr lang="en-US"/>
          </a:p>
        </p:txBody>
      </p:sp>
      <p:pic>
        <p:nvPicPr>
          <p:cNvPr id="8" name="図 7">
            <a:extLst>
              <a:ext uri="{FF2B5EF4-FFF2-40B4-BE49-F238E27FC236}">
                <a16:creationId xmlns:a16="http://schemas.microsoft.com/office/drawing/2014/main" id="{E7308206-A803-1112-1A0B-4A2CDAE37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45" y="7964318"/>
            <a:ext cx="8627911" cy="4855778"/>
          </a:xfrm>
          <a:prstGeom prst="rect">
            <a:avLst/>
          </a:prstGeom>
        </p:spPr>
      </p:pic>
      <p:pic>
        <p:nvPicPr>
          <p:cNvPr id="7" name="グラフィックス 6" descr="データベース 単色塗りつぶし">
            <a:extLst>
              <a:ext uri="{FF2B5EF4-FFF2-40B4-BE49-F238E27FC236}">
                <a16:creationId xmlns:a16="http://schemas.microsoft.com/office/drawing/2014/main" id="{D1B7F955-2214-9115-14A4-C465DFB545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5791" y="5297269"/>
            <a:ext cx="914400" cy="914400"/>
          </a:xfrm>
          <a:prstGeom prst="rect">
            <a:avLst/>
          </a:prstGeom>
        </p:spPr>
      </p:pic>
      <p:pic>
        <p:nvPicPr>
          <p:cNvPr id="11" name="グラフィックス 10" descr="警告 単色塗りつぶし">
            <a:extLst>
              <a:ext uri="{FF2B5EF4-FFF2-40B4-BE49-F238E27FC236}">
                <a16:creationId xmlns:a16="http://schemas.microsoft.com/office/drawing/2014/main" id="{9908C33A-3353-495B-B334-1B85533CF2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42670" y="2521347"/>
            <a:ext cx="914400" cy="914400"/>
          </a:xfrm>
          <a:prstGeom prst="rect">
            <a:avLst/>
          </a:prstGeom>
        </p:spPr>
      </p:pic>
      <p:sp>
        <p:nvSpPr>
          <p:cNvPr id="16" name="テキスト ボックス 15">
            <a:extLst>
              <a:ext uri="{FF2B5EF4-FFF2-40B4-BE49-F238E27FC236}">
                <a16:creationId xmlns:a16="http://schemas.microsoft.com/office/drawing/2014/main" id="{A2E01FDD-573F-2433-6BC8-AA5195963A4E}"/>
              </a:ext>
            </a:extLst>
          </p:cNvPr>
          <p:cNvSpPr txBox="1"/>
          <p:nvPr/>
        </p:nvSpPr>
        <p:spPr>
          <a:xfrm>
            <a:off x="4926203" y="3392544"/>
            <a:ext cx="1107996" cy="461665"/>
          </a:xfrm>
          <a:prstGeom prst="rect">
            <a:avLst/>
          </a:prstGeom>
          <a:noFill/>
        </p:spPr>
        <p:txBody>
          <a:bodyPr wrap="none" rtlCol="0">
            <a:spAutoFit/>
          </a:bodyPr>
          <a:lstStyle/>
          <a:p>
            <a:pPr algn="l"/>
            <a:r>
              <a:rPr kumimoji="1" lang="ja-JP" altLang="en-US" sz="1200">
                <a:cs typeface="Arial" panose="020B0604020202020204" pitchFamily="34" charset="0"/>
              </a:rPr>
              <a:t>セキュリティ</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　アラート</a:t>
            </a:r>
            <a:endParaRPr kumimoji="1" lang="ja-JP" altLang="en-US" sz="1200" dirty="0">
              <a:cs typeface="Arial" panose="020B0604020202020204" pitchFamily="34" charset="0"/>
            </a:endParaRPr>
          </a:p>
        </p:txBody>
      </p:sp>
      <p:sp>
        <p:nvSpPr>
          <p:cNvPr id="18" name="テキスト ボックス 17">
            <a:extLst>
              <a:ext uri="{FF2B5EF4-FFF2-40B4-BE49-F238E27FC236}">
                <a16:creationId xmlns:a16="http://schemas.microsoft.com/office/drawing/2014/main" id="{D659AA36-8E18-F782-830F-90539082422D}"/>
              </a:ext>
            </a:extLst>
          </p:cNvPr>
          <p:cNvSpPr txBox="1"/>
          <p:nvPr/>
        </p:nvSpPr>
        <p:spPr>
          <a:xfrm>
            <a:off x="5048491" y="6121014"/>
            <a:ext cx="1107996" cy="461665"/>
          </a:xfrm>
          <a:prstGeom prst="rect">
            <a:avLst/>
          </a:prstGeom>
          <a:noFill/>
        </p:spPr>
        <p:txBody>
          <a:bodyPr wrap="none" rtlCol="0">
            <a:spAutoFit/>
          </a:bodyPr>
          <a:lstStyle/>
          <a:p>
            <a:pPr algn="l"/>
            <a:r>
              <a:rPr kumimoji="1" lang="en-US" altLang="ja-JP" sz="1200" dirty="0">
                <a:cs typeface="Arial" panose="020B0604020202020204" pitchFamily="34" charset="0"/>
              </a:rPr>
              <a:t> </a:t>
            </a:r>
            <a:r>
              <a:rPr kumimoji="1" lang="ja-JP" altLang="en-US" sz="1200">
                <a:cs typeface="Arial" panose="020B0604020202020204" pitchFamily="34" charset="0"/>
              </a:rPr>
              <a:t>前処理済み</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データベース</a:t>
            </a:r>
            <a:endParaRPr kumimoji="1" lang="ja-JP" altLang="en-US" sz="1200" dirty="0">
              <a:cs typeface="Arial" panose="020B0604020202020204" pitchFamily="34" charset="0"/>
            </a:endParaRPr>
          </a:p>
        </p:txBody>
      </p:sp>
      <p:sp>
        <p:nvSpPr>
          <p:cNvPr id="21" name="角丸四角形 20">
            <a:extLst>
              <a:ext uri="{FF2B5EF4-FFF2-40B4-BE49-F238E27FC236}">
                <a16:creationId xmlns:a16="http://schemas.microsoft.com/office/drawing/2014/main" id="{D03EC574-843B-39BC-283D-D7A19A637A84}"/>
              </a:ext>
            </a:extLst>
          </p:cNvPr>
          <p:cNvSpPr/>
          <p:nvPr/>
        </p:nvSpPr>
        <p:spPr>
          <a:xfrm>
            <a:off x="6748164" y="2901789"/>
            <a:ext cx="1888447"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 </a:t>
            </a:r>
            <a:endParaRPr kumimoji="1" lang="ja-JP" altLang="en-US" b="1">
              <a:solidFill>
                <a:schemeClr val="tx1"/>
              </a:solidFill>
            </a:endParaRPr>
          </a:p>
        </p:txBody>
      </p:sp>
      <p:sp>
        <p:nvSpPr>
          <p:cNvPr id="22" name="角丸四角形 21">
            <a:extLst>
              <a:ext uri="{FF2B5EF4-FFF2-40B4-BE49-F238E27FC236}">
                <a16:creationId xmlns:a16="http://schemas.microsoft.com/office/drawing/2014/main" id="{E07C7B48-D914-C3BD-F84C-01CAF4EF8926}"/>
              </a:ext>
            </a:extLst>
          </p:cNvPr>
          <p:cNvSpPr/>
          <p:nvPr/>
        </p:nvSpPr>
        <p:spPr>
          <a:xfrm>
            <a:off x="6526417" y="40148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3" name="角丸四角形 22">
            <a:extLst>
              <a:ext uri="{FF2B5EF4-FFF2-40B4-BE49-F238E27FC236}">
                <a16:creationId xmlns:a16="http://schemas.microsoft.com/office/drawing/2014/main" id="{83AC1C72-15B4-932B-0340-CC6EDAE9A61A}"/>
              </a:ext>
            </a:extLst>
          </p:cNvPr>
          <p:cNvSpPr/>
          <p:nvPr/>
        </p:nvSpPr>
        <p:spPr>
          <a:xfrm>
            <a:off x="6678817" y="41672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4" name="角丸四角形 23">
            <a:extLst>
              <a:ext uri="{FF2B5EF4-FFF2-40B4-BE49-F238E27FC236}">
                <a16:creationId xmlns:a16="http://schemas.microsoft.com/office/drawing/2014/main" id="{7A1B7AFD-8E6D-E1E5-FB66-8185D30EF6E4}"/>
              </a:ext>
            </a:extLst>
          </p:cNvPr>
          <p:cNvSpPr/>
          <p:nvPr/>
        </p:nvSpPr>
        <p:spPr>
          <a:xfrm>
            <a:off x="6831217" y="43196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5" name="角丸四角形 24">
            <a:extLst>
              <a:ext uri="{FF2B5EF4-FFF2-40B4-BE49-F238E27FC236}">
                <a16:creationId xmlns:a16="http://schemas.microsoft.com/office/drawing/2014/main" id="{FF20DB9C-6586-9558-BB77-6DD06658BF0F}"/>
              </a:ext>
            </a:extLst>
          </p:cNvPr>
          <p:cNvSpPr/>
          <p:nvPr/>
        </p:nvSpPr>
        <p:spPr>
          <a:xfrm>
            <a:off x="7022039" y="56344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6" name="角丸四角形 25">
            <a:extLst>
              <a:ext uri="{FF2B5EF4-FFF2-40B4-BE49-F238E27FC236}">
                <a16:creationId xmlns:a16="http://schemas.microsoft.com/office/drawing/2014/main" id="{946411B5-BE4F-9A77-FD8A-440A0FD95531}"/>
              </a:ext>
            </a:extLst>
          </p:cNvPr>
          <p:cNvSpPr/>
          <p:nvPr/>
        </p:nvSpPr>
        <p:spPr>
          <a:xfrm>
            <a:off x="7174439" y="57868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7" name="角丸四角形 26">
            <a:extLst>
              <a:ext uri="{FF2B5EF4-FFF2-40B4-BE49-F238E27FC236}">
                <a16:creationId xmlns:a16="http://schemas.microsoft.com/office/drawing/2014/main" id="{B932E290-9F98-C0F6-9EA4-558317DD50A1}"/>
              </a:ext>
            </a:extLst>
          </p:cNvPr>
          <p:cNvSpPr/>
          <p:nvPr/>
        </p:nvSpPr>
        <p:spPr>
          <a:xfrm>
            <a:off x="7326839" y="59392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8" name="右矢印 27">
            <a:extLst>
              <a:ext uri="{FF2B5EF4-FFF2-40B4-BE49-F238E27FC236}">
                <a16:creationId xmlns:a16="http://schemas.microsoft.com/office/drawing/2014/main" id="{0F7F59AC-EB7B-C9AE-73E2-B314092E0EEF}"/>
              </a:ext>
            </a:extLst>
          </p:cNvPr>
          <p:cNvSpPr/>
          <p:nvPr/>
        </p:nvSpPr>
        <p:spPr>
          <a:xfrm>
            <a:off x="6273572" y="5930636"/>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9" name="右矢印 28">
            <a:extLst>
              <a:ext uri="{FF2B5EF4-FFF2-40B4-BE49-F238E27FC236}">
                <a16:creationId xmlns:a16="http://schemas.microsoft.com/office/drawing/2014/main" id="{09A0ED50-A572-133C-345A-D21BC0A99CC0}"/>
              </a:ext>
            </a:extLst>
          </p:cNvPr>
          <p:cNvSpPr/>
          <p:nvPr/>
        </p:nvSpPr>
        <p:spPr>
          <a:xfrm rot="10800000">
            <a:off x="6265200" y="5771534"/>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8C4E8E8C-CD0C-F366-AC87-436F8060BE16}"/>
              </a:ext>
            </a:extLst>
          </p:cNvPr>
          <p:cNvSpPr txBox="1"/>
          <p:nvPr/>
        </p:nvSpPr>
        <p:spPr>
          <a:xfrm>
            <a:off x="6114448" y="5516548"/>
            <a:ext cx="723275" cy="307777"/>
          </a:xfrm>
          <a:prstGeom prst="rect">
            <a:avLst/>
          </a:prstGeom>
          <a:noFill/>
        </p:spPr>
        <p:txBody>
          <a:bodyPr wrap="none" rtlCol="0">
            <a:spAutoFit/>
          </a:bodyPr>
          <a:lstStyle/>
          <a:p>
            <a:pPr algn="l"/>
            <a:r>
              <a:rPr kumimoji="1" lang="ja-JP" altLang="en-US" sz="1400">
                <a:cs typeface="Arial" panose="020B0604020202020204" pitchFamily="34" charset="0"/>
              </a:rPr>
              <a:t>クエリ</a:t>
            </a:r>
            <a:endParaRPr kumimoji="1" lang="ja-JP" altLang="en-US" sz="1400" dirty="0">
              <a:cs typeface="Arial" panose="020B0604020202020204" pitchFamily="34" charset="0"/>
            </a:endParaRPr>
          </a:p>
        </p:txBody>
      </p:sp>
      <p:sp>
        <p:nvSpPr>
          <p:cNvPr id="31" name="テキスト ボックス 30">
            <a:extLst>
              <a:ext uri="{FF2B5EF4-FFF2-40B4-BE49-F238E27FC236}">
                <a16:creationId xmlns:a16="http://schemas.microsoft.com/office/drawing/2014/main" id="{B18EC598-3252-13BE-89F0-0C8C7D5E6980}"/>
              </a:ext>
            </a:extLst>
          </p:cNvPr>
          <p:cNvSpPr txBox="1"/>
          <p:nvPr/>
        </p:nvSpPr>
        <p:spPr>
          <a:xfrm>
            <a:off x="6045788" y="5960355"/>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レコード</a:t>
            </a:r>
            <a:endParaRPr kumimoji="1" lang="ja-JP" altLang="en-US" sz="1400" dirty="0">
              <a:cs typeface="Arial" panose="020B0604020202020204" pitchFamily="34" charset="0"/>
            </a:endParaRPr>
          </a:p>
        </p:txBody>
      </p:sp>
      <p:sp>
        <p:nvSpPr>
          <p:cNvPr id="33" name="右矢印 32">
            <a:extLst>
              <a:ext uri="{FF2B5EF4-FFF2-40B4-BE49-F238E27FC236}">
                <a16:creationId xmlns:a16="http://schemas.microsoft.com/office/drawing/2014/main" id="{1FEE56C2-BC8B-27F3-DA1A-1EBD50714756}"/>
              </a:ext>
            </a:extLst>
          </p:cNvPr>
          <p:cNvSpPr/>
          <p:nvPr/>
        </p:nvSpPr>
        <p:spPr>
          <a:xfrm rot="5400000">
            <a:off x="6980592"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4" name="右矢印 33">
            <a:extLst>
              <a:ext uri="{FF2B5EF4-FFF2-40B4-BE49-F238E27FC236}">
                <a16:creationId xmlns:a16="http://schemas.microsoft.com/office/drawing/2014/main" id="{3FA32600-9697-D8D5-AEE7-74FC5523EBF4}"/>
              </a:ext>
            </a:extLst>
          </p:cNvPr>
          <p:cNvSpPr/>
          <p:nvPr/>
        </p:nvSpPr>
        <p:spPr>
          <a:xfrm rot="5400000">
            <a:off x="6980591" y="5107939"/>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5" name="右矢印 34">
            <a:extLst>
              <a:ext uri="{FF2B5EF4-FFF2-40B4-BE49-F238E27FC236}">
                <a16:creationId xmlns:a16="http://schemas.microsoft.com/office/drawing/2014/main" id="{CC7D3E74-9E55-34AC-1AB8-887969F6A7D0}"/>
              </a:ext>
            </a:extLst>
          </p:cNvPr>
          <p:cNvSpPr/>
          <p:nvPr/>
        </p:nvSpPr>
        <p:spPr>
          <a:xfrm rot="16200000">
            <a:off x="7743084"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6" name="右矢印 35">
            <a:extLst>
              <a:ext uri="{FF2B5EF4-FFF2-40B4-BE49-F238E27FC236}">
                <a16:creationId xmlns:a16="http://schemas.microsoft.com/office/drawing/2014/main" id="{00F9FB4C-62B6-FC23-2F11-83C7FC083958}"/>
              </a:ext>
            </a:extLst>
          </p:cNvPr>
          <p:cNvSpPr/>
          <p:nvPr/>
        </p:nvSpPr>
        <p:spPr>
          <a:xfrm rot="16200000">
            <a:off x="7778717" y="5110591"/>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73F10FC6-A124-6F04-4E4B-8250C6AB3F5F}"/>
              </a:ext>
            </a:extLst>
          </p:cNvPr>
          <p:cNvSpPr txBox="1"/>
          <p:nvPr/>
        </p:nvSpPr>
        <p:spPr>
          <a:xfrm>
            <a:off x="6379811" y="3515037"/>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調査論点</a:t>
            </a:r>
            <a:endParaRPr kumimoji="1" lang="ja-JP" altLang="en-US" sz="1400" dirty="0">
              <a:cs typeface="Arial" panose="020B0604020202020204" pitchFamily="34" charset="0"/>
            </a:endParaRPr>
          </a:p>
        </p:txBody>
      </p:sp>
      <p:sp>
        <p:nvSpPr>
          <p:cNvPr id="38" name="テキスト ボックス 37">
            <a:extLst>
              <a:ext uri="{FF2B5EF4-FFF2-40B4-BE49-F238E27FC236}">
                <a16:creationId xmlns:a16="http://schemas.microsoft.com/office/drawing/2014/main" id="{8655CA0F-0883-1D54-BCFB-A3362274AA5D}"/>
              </a:ext>
            </a:extLst>
          </p:cNvPr>
          <p:cNvSpPr txBox="1"/>
          <p:nvPr/>
        </p:nvSpPr>
        <p:spPr>
          <a:xfrm>
            <a:off x="8124966" y="3505221"/>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レポート</a:t>
            </a:r>
            <a:endParaRPr kumimoji="1" lang="ja-JP" altLang="en-US" sz="1400" dirty="0">
              <a:cs typeface="Arial" panose="020B0604020202020204" pitchFamily="34" charset="0"/>
            </a:endParaRPr>
          </a:p>
        </p:txBody>
      </p:sp>
      <p:sp>
        <p:nvSpPr>
          <p:cNvPr id="39" name="テキスト ボックス 38">
            <a:extLst>
              <a:ext uri="{FF2B5EF4-FFF2-40B4-BE49-F238E27FC236}">
                <a16:creationId xmlns:a16="http://schemas.microsoft.com/office/drawing/2014/main" id="{CB73A2BE-4F77-967C-A328-D973D697D3CA}"/>
              </a:ext>
            </a:extLst>
          </p:cNvPr>
          <p:cNvSpPr txBox="1"/>
          <p:nvPr/>
        </p:nvSpPr>
        <p:spPr>
          <a:xfrm>
            <a:off x="6600604" y="4971274"/>
            <a:ext cx="543739" cy="307777"/>
          </a:xfrm>
          <a:prstGeom prst="rect">
            <a:avLst/>
          </a:prstGeom>
          <a:noFill/>
        </p:spPr>
        <p:txBody>
          <a:bodyPr wrap="none" rtlCol="0">
            <a:spAutoFit/>
          </a:bodyPr>
          <a:lstStyle/>
          <a:p>
            <a:pPr algn="l"/>
            <a:r>
              <a:rPr kumimoji="1" lang="ja-JP" altLang="en-US" sz="1400">
                <a:cs typeface="Arial" panose="020B0604020202020204" pitchFamily="34" charset="0"/>
              </a:rPr>
              <a:t>質問</a:t>
            </a:r>
            <a:endParaRPr kumimoji="1" lang="ja-JP" altLang="en-US" sz="1400" dirty="0">
              <a:cs typeface="Arial" panose="020B0604020202020204" pitchFamily="34" charset="0"/>
            </a:endParaRPr>
          </a:p>
        </p:txBody>
      </p:sp>
      <p:sp>
        <p:nvSpPr>
          <p:cNvPr id="40" name="テキスト ボックス 39">
            <a:extLst>
              <a:ext uri="{FF2B5EF4-FFF2-40B4-BE49-F238E27FC236}">
                <a16:creationId xmlns:a16="http://schemas.microsoft.com/office/drawing/2014/main" id="{E60B3C99-A2D8-01DE-7C92-63F2AE985130}"/>
              </a:ext>
            </a:extLst>
          </p:cNvPr>
          <p:cNvSpPr txBox="1"/>
          <p:nvPr/>
        </p:nvSpPr>
        <p:spPr>
          <a:xfrm>
            <a:off x="8165556" y="5035516"/>
            <a:ext cx="543739" cy="307777"/>
          </a:xfrm>
          <a:prstGeom prst="rect">
            <a:avLst/>
          </a:prstGeom>
          <a:noFill/>
        </p:spPr>
        <p:txBody>
          <a:bodyPr wrap="none" rtlCol="0">
            <a:spAutoFit/>
          </a:bodyPr>
          <a:lstStyle/>
          <a:p>
            <a:pPr algn="l"/>
            <a:r>
              <a:rPr kumimoji="1" lang="ja-JP" altLang="en-US" sz="1400">
                <a:cs typeface="Arial" panose="020B0604020202020204" pitchFamily="34" charset="0"/>
              </a:rPr>
              <a:t>回答</a:t>
            </a:r>
            <a:endParaRPr kumimoji="1" lang="ja-JP" altLang="en-US" sz="1400" dirty="0">
              <a:cs typeface="Arial" panose="020B0604020202020204" pitchFamily="34" charset="0"/>
            </a:endParaRPr>
          </a:p>
        </p:txBody>
      </p:sp>
      <p:sp>
        <p:nvSpPr>
          <p:cNvPr id="47" name="テキスト ボックス 46">
            <a:extLst>
              <a:ext uri="{FF2B5EF4-FFF2-40B4-BE49-F238E27FC236}">
                <a16:creationId xmlns:a16="http://schemas.microsoft.com/office/drawing/2014/main" id="{6BC3AD91-2A59-70CB-6472-4B321DA07D56}"/>
              </a:ext>
            </a:extLst>
          </p:cNvPr>
          <p:cNvSpPr txBox="1"/>
          <p:nvPr/>
        </p:nvSpPr>
        <p:spPr>
          <a:xfrm>
            <a:off x="5815205" y="2776915"/>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調査開始</a:t>
            </a:r>
            <a:endParaRPr kumimoji="1" lang="ja-JP" altLang="en-US" sz="1400" dirty="0">
              <a:cs typeface="Arial" panose="020B0604020202020204" pitchFamily="34" charset="0"/>
            </a:endParaRPr>
          </a:p>
        </p:txBody>
      </p:sp>
      <p:sp>
        <p:nvSpPr>
          <p:cNvPr id="51" name="正方形/長方形 50">
            <a:extLst>
              <a:ext uri="{FF2B5EF4-FFF2-40B4-BE49-F238E27FC236}">
                <a16:creationId xmlns:a16="http://schemas.microsoft.com/office/drawing/2014/main" id="{8EF67208-2558-50E4-2A20-9B7BB46B81BB}"/>
              </a:ext>
            </a:extLst>
          </p:cNvPr>
          <p:cNvSpPr/>
          <p:nvPr/>
        </p:nvSpPr>
        <p:spPr>
          <a:xfrm>
            <a:off x="116223" y="2178644"/>
            <a:ext cx="4362443" cy="45927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kumimoji="1" lang="en-US" altLang="ja-JP" sz="1200" dirty="0"/>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役割</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あなたは CLOUSEAU の階層型調査パイプラインにおける Chief エージェントである。</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目的</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プロセス時刻起点から Windows エンドポイントの コード行動列を復元する。 そのために、最初に「何を確認すべきか」という 調査論点を設計する。</a:t>
            </a: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調査論点 / 調査リード作成ルール</a:t>
            </a:r>
          </a:p>
          <a:p>
            <a:pPr lvl="0" defTabSz="914400" eaLnBrk="0" fontAlgn="base" hangingPunct="0">
              <a:spcBef>
                <a:spcPct val="0"/>
              </a:spcBef>
              <a:spcAft>
                <a:spcPct val="0"/>
              </a:spcAft>
              <a:buFontTx/>
              <a:buChar char="•"/>
            </a:pPr>
            <a:r>
              <a:rPr lang="ja-JP" altLang="ja-JP" sz="1200">
                <a:solidFill>
                  <a:srgbClr val="000000"/>
                </a:solidFill>
                <a:latin typeface="Arial" panose="020B0604020202020204" pitchFamily="34" charset="0"/>
              </a:rPr>
              <a:t>alert title、command line、parent process、target object、 application intent、behavior category を仮定しない。</a:t>
            </a:r>
          </a:p>
          <a:p>
            <a:pPr lvl="0" defTabSz="914400" eaLnBrk="0" fontAlgn="base" hangingPunct="0">
              <a:spcBef>
                <a:spcPct val="0"/>
              </a:spcBef>
              <a:spcAft>
                <a:spcPct val="0"/>
              </a:spcAft>
              <a:buFontTx/>
              <a:buChar char="•"/>
            </a:pPr>
            <a:r>
              <a:rPr lang="ja-JP" altLang="ja-JP" sz="1200">
                <a:solidFill>
                  <a:srgbClr val="000000"/>
                </a:solidFill>
                <a:latin typeface="Arial" panose="020B0604020202020204" pitchFamily="34" charset="0"/>
              </a:rPr>
              <a:t>CBC alert 内容は起点情報の一部ではない。 調査担当が database 内で発見した場合にだけ使う。</a:t>
            </a:r>
          </a:p>
          <a:p>
            <a:pPr lvl="0" defTabSz="914400" eaLnBrk="0" fontAlgn="base" hangingPunct="0">
              <a:spcBef>
                <a:spcPct val="0"/>
              </a:spcBef>
              <a:spcAft>
                <a:spcPct val="0"/>
              </a:spcAft>
              <a:buFontTx/>
              <a:buChar char="•"/>
            </a:pPr>
            <a:r>
              <a:rPr lang="ja-JP" altLang="ja-JP" sz="1200">
                <a:solidFill>
                  <a:srgbClr val="000000"/>
                </a:solidFill>
                <a:latin typeface="Arial" panose="020B0604020202020204" pitchFamily="34" charset="0"/>
              </a:rPr>
              <a:t>各調査論点には、調査対象、調査理由、 確認したい証拠を含める。</a:t>
            </a:r>
          </a:p>
          <a:p>
            <a:pPr lvl="0" defTabSz="914400" eaLnBrk="0" fontAlgn="base" hangingPunct="0">
              <a:spcBef>
                <a:spcPct val="0"/>
              </a:spcBef>
              <a:spcAft>
                <a:spcPct val="0"/>
              </a:spcAft>
              <a:buFontTx/>
              <a:buChar char="•"/>
            </a:pPr>
            <a:r>
              <a:rPr lang="ja-JP" altLang="ja-JP" sz="1200">
                <a:solidFill>
                  <a:srgbClr val="000000"/>
                </a:solidFill>
                <a:latin typeface="Arial" panose="020B0604020202020204" pitchFamily="34" charset="0"/>
              </a:rPr>
              <a:t>近傍 row の接続関係は、先に決め打ちせず、 観測証拠で検証する。</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buFontTx/>
              <a:buChar char="•"/>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環境</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{environment} ...</a:t>
            </a: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SOC からの起点情報</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{initial_message}</a:t>
            </a:r>
            <a:endParaRPr lang="ja-JP" altLang="ja-JP" sz="1200">
              <a:solidFill>
                <a:schemeClr val="tx1"/>
              </a:solidFill>
              <a:latin typeface="Arial" panose="020B0604020202020204" pitchFamily="34" charset="0"/>
            </a:endParaRPr>
          </a:p>
          <a:p>
            <a:endParaRPr kumimoji="1" lang="ja-JP" altLang="en-US" sz="1200"/>
          </a:p>
        </p:txBody>
      </p:sp>
      <p:sp>
        <p:nvSpPr>
          <p:cNvPr id="52" name="テキスト ボックス 51">
            <a:extLst>
              <a:ext uri="{FF2B5EF4-FFF2-40B4-BE49-F238E27FC236}">
                <a16:creationId xmlns:a16="http://schemas.microsoft.com/office/drawing/2014/main" id="{49577886-6365-427E-53FE-7434F2E0326B}"/>
              </a:ext>
            </a:extLst>
          </p:cNvPr>
          <p:cNvSpPr txBox="1"/>
          <p:nvPr/>
        </p:nvSpPr>
        <p:spPr>
          <a:xfrm>
            <a:off x="78735" y="632482"/>
            <a:ext cx="8473795" cy="1200329"/>
          </a:xfrm>
          <a:prstGeom prst="rect">
            <a:avLst/>
          </a:prstGeom>
          <a:noFill/>
        </p:spPr>
        <p:txBody>
          <a:bodyPr wrap="none" rtlCol="0">
            <a:spAutoFit/>
          </a:bodyPr>
          <a:lstStyle/>
          <a:p>
            <a:pPr marL="285750" indent="-285750" algn="l">
              <a:buFont typeface="Arial" panose="020B0604020202020204" pitchFamily="34" charset="0"/>
              <a:buChar char="•"/>
            </a:pPr>
            <a:r>
              <a:rPr kumimoji="1" lang="en-US" altLang="ja-JP" dirty="0">
                <a:cs typeface="Arial" panose="020B0604020202020204" pitchFamily="34" charset="0"/>
              </a:rPr>
              <a:t>Chief Agent</a:t>
            </a:r>
            <a:r>
              <a:rPr kumimoji="1" lang="ja-JP" altLang="en-US">
                <a:cs typeface="Arial" panose="020B0604020202020204" pitchFamily="34" charset="0"/>
              </a:rPr>
              <a:t>：全体の統括</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受け取ったセキュリティアラートから調査論点を作り下位の</a:t>
            </a:r>
            <a:r>
              <a:rPr kumimoji="1" lang="en-US" altLang="ja-JP" dirty="0">
                <a:cs typeface="Arial" panose="020B0604020202020204" pitchFamily="34" charset="0"/>
              </a:rPr>
              <a:t>Agent</a:t>
            </a:r>
            <a:r>
              <a:rPr kumimoji="1" lang="ja-JP" altLang="en-US">
                <a:cs typeface="Arial" panose="020B0604020202020204" pitchFamily="34" charset="0"/>
              </a:rPr>
              <a:t>に渡す</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調査の結果を受け取り新しい調査論点を作成する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調査結果が全て出たタイミングで最終レポートを作成する</a:t>
            </a:r>
            <a:endParaRPr kumimoji="1" lang="en-US" altLang="ja-JP" dirty="0">
              <a:cs typeface="Arial" panose="020B0604020202020204" pitchFamily="34" charset="0"/>
            </a:endParaRPr>
          </a:p>
        </p:txBody>
      </p:sp>
      <p:sp>
        <p:nvSpPr>
          <p:cNvPr id="2" name="右矢印 1">
            <a:extLst>
              <a:ext uri="{FF2B5EF4-FFF2-40B4-BE49-F238E27FC236}">
                <a16:creationId xmlns:a16="http://schemas.microsoft.com/office/drawing/2014/main" id="{DE95F17D-9815-373D-87D3-259FA5140E60}"/>
              </a:ext>
            </a:extLst>
          </p:cNvPr>
          <p:cNvSpPr/>
          <p:nvPr/>
        </p:nvSpPr>
        <p:spPr>
          <a:xfrm>
            <a:off x="5980191" y="3029616"/>
            <a:ext cx="638594" cy="115187"/>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54634A40-52A5-E8A7-3677-4DF268ADA734}"/>
              </a:ext>
            </a:extLst>
          </p:cNvPr>
          <p:cNvCxnSpPr>
            <a:cxnSpLocks/>
          </p:cNvCxnSpPr>
          <p:nvPr/>
        </p:nvCxnSpPr>
        <p:spPr>
          <a:xfrm>
            <a:off x="4704515" y="2901789"/>
            <a:ext cx="0" cy="3333481"/>
          </a:xfrm>
          <a:prstGeom prst="line">
            <a:avLst/>
          </a:prstGeom>
        </p:spPr>
        <p:style>
          <a:lnRef idx="1">
            <a:schemeClr val="dk1"/>
          </a:lnRef>
          <a:fillRef idx="0">
            <a:schemeClr val="dk1"/>
          </a:fillRef>
          <a:effectRef idx="0">
            <a:schemeClr val="dk1"/>
          </a:effectRef>
          <a:fontRef idx="minor">
            <a:schemeClr val="tx1"/>
          </a:fontRef>
        </p:style>
      </p:cxnSp>
      <p:sp>
        <p:nvSpPr>
          <p:cNvPr id="10" name="正方形/長方形 9">
            <a:extLst>
              <a:ext uri="{FF2B5EF4-FFF2-40B4-BE49-F238E27FC236}">
                <a16:creationId xmlns:a16="http://schemas.microsoft.com/office/drawing/2014/main" id="{9045A69F-E867-E2BA-1530-CF56E59BC04F}"/>
              </a:ext>
            </a:extLst>
          </p:cNvPr>
          <p:cNvSpPr/>
          <p:nvPr/>
        </p:nvSpPr>
        <p:spPr>
          <a:xfrm>
            <a:off x="6628947" y="2590554"/>
            <a:ext cx="2086873"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コネクタ 47">
            <a:extLst>
              <a:ext uri="{FF2B5EF4-FFF2-40B4-BE49-F238E27FC236}">
                <a16:creationId xmlns:a16="http://schemas.microsoft.com/office/drawing/2014/main" id="{EF4C7943-64A2-37C6-9B0F-74DB7089731E}"/>
              </a:ext>
            </a:extLst>
          </p:cNvPr>
          <p:cNvCxnSpPr>
            <a:cxnSpLocks/>
          </p:cNvCxnSpPr>
          <p:nvPr/>
        </p:nvCxnSpPr>
        <p:spPr>
          <a:xfrm>
            <a:off x="4478666" y="2235115"/>
            <a:ext cx="2140119" cy="35212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398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9D32-FF61-FE05-A45C-E49AF4F4F2A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37F3E78-1FBE-3D92-60F4-2BF8C52EBEC5}"/>
              </a:ext>
            </a:extLst>
          </p:cNvPr>
          <p:cNvSpPr>
            <a:spLocks noGrp="1"/>
          </p:cNvSpPr>
          <p:nvPr>
            <p:ph type="title"/>
          </p:nvPr>
        </p:nvSpPr>
        <p:spPr>
          <a:xfrm>
            <a:off x="217755" y="13766"/>
            <a:ext cx="7886700" cy="626133"/>
          </a:xfrm>
        </p:spPr>
        <p:txBody>
          <a:bodyPr>
            <a:normAutofit/>
          </a:bodyPr>
          <a:lstStyle/>
          <a:p>
            <a:r>
              <a:rPr lang="en-US" dirty="0" err="1"/>
              <a:t>提案手法</a:t>
            </a:r>
            <a:r>
              <a:rPr lang="ja-JP" altLang="en-US"/>
              <a:t>　内部処理</a:t>
            </a:r>
            <a:endParaRPr lang="en-US" dirty="0"/>
          </a:p>
        </p:txBody>
      </p:sp>
      <p:sp>
        <p:nvSpPr>
          <p:cNvPr id="4" name="スライド番号プレースホルダー 3">
            <a:extLst>
              <a:ext uri="{FF2B5EF4-FFF2-40B4-BE49-F238E27FC236}">
                <a16:creationId xmlns:a16="http://schemas.microsoft.com/office/drawing/2014/main" id="{563D0223-F521-2ABB-1AD6-F0A94C8F7C9B}"/>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13</a:t>
            </a:fld>
            <a:endParaRPr lang="en-US"/>
          </a:p>
        </p:txBody>
      </p:sp>
      <p:pic>
        <p:nvPicPr>
          <p:cNvPr id="8" name="図 7">
            <a:extLst>
              <a:ext uri="{FF2B5EF4-FFF2-40B4-BE49-F238E27FC236}">
                <a16:creationId xmlns:a16="http://schemas.microsoft.com/office/drawing/2014/main" id="{42F9C07C-3F5F-2A9C-579C-9554DC710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45" y="7964318"/>
            <a:ext cx="8627911" cy="4855778"/>
          </a:xfrm>
          <a:prstGeom prst="rect">
            <a:avLst/>
          </a:prstGeom>
        </p:spPr>
      </p:pic>
      <p:pic>
        <p:nvPicPr>
          <p:cNvPr id="7" name="グラフィックス 6" descr="データベース 単色塗りつぶし">
            <a:extLst>
              <a:ext uri="{FF2B5EF4-FFF2-40B4-BE49-F238E27FC236}">
                <a16:creationId xmlns:a16="http://schemas.microsoft.com/office/drawing/2014/main" id="{B71CC44B-161C-4244-C91A-B949B3FC87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5791" y="5297269"/>
            <a:ext cx="914400" cy="914400"/>
          </a:xfrm>
          <a:prstGeom prst="rect">
            <a:avLst/>
          </a:prstGeom>
        </p:spPr>
      </p:pic>
      <p:pic>
        <p:nvPicPr>
          <p:cNvPr id="11" name="グラフィックス 10" descr="警告 単色塗りつぶし">
            <a:extLst>
              <a:ext uri="{FF2B5EF4-FFF2-40B4-BE49-F238E27FC236}">
                <a16:creationId xmlns:a16="http://schemas.microsoft.com/office/drawing/2014/main" id="{1F9E2D4D-1196-0A20-69EE-E35F2E4A7C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42670" y="2521347"/>
            <a:ext cx="914400" cy="914400"/>
          </a:xfrm>
          <a:prstGeom prst="rect">
            <a:avLst/>
          </a:prstGeom>
        </p:spPr>
      </p:pic>
      <p:sp>
        <p:nvSpPr>
          <p:cNvPr id="16" name="テキスト ボックス 15">
            <a:extLst>
              <a:ext uri="{FF2B5EF4-FFF2-40B4-BE49-F238E27FC236}">
                <a16:creationId xmlns:a16="http://schemas.microsoft.com/office/drawing/2014/main" id="{063AB0C5-BEA2-B6FE-BCBC-D23E648BF4BB}"/>
              </a:ext>
            </a:extLst>
          </p:cNvPr>
          <p:cNvSpPr txBox="1"/>
          <p:nvPr/>
        </p:nvSpPr>
        <p:spPr>
          <a:xfrm>
            <a:off x="4926203" y="3392544"/>
            <a:ext cx="1107996" cy="461665"/>
          </a:xfrm>
          <a:prstGeom prst="rect">
            <a:avLst/>
          </a:prstGeom>
          <a:noFill/>
        </p:spPr>
        <p:txBody>
          <a:bodyPr wrap="none" rtlCol="0">
            <a:spAutoFit/>
          </a:bodyPr>
          <a:lstStyle/>
          <a:p>
            <a:pPr algn="l"/>
            <a:r>
              <a:rPr kumimoji="1" lang="ja-JP" altLang="en-US" sz="1200">
                <a:cs typeface="Arial" panose="020B0604020202020204" pitchFamily="34" charset="0"/>
              </a:rPr>
              <a:t>セキュリティ</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　アラート</a:t>
            </a:r>
            <a:endParaRPr kumimoji="1" lang="ja-JP" altLang="en-US" sz="1200" dirty="0">
              <a:cs typeface="Arial" panose="020B0604020202020204" pitchFamily="34" charset="0"/>
            </a:endParaRPr>
          </a:p>
        </p:txBody>
      </p:sp>
      <p:sp>
        <p:nvSpPr>
          <p:cNvPr id="18" name="テキスト ボックス 17">
            <a:extLst>
              <a:ext uri="{FF2B5EF4-FFF2-40B4-BE49-F238E27FC236}">
                <a16:creationId xmlns:a16="http://schemas.microsoft.com/office/drawing/2014/main" id="{3D6699FE-6895-8B6F-EAC7-6C75B28EE48C}"/>
              </a:ext>
            </a:extLst>
          </p:cNvPr>
          <p:cNvSpPr txBox="1"/>
          <p:nvPr/>
        </p:nvSpPr>
        <p:spPr>
          <a:xfrm>
            <a:off x="5048491" y="6121014"/>
            <a:ext cx="1107996" cy="461665"/>
          </a:xfrm>
          <a:prstGeom prst="rect">
            <a:avLst/>
          </a:prstGeom>
          <a:noFill/>
        </p:spPr>
        <p:txBody>
          <a:bodyPr wrap="none" rtlCol="0">
            <a:spAutoFit/>
          </a:bodyPr>
          <a:lstStyle/>
          <a:p>
            <a:pPr algn="l"/>
            <a:r>
              <a:rPr kumimoji="1" lang="en-US" altLang="ja-JP" sz="1200" dirty="0">
                <a:cs typeface="Arial" panose="020B0604020202020204" pitchFamily="34" charset="0"/>
              </a:rPr>
              <a:t> </a:t>
            </a:r>
            <a:r>
              <a:rPr kumimoji="1" lang="ja-JP" altLang="en-US" sz="1200">
                <a:cs typeface="Arial" panose="020B0604020202020204" pitchFamily="34" charset="0"/>
              </a:rPr>
              <a:t>前処理済み</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データベース</a:t>
            </a:r>
            <a:endParaRPr kumimoji="1" lang="ja-JP" altLang="en-US" sz="1200" dirty="0">
              <a:cs typeface="Arial" panose="020B0604020202020204" pitchFamily="34" charset="0"/>
            </a:endParaRPr>
          </a:p>
        </p:txBody>
      </p:sp>
      <p:sp>
        <p:nvSpPr>
          <p:cNvPr id="21" name="角丸四角形 20">
            <a:extLst>
              <a:ext uri="{FF2B5EF4-FFF2-40B4-BE49-F238E27FC236}">
                <a16:creationId xmlns:a16="http://schemas.microsoft.com/office/drawing/2014/main" id="{939EAF89-7EDA-1419-F5AC-71FCD1F1C124}"/>
              </a:ext>
            </a:extLst>
          </p:cNvPr>
          <p:cNvSpPr/>
          <p:nvPr/>
        </p:nvSpPr>
        <p:spPr>
          <a:xfrm>
            <a:off x="6748164" y="2901789"/>
            <a:ext cx="1888447"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 </a:t>
            </a:r>
            <a:endParaRPr kumimoji="1" lang="ja-JP" altLang="en-US" b="1">
              <a:solidFill>
                <a:schemeClr val="tx1"/>
              </a:solidFill>
            </a:endParaRPr>
          </a:p>
        </p:txBody>
      </p:sp>
      <p:sp>
        <p:nvSpPr>
          <p:cNvPr id="22" name="角丸四角形 21">
            <a:extLst>
              <a:ext uri="{FF2B5EF4-FFF2-40B4-BE49-F238E27FC236}">
                <a16:creationId xmlns:a16="http://schemas.microsoft.com/office/drawing/2014/main" id="{9D45A17D-D11C-57A3-DED1-0529A04474B3}"/>
              </a:ext>
            </a:extLst>
          </p:cNvPr>
          <p:cNvSpPr/>
          <p:nvPr/>
        </p:nvSpPr>
        <p:spPr>
          <a:xfrm>
            <a:off x="6526417" y="40148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3" name="角丸四角形 22">
            <a:extLst>
              <a:ext uri="{FF2B5EF4-FFF2-40B4-BE49-F238E27FC236}">
                <a16:creationId xmlns:a16="http://schemas.microsoft.com/office/drawing/2014/main" id="{CD7F90FE-C9DF-37E5-3E59-4D424942EC63}"/>
              </a:ext>
            </a:extLst>
          </p:cNvPr>
          <p:cNvSpPr/>
          <p:nvPr/>
        </p:nvSpPr>
        <p:spPr>
          <a:xfrm>
            <a:off x="6678817" y="41672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4" name="角丸四角形 23">
            <a:extLst>
              <a:ext uri="{FF2B5EF4-FFF2-40B4-BE49-F238E27FC236}">
                <a16:creationId xmlns:a16="http://schemas.microsoft.com/office/drawing/2014/main" id="{A43876AD-5116-2782-6975-622541EC2E52}"/>
              </a:ext>
            </a:extLst>
          </p:cNvPr>
          <p:cNvSpPr/>
          <p:nvPr/>
        </p:nvSpPr>
        <p:spPr>
          <a:xfrm>
            <a:off x="6831217" y="43196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5" name="角丸四角形 24">
            <a:extLst>
              <a:ext uri="{FF2B5EF4-FFF2-40B4-BE49-F238E27FC236}">
                <a16:creationId xmlns:a16="http://schemas.microsoft.com/office/drawing/2014/main" id="{9067D7F4-798E-7E6E-AA13-6054BA735AF8}"/>
              </a:ext>
            </a:extLst>
          </p:cNvPr>
          <p:cNvSpPr/>
          <p:nvPr/>
        </p:nvSpPr>
        <p:spPr>
          <a:xfrm>
            <a:off x="7022039" y="56344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6" name="角丸四角形 25">
            <a:extLst>
              <a:ext uri="{FF2B5EF4-FFF2-40B4-BE49-F238E27FC236}">
                <a16:creationId xmlns:a16="http://schemas.microsoft.com/office/drawing/2014/main" id="{111E78CE-3DC4-1586-8F51-8462D31F4BFD}"/>
              </a:ext>
            </a:extLst>
          </p:cNvPr>
          <p:cNvSpPr/>
          <p:nvPr/>
        </p:nvSpPr>
        <p:spPr>
          <a:xfrm>
            <a:off x="7174439" y="57868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7" name="角丸四角形 26">
            <a:extLst>
              <a:ext uri="{FF2B5EF4-FFF2-40B4-BE49-F238E27FC236}">
                <a16:creationId xmlns:a16="http://schemas.microsoft.com/office/drawing/2014/main" id="{B18710A6-89EE-1C43-BF6E-134079E78765}"/>
              </a:ext>
            </a:extLst>
          </p:cNvPr>
          <p:cNvSpPr/>
          <p:nvPr/>
        </p:nvSpPr>
        <p:spPr>
          <a:xfrm>
            <a:off x="7326839" y="59392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8" name="右矢印 27">
            <a:extLst>
              <a:ext uri="{FF2B5EF4-FFF2-40B4-BE49-F238E27FC236}">
                <a16:creationId xmlns:a16="http://schemas.microsoft.com/office/drawing/2014/main" id="{AEF191B9-71C9-28AA-D10B-39B013C3E175}"/>
              </a:ext>
            </a:extLst>
          </p:cNvPr>
          <p:cNvSpPr/>
          <p:nvPr/>
        </p:nvSpPr>
        <p:spPr>
          <a:xfrm>
            <a:off x="6273572" y="5930636"/>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9" name="右矢印 28">
            <a:extLst>
              <a:ext uri="{FF2B5EF4-FFF2-40B4-BE49-F238E27FC236}">
                <a16:creationId xmlns:a16="http://schemas.microsoft.com/office/drawing/2014/main" id="{452D1F5E-1D65-547E-D15F-216AAC46D103}"/>
              </a:ext>
            </a:extLst>
          </p:cNvPr>
          <p:cNvSpPr/>
          <p:nvPr/>
        </p:nvSpPr>
        <p:spPr>
          <a:xfrm rot="10800000">
            <a:off x="6265200" y="5771534"/>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32A33742-1DF3-000A-EC49-5A7E65D50110}"/>
              </a:ext>
            </a:extLst>
          </p:cNvPr>
          <p:cNvSpPr txBox="1"/>
          <p:nvPr/>
        </p:nvSpPr>
        <p:spPr>
          <a:xfrm>
            <a:off x="6114448" y="5516548"/>
            <a:ext cx="723275" cy="307777"/>
          </a:xfrm>
          <a:prstGeom prst="rect">
            <a:avLst/>
          </a:prstGeom>
          <a:noFill/>
        </p:spPr>
        <p:txBody>
          <a:bodyPr wrap="none" rtlCol="0">
            <a:spAutoFit/>
          </a:bodyPr>
          <a:lstStyle/>
          <a:p>
            <a:pPr algn="l"/>
            <a:r>
              <a:rPr kumimoji="1" lang="ja-JP" altLang="en-US" sz="1400">
                <a:cs typeface="Arial" panose="020B0604020202020204" pitchFamily="34" charset="0"/>
              </a:rPr>
              <a:t>クエリ</a:t>
            </a:r>
            <a:endParaRPr kumimoji="1" lang="ja-JP" altLang="en-US" sz="1400" dirty="0">
              <a:cs typeface="Arial" panose="020B0604020202020204" pitchFamily="34" charset="0"/>
            </a:endParaRPr>
          </a:p>
        </p:txBody>
      </p:sp>
      <p:sp>
        <p:nvSpPr>
          <p:cNvPr id="31" name="テキスト ボックス 30">
            <a:extLst>
              <a:ext uri="{FF2B5EF4-FFF2-40B4-BE49-F238E27FC236}">
                <a16:creationId xmlns:a16="http://schemas.microsoft.com/office/drawing/2014/main" id="{6470678D-6472-CBEB-06F3-FFD8237515C9}"/>
              </a:ext>
            </a:extLst>
          </p:cNvPr>
          <p:cNvSpPr txBox="1"/>
          <p:nvPr/>
        </p:nvSpPr>
        <p:spPr>
          <a:xfrm>
            <a:off x="6045788" y="5960355"/>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レコード</a:t>
            </a:r>
            <a:endParaRPr kumimoji="1" lang="ja-JP" altLang="en-US" sz="1400" dirty="0">
              <a:cs typeface="Arial" panose="020B0604020202020204" pitchFamily="34" charset="0"/>
            </a:endParaRPr>
          </a:p>
        </p:txBody>
      </p:sp>
      <p:sp>
        <p:nvSpPr>
          <p:cNvPr id="33" name="右矢印 32">
            <a:extLst>
              <a:ext uri="{FF2B5EF4-FFF2-40B4-BE49-F238E27FC236}">
                <a16:creationId xmlns:a16="http://schemas.microsoft.com/office/drawing/2014/main" id="{06A716A9-1039-A455-506B-1802F46938D4}"/>
              </a:ext>
            </a:extLst>
          </p:cNvPr>
          <p:cNvSpPr/>
          <p:nvPr/>
        </p:nvSpPr>
        <p:spPr>
          <a:xfrm rot="5400000">
            <a:off x="6980592"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4" name="右矢印 33">
            <a:extLst>
              <a:ext uri="{FF2B5EF4-FFF2-40B4-BE49-F238E27FC236}">
                <a16:creationId xmlns:a16="http://schemas.microsoft.com/office/drawing/2014/main" id="{211705A4-59FF-2A5B-4CA0-04FD7E9A0AFE}"/>
              </a:ext>
            </a:extLst>
          </p:cNvPr>
          <p:cNvSpPr/>
          <p:nvPr/>
        </p:nvSpPr>
        <p:spPr>
          <a:xfrm rot="5400000">
            <a:off x="6980591" y="5107939"/>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5" name="右矢印 34">
            <a:extLst>
              <a:ext uri="{FF2B5EF4-FFF2-40B4-BE49-F238E27FC236}">
                <a16:creationId xmlns:a16="http://schemas.microsoft.com/office/drawing/2014/main" id="{468E8850-4C68-651E-C910-3FF9874350EF}"/>
              </a:ext>
            </a:extLst>
          </p:cNvPr>
          <p:cNvSpPr/>
          <p:nvPr/>
        </p:nvSpPr>
        <p:spPr>
          <a:xfrm rot="16200000">
            <a:off x="7743084"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6" name="右矢印 35">
            <a:extLst>
              <a:ext uri="{FF2B5EF4-FFF2-40B4-BE49-F238E27FC236}">
                <a16:creationId xmlns:a16="http://schemas.microsoft.com/office/drawing/2014/main" id="{875192D2-C023-001E-CF71-FD727CAFB959}"/>
              </a:ext>
            </a:extLst>
          </p:cNvPr>
          <p:cNvSpPr/>
          <p:nvPr/>
        </p:nvSpPr>
        <p:spPr>
          <a:xfrm rot="16200000">
            <a:off x="7778717" y="5110591"/>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A1B4C750-DFE4-9FC2-7022-4DF516285133}"/>
              </a:ext>
            </a:extLst>
          </p:cNvPr>
          <p:cNvSpPr txBox="1"/>
          <p:nvPr/>
        </p:nvSpPr>
        <p:spPr>
          <a:xfrm>
            <a:off x="6379811" y="3515037"/>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調査論点</a:t>
            </a:r>
            <a:endParaRPr kumimoji="1" lang="ja-JP" altLang="en-US" sz="1400" dirty="0">
              <a:cs typeface="Arial" panose="020B0604020202020204" pitchFamily="34" charset="0"/>
            </a:endParaRPr>
          </a:p>
        </p:txBody>
      </p:sp>
      <p:sp>
        <p:nvSpPr>
          <p:cNvPr id="38" name="テキスト ボックス 37">
            <a:extLst>
              <a:ext uri="{FF2B5EF4-FFF2-40B4-BE49-F238E27FC236}">
                <a16:creationId xmlns:a16="http://schemas.microsoft.com/office/drawing/2014/main" id="{F8682346-EBED-B0F4-5308-A0CFFF2FA01E}"/>
              </a:ext>
            </a:extLst>
          </p:cNvPr>
          <p:cNvSpPr txBox="1"/>
          <p:nvPr/>
        </p:nvSpPr>
        <p:spPr>
          <a:xfrm>
            <a:off x="8124966" y="3505221"/>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レポート</a:t>
            </a:r>
            <a:endParaRPr kumimoji="1" lang="ja-JP" altLang="en-US" sz="1400" dirty="0">
              <a:cs typeface="Arial" panose="020B0604020202020204" pitchFamily="34" charset="0"/>
            </a:endParaRPr>
          </a:p>
        </p:txBody>
      </p:sp>
      <p:sp>
        <p:nvSpPr>
          <p:cNvPr id="39" name="テキスト ボックス 38">
            <a:extLst>
              <a:ext uri="{FF2B5EF4-FFF2-40B4-BE49-F238E27FC236}">
                <a16:creationId xmlns:a16="http://schemas.microsoft.com/office/drawing/2014/main" id="{E27FE343-0B33-A087-F966-E03DE9B1DCBC}"/>
              </a:ext>
            </a:extLst>
          </p:cNvPr>
          <p:cNvSpPr txBox="1"/>
          <p:nvPr/>
        </p:nvSpPr>
        <p:spPr>
          <a:xfrm>
            <a:off x="6600604" y="4971274"/>
            <a:ext cx="543739" cy="307777"/>
          </a:xfrm>
          <a:prstGeom prst="rect">
            <a:avLst/>
          </a:prstGeom>
          <a:noFill/>
        </p:spPr>
        <p:txBody>
          <a:bodyPr wrap="none" rtlCol="0">
            <a:spAutoFit/>
          </a:bodyPr>
          <a:lstStyle/>
          <a:p>
            <a:pPr algn="l"/>
            <a:r>
              <a:rPr kumimoji="1" lang="ja-JP" altLang="en-US" sz="1400">
                <a:cs typeface="Arial" panose="020B0604020202020204" pitchFamily="34" charset="0"/>
              </a:rPr>
              <a:t>質問</a:t>
            </a:r>
            <a:endParaRPr kumimoji="1" lang="ja-JP" altLang="en-US" sz="1400" dirty="0">
              <a:cs typeface="Arial" panose="020B0604020202020204" pitchFamily="34" charset="0"/>
            </a:endParaRPr>
          </a:p>
        </p:txBody>
      </p:sp>
      <p:sp>
        <p:nvSpPr>
          <p:cNvPr id="40" name="テキスト ボックス 39">
            <a:extLst>
              <a:ext uri="{FF2B5EF4-FFF2-40B4-BE49-F238E27FC236}">
                <a16:creationId xmlns:a16="http://schemas.microsoft.com/office/drawing/2014/main" id="{0938651A-8C6B-2077-6D2E-6712F8A8E7AF}"/>
              </a:ext>
            </a:extLst>
          </p:cNvPr>
          <p:cNvSpPr txBox="1"/>
          <p:nvPr/>
        </p:nvSpPr>
        <p:spPr>
          <a:xfrm>
            <a:off x="8165556" y="5035516"/>
            <a:ext cx="543739" cy="307777"/>
          </a:xfrm>
          <a:prstGeom prst="rect">
            <a:avLst/>
          </a:prstGeom>
          <a:noFill/>
        </p:spPr>
        <p:txBody>
          <a:bodyPr wrap="none" rtlCol="0">
            <a:spAutoFit/>
          </a:bodyPr>
          <a:lstStyle/>
          <a:p>
            <a:pPr algn="l"/>
            <a:r>
              <a:rPr kumimoji="1" lang="ja-JP" altLang="en-US" sz="1400">
                <a:cs typeface="Arial" panose="020B0604020202020204" pitchFamily="34" charset="0"/>
              </a:rPr>
              <a:t>回答</a:t>
            </a:r>
            <a:endParaRPr kumimoji="1" lang="ja-JP" altLang="en-US" sz="1400" dirty="0">
              <a:cs typeface="Arial" panose="020B0604020202020204" pitchFamily="34" charset="0"/>
            </a:endParaRPr>
          </a:p>
        </p:txBody>
      </p:sp>
      <p:sp>
        <p:nvSpPr>
          <p:cNvPr id="47" name="テキスト ボックス 46">
            <a:extLst>
              <a:ext uri="{FF2B5EF4-FFF2-40B4-BE49-F238E27FC236}">
                <a16:creationId xmlns:a16="http://schemas.microsoft.com/office/drawing/2014/main" id="{39C0BBEA-3F4B-5019-A8BB-E8896E50BC0C}"/>
              </a:ext>
            </a:extLst>
          </p:cNvPr>
          <p:cNvSpPr txBox="1"/>
          <p:nvPr/>
        </p:nvSpPr>
        <p:spPr>
          <a:xfrm>
            <a:off x="5815205" y="2776915"/>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調査開始</a:t>
            </a:r>
            <a:endParaRPr kumimoji="1" lang="ja-JP" altLang="en-US" sz="1400" dirty="0">
              <a:cs typeface="Arial" panose="020B0604020202020204" pitchFamily="34" charset="0"/>
            </a:endParaRPr>
          </a:p>
        </p:txBody>
      </p:sp>
      <p:sp>
        <p:nvSpPr>
          <p:cNvPr id="51" name="正方形/長方形 50">
            <a:extLst>
              <a:ext uri="{FF2B5EF4-FFF2-40B4-BE49-F238E27FC236}">
                <a16:creationId xmlns:a16="http://schemas.microsoft.com/office/drawing/2014/main" id="{6B020DCC-1863-CCDC-4601-6966E0F43F20}"/>
              </a:ext>
            </a:extLst>
          </p:cNvPr>
          <p:cNvSpPr/>
          <p:nvPr/>
        </p:nvSpPr>
        <p:spPr>
          <a:xfrm>
            <a:off x="78735" y="2178644"/>
            <a:ext cx="4399931" cy="45927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役割</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あなたは CLOUSEAU 内の調査担当エージェントである。</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目的</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Chief の調査リードを、QAAgent に渡す 具体的で検証可能な調査質問へ変換する。</a:t>
            </a: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調査手順</a:t>
            </a:r>
          </a:p>
          <a:p>
            <a:pPr lvl="0" defTabSz="914400" eaLnBrk="0" fontAlgn="base" hangingPunct="0">
              <a:spcBef>
                <a:spcPct val="0"/>
              </a:spcBef>
              <a:spcAft>
                <a:spcPct val="0"/>
              </a:spcAft>
              <a:buFontTx/>
              <a:buAutoNum type="arabicPeriod"/>
            </a:pPr>
            <a:r>
              <a:rPr lang="ja-JP" altLang="ja-JP" sz="1200">
                <a:solidFill>
                  <a:srgbClr val="000000"/>
                </a:solidFill>
                <a:latin typeface="Arial" panose="020B0604020202020204" pitchFamily="34" charset="0"/>
              </a:rPr>
              <a:t>SOC の起点情報である host、process、timestamp から始める。</a:t>
            </a:r>
          </a:p>
          <a:p>
            <a:pPr lvl="0" defTabSz="914400" eaLnBrk="0" fontAlgn="base" hangingPunct="0">
              <a:spcBef>
                <a:spcPct val="0"/>
              </a:spcBef>
              <a:spcAft>
                <a:spcPct val="0"/>
              </a:spcAft>
              <a:buFontTx/>
              <a:buAutoNum type="arabicPeriod" startAt="2"/>
            </a:pPr>
            <a:r>
              <a:rPr lang="ja-JP" altLang="ja-JP" sz="1200">
                <a:solidFill>
                  <a:srgbClr val="000000"/>
                </a:solidFill>
                <a:latin typeface="Arial" panose="020B0604020202020204" pitchFamily="34" charset="0"/>
              </a:rPr>
              <a:t>QAAgent への質問は自然言語だけにする。 SQL、SELECT、WHERE、table/column recipe を書かない。</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a:t>
            </a:r>
          </a:p>
          <a:p>
            <a:pPr lvl="0" defTabSz="914400" eaLnBrk="0" fontAlgn="base" hangingPunct="0">
              <a:spcBef>
                <a:spcPct val="0"/>
              </a:spcBef>
              <a:spcAft>
                <a:spcPct val="0"/>
              </a:spcAft>
              <a:buFontTx/>
              <a:buAutoNum type="arabicPeriod" startAt="8"/>
            </a:pPr>
            <a:r>
              <a:rPr lang="ja-JP" altLang="ja-JP" sz="1200">
                <a:solidFill>
                  <a:srgbClr val="000000"/>
                </a:solidFill>
                <a:latin typeface="Arial" panose="020B0604020202020204" pitchFamily="34" charset="0"/>
              </a:rPr>
              <a:t>必要な証拠が揃うまで、直前の観測値に基づいて 追加質問を続ける。</a:t>
            </a: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有用な証拠</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プロセス関係: pid、ppid、parent_process_name、 parent_process_path、parent_command_line...</a:t>
            </a: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Chief の調査リード</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{initial_message} ...</a:t>
            </a:r>
            <a:endParaRPr lang="ja-JP" altLang="ja-JP" sz="1200">
              <a:solidFill>
                <a:schemeClr val="tx1"/>
              </a:solidFill>
              <a:latin typeface="Arial" panose="020B0604020202020204" pitchFamily="34" charset="0"/>
            </a:endParaRPr>
          </a:p>
          <a:p>
            <a:endParaRPr kumimoji="1" lang="ja-JP" altLang="en-US" sz="1200"/>
          </a:p>
        </p:txBody>
      </p:sp>
      <p:sp>
        <p:nvSpPr>
          <p:cNvPr id="2" name="右矢印 1">
            <a:extLst>
              <a:ext uri="{FF2B5EF4-FFF2-40B4-BE49-F238E27FC236}">
                <a16:creationId xmlns:a16="http://schemas.microsoft.com/office/drawing/2014/main" id="{4BE28CFF-047F-84B0-C981-43C3A8895195}"/>
              </a:ext>
            </a:extLst>
          </p:cNvPr>
          <p:cNvSpPr/>
          <p:nvPr/>
        </p:nvSpPr>
        <p:spPr>
          <a:xfrm>
            <a:off x="5980191" y="3029616"/>
            <a:ext cx="638594" cy="115187"/>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ED8478F1-B64E-ABD7-0570-3C89926781D9}"/>
              </a:ext>
            </a:extLst>
          </p:cNvPr>
          <p:cNvCxnSpPr>
            <a:cxnSpLocks/>
          </p:cNvCxnSpPr>
          <p:nvPr/>
        </p:nvCxnSpPr>
        <p:spPr>
          <a:xfrm>
            <a:off x="4704515" y="2901789"/>
            <a:ext cx="0" cy="3333481"/>
          </a:xfrm>
          <a:prstGeom prst="line">
            <a:avLst/>
          </a:prstGeom>
        </p:spPr>
        <p:style>
          <a:lnRef idx="1">
            <a:schemeClr val="dk1"/>
          </a:lnRef>
          <a:fillRef idx="0">
            <a:schemeClr val="dk1"/>
          </a:fillRef>
          <a:effectRef idx="0">
            <a:schemeClr val="dk1"/>
          </a:effectRef>
          <a:fontRef idx="minor">
            <a:schemeClr val="tx1"/>
          </a:fontRef>
        </p:style>
      </p:cxnSp>
      <p:sp>
        <p:nvSpPr>
          <p:cNvPr id="10" name="正方形/長方形 9">
            <a:extLst>
              <a:ext uri="{FF2B5EF4-FFF2-40B4-BE49-F238E27FC236}">
                <a16:creationId xmlns:a16="http://schemas.microsoft.com/office/drawing/2014/main" id="{15C38F72-EAA1-16E4-24B1-56906A7E77DA}"/>
              </a:ext>
            </a:extLst>
          </p:cNvPr>
          <p:cNvSpPr/>
          <p:nvPr/>
        </p:nvSpPr>
        <p:spPr>
          <a:xfrm>
            <a:off x="6429251" y="3862303"/>
            <a:ext cx="2714749"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コネクタ 47">
            <a:extLst>
              <a:ext uri="{FF2B5EF4-FFF2-40B4-BE49-F238E27FC236}">
                <a16:creationId xmlns:a16="http://schemas.microsoft.com/office/drawing/2014/main" id="{E7ED7640-FE5D-9EC3-EE7C-39D24CE0ED51}"/>
              </a:ext>
            </a:extLst>
          </p:cNvPr>
          <p:cNvCxnSpPr>
            <a:cxnSpLocks/>
          </p:cNvCxnSpPr>
          <p:nvPr/>
        </p:nvCxnSpPr>
        <p:spPr>
          <a:xfrm>
            <a:off x="4478666" y="2235115"/>
            <a:ext cx="1950585" cy="16271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3D91F273-EAB0-BF83-5497-40A5105608E4}"/>
              </a:ext>
            </a:extLst>
          </p:cNvPr>
          <p:cNvSpPr txBox="1"/>
          <p:nvPr/>
        </p:nvSpPr>
        <p:spPr>
          <a:xfrm>
            <a:off x="78735" y="632482"/>
            <a:ext cx="8242962" cy="1200329"/>
          </a:xfrm>
          <a:prstGeom prst="rect">
            <a:avLst/>
          </a:prstGeom>
          <a:noFill/>
        </p:spPr>
        <p:txBody>
          <a:bodyPr wrap="none" rtlCol="0">
            <a:spAutoFit/>
          </a:bodyPr>
          <a:lstStyle/>
          <a:p>
            <a:pPr marL="285750" indent="-285750" algn="l">
              <a:buFont typeface="Arial" panose="020B0604020202020204" pitchFamily="34" charset="0"/>
              <a:buChar char="•"/>
            </a:pPr>
            <a:r>
              <a:rPr kumimoji="1" lang="en-US" altLang="ja-JP" dirty="0">
                <a:cs typeface="Arial" panose="020B0604020202020204" pitchFamily="34" charset="0"/>
              </a:rPr>
              <a:t>Investigator Agent</a:t>
            </a:r>
            <a:r>
              <a:rPr kumimoji="1" lang="ja-JP" altLang="en-US">
                <a:cs typeface="Arial" panose="020B0604020202020204" pitchFamily="34" charset="0"/>
              </a:rPr>
              <a:t>：調査担当者</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上位の</a:t>
            </a:r>
            <a:r>
              <a:rPr kumimoji="1" lang="en-US" altLang="ja-JP" dirty="0">
                <a:cs typeface="Arial" panose="020B0604020202020204" pitchFamily="34" charset="0"/>
              </a:rPr>
              <a:t>Agent</a:t>
            </a:r>
            <a:r>
              <a:rPr kumimoji="1" lang="ja-JP" altLang="en-US">
                <a:cs typeface="Arial" panose="020B0604020202020204" pitchFamily="34" charset="0"/>
              </a:rPr>
              <a:t>から受け取った調査論点を元に調査項目を作成</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調査項目を下位の</a:t>
            </a:r>
            <a:r>
              <a:rPr kumimoji="1" lang="en-US" altLang="ja-JP" dirty="0">
                <a:cs typeface="Arial" panose="020B0604020202020204" pitchFamily="34" charset="0"/>
              </a:rPr>
              <a:t>Agent</a:t>
            </a:r>
            <a:r>
              <a:rPr kumimoji="1" lang="ja-JP" altLang="en-US">
                <a:cs typeface="Arial" panose="020B0604020202020204" pitchFamily="34" charset="0"/>
              </a:rPr>
              <a:t>に渡すのみでデータベースのやり取りはしない</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調査が完了すると調査論点、調査結果と共に上位の</a:t>
            </a:r>
            <a:r>
              <a:rPr kumimoji="1" lang="en-US" altLang="ja-JP" dirty="0">
                <a:cs typeface="Arial" panose="020B0604020202020204" pitchFamily="34" charset="0"/>
              </a:rPr>
              <a:t>Agent</a:t>
            </a:r>
            <a:r>
              <a:rPr kumimoji="1" lang="ja-JP" altLang="en-US">
                <a:cs typeface="Arial" panose="020B0604020202020204" pitchFamily="34" charset="0"/>
              </a:rPr>
              <a:t>に返す</a:t>
            </a:r>
            <a:endParaRPr kumimoji="1" lang="en-US" altLang="ja-JP" dirty="0">
              <a:cs typeface="Arial" panose="020B0604020202020204" pitchFamily="34" charset="0"/>
            </a:endParaRPr>
          </a:p>
        </p:txBody>
      </p:sp>
    </p:spTree>
    <p:extLst>
      <p:ext uri="{BB962C8B-B14F-4D97-AF65-F5344CB8AC3E}">
        <p14:creationId xmlns:p14="http://schemas.microsoft.com/office/powerpoint/2010/main" val="1751709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D70B9-AC07-411E-1B42-F8B8E7D5F03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8D04B14-1A80-9D55-AF9F-E2EBE4D9613B}"/>
              </a:ext>
            </a:extLst>
          </p:cNvPr>
          <p:cNvSpPr>
            <a:spLocks noGrp="1"/>
          </p:cNvSpPr>
          <p:nvPr>
            <p:ph type="title"/>
          </p:nvPr>
        </p:nvSpPr>
        <p:spPr>
          <a:xfrm>
            <a:off x="217755" y="13766"/>
            <a:ext cx="7886700" cy="626133"/>
          </a:xfrm>
        </p:spPr>
        <p:txBody>
          <a:bodyPr>
            <a:normAutofit/>
          </a:bodyPr>
          <a:lstStyle/>
          <a:p>
            <a:r>
              <a:rPr lang="en-US" dirty="0" err="1"/>
              <a:t>提案手法</a:t>
            </a:r>
            <a:r>
              <a:rPr lang="ja-JP" altLang="en-US"/>
              <a:t>　内部処理</a:t>
            </a:r>
            <a:endParaRPr lang="en-US" dirty="0"/>
          </a:p>
        </p:txBody>
      </p:sp>
      <p:sp>
        <p:nvSpPr>
          <p:cNvPr id="4" name="スライド番号プレースホルダー 3">
            <a:extLst>
              <a:ext uri="{FF2B5EF4-FFF2-40B4-BE49-F238E27FC236}">
                <a16:creationId xmlns:a16="http://schemas.microsoft.com/office/drawing/2014/main" id="{252EF3A7-B1B8-D0E6-F210-A8E0BEE2EE59}"/>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14</a:t>
            </a:fld>
            <a:endParaRPr lang="en-US"/>
          </a:p>
        </p:txBody>
      </p:sp>
      <p:pic>
        <p:nvPicPr>
          <p:cNvPr id="8" name="図 7">
            <a:extLst>
              <a:ext uri="{FF2B5EF4-FFF2-40B4-BE49-F238E27FC236}">
                <a16:creationId xmlns:a16="http://schemas.microsoft.com/office/drawing/2014/main" id="{0769C286-8E2F-1677-85F4-1322F4CF2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45" y="7964318"/>
            <a:ext cx="8627911" cy="4855778"/>
          </a:xfrm>
          <a:prstGeom prst="rect">
            <a:avLst/>
          </a:prstGeom>
        </p:spPr>
      </p:pic>
      <p:pic>
        <p:nvPicPr>
          <p:cNvPr id="7" name="グラフィックス 6" descr="データベース 単色塗りつぶし">
            <a:extLst>
              <a:ext uri="{FF2B5EF4-FFF2-40B4-BE49-F238E27FC236}">
                <a16:creationId xmlns:a16="http://schemas.microsoft.com/office/drawing/2014/main" id="{8739716C-7441-2DDF-2D5B-D3E9F82AFD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5791" y="5297269"/>
            <a:ext cx="914400" cy="914400"/>
          </a:xfrm>
          <a:prstGeom prst="rect">
            <a:avLst/>
          </a:prstGeom>
        </p:spPr>
      </p:pic>
      <p:pic>
        <p:nvPicPr>
          <p:cNvPr id="11" name="グラフィックス 10" descr="警告 単色塗りつぶし">
            <a:extLst>
              <a:ext uri="{FF2B5EF4-FFF2-40B4-BE49-F238E27FC236}">
                <a16:creationId xmlns:a16="http://schemas.microsoft.com/office/drawing/2014/main" id="{D2C89913-B010-A8E2-D768-7180745970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42670" y="2521347"/>
            <a:ext cx="914400" cy="914400"/>
          </a:xfrm>
          <a:prstGeom prst="rect">
            <a:avLst/>
          </a:prstGeom>
        </p:spPr>
      </p:pic>
      <p:sp>
        <p:nvSpPr>
          <p:cNvPr id="16" name="テキスト ボックス 15">
            <a:extLst>
              <a:ext uri="{FF2B5EF4-FFF2-40B4-BE49-F238E27FC236}">
                <a16:creationId xmlns:a16="http://schemas.microsoft.com/office/drawing/2014/main" id="{B0B7B25B-3F09-D83A-E1A0-BAA50DC0679F}"/>
              </a:ext>
            </a:extLst>
          </p:cNvPr>
          <p:cNvSpPr txBox="1"/>
          <p:nvPr/>
        </p:nvSpPr>
        <p:spPr>
          <a:xfrm>
            <a:off x="4926203" y="3392544"/>
            <a:ext cx="1107996" cy="461665"/>
          </a:xfrm>
          <a:prstGeom prst="rect">
            <a:avLst/>
          </a:prstGeom>
          <a:noFill/>
        </p:spPr>
        <p:txBody>
          <a:bodyPr wrap="none" rtlCol="0">
            <a:spAutoFit/>
          </a:bodyPr>
          <a:lstStyle/>
          <a:p>
            <a:pPr algn="l"/>
            <a:r>
              <a:rPr kumimoji="1" lang="ja-JP" altLang="en-US" sz="1200">
                <a:cs typeface="Arial" panose="020B0604020202020204" pitchFamily="34" charset="0"/>
              </a:rPr>
              <a:t>セキュリティ</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　アラート</a:t>
            </a:r>
            <a:endParaRPr kumimoji="1" lang="ja-JP" altLang="en-US" sz="1200" dirty="0">
              <a:cs typeface="Arial" panose="020B0604020202020204" pitchFamily="34" charset="0"/>
            </a:endParaRPr>
          </a:p>
        </p:txBody>
      </p:sp>
      <p:sp>
        <p:nvSpPr>
          <p:cNvPr id="18" name="テキスト ボックス 17">
            <a:extLst>
              <a:ext uri="{FF2B5EF4-FFF2-40B4-BE49-F238E27FC236}">
                <a16:creationId xmlns:a16="http://schemas.microsoft.com/office/drawing/2014/main" id="{8EC22283-8128-FEEE-17DB-04428A9154B5}"/>
              </a:ext>
            </a:extLst>
          </p:cNvPr>
          <p:cNvSpPr txBox="1"/>
          <p:nvPr/>
        </p:nvSpPr>
        <p:spPr>
          <a:xfrm>
            <a:off x="5048491" y="6121014"/>
            <a:ext cx="1107996" cy="461665"/>
          </a:xfrm>
          <a:prstGeom prst="rect">
            <a:avLst/>
          </a:prstGeom>
          <a:noFill/>
        </p:spPr>
        <p:txBody>
          <a:bodyPr wrap="none" rtlCol="0">
            <a:spAutoFit/>
          </a:bodyPr>
          <a:lstStyle/>
          <a:p>
            <a:pPr algn="l"/>
            <a:r>
              <a:rPr kumimoji="1" lang="en-US" altLang="ja-JP" sz="1200" dirty="0">
                <a:cs typeface="Arial" panose="020B0604020202020204" pitchFamily="34" charset="0"/>
              </a:rPr>
              <a:t> </a:t>
            </a:r>
            <a:r>
              <a:rPr kumimoji="1" lang="ja-JP" altLang="en-US" sz="1200">
                <a:cs typeface="Arial" panose="020B0604020202020204" pitchFamily="34" charset="0"/>
              </a:rPr>
              <a:t>前処理済み</a:t>
            </a:r>
            <a:endParaRPr kumimoji="1" lang="en-US" altLang="ja-JP" sz="1200" dirty="0">
              <a:cs typeface="Arial" panose="020B0604020202020204" pitchFamily="34" charset="0"/>
            </a:endParaRPr>
          </a:p>
          <a:p>
            <a:pPr algn="l"/>
            <a:r>
              <a:rPr kumimoji="1" lang="ja-JP" altLang="en-US" sz="1200">
                <a:cs typeface="Arial" panose="020B0604020202020204" pitchFamily="34" charset="0"/>
              </a:rPr>
              <a:t>データベース</a:t>
            </a:r>
            <a:endParaRPr kumimoji="1" lang="ja-JP" altLang="en-US" sz="1200" dirty="0">
              <a:cs typeface="Arial" panose="020B0604020202020204" pitchFamily="34" charset="0"/>
            </a:endParaRPr>
          </a:p>
        </p:txBody>
      </p:sp>
      <p:sp>
        <p:nvSpPr>
          <p:cNvPr id="21" name="角丸四角形 20">
            <a:extLst>
              <a:ext uri="{FF2B5EF4-FFF2-40B4-BE49-F238E27FC236}">
                <a16:creationId xmlns:a16="http://schemas.microsoft.com/office/drawing/2014/main" id="{044CEAFC-2D89-0066-D63B-99CB3B588AEE}"/>
              </a:ext>
            </a:extLst>
          </p:cNvPr>
          <p:cNvSpPr/>
          <p:nvPr/>
        </p:nvSpPr>
        <p:spPr>
          <a:xfrm>
            <a:off x="6748164" y="2901789"/>
            <a:ext cx="1888447"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 </a:t>
            </a:r>
            <a:endParaRPr kumimoji="1" lang="ja-JP" altLang="en-US" b="1">
              <a:solidFill>
                <a:schemeClr val="tx1"/>
              </a:solidFill>
            </a:endParaRPr>
          </a:p>
        </p:txBody>
      </p:sp>
      <p:sp>
        <p:nvSpPr>
          <p:cNvPr id="22" name="角丸四角形 21">
            <a:extLst>
              <a:ext uri="{FF2B5EF4-FFF2-40B4-BE49-F238E27FC236}">
                <a16:creationId xmlns:a16="http://schemas.microsoft.com/office/drawing/2014/main" id="{323FF111-73FB-29AB-4F13-B0659EC752D4}"/>
              </a:ext>
            </a:extLst>
          </p:cNvPr>
          <p:cNvSpPr/>
          <p:nvPr/>
        </p:nvSpPr>
        <p:spPr>
          <a:xfrm>
            <a:off x="6526417" y="40148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3" name="角丸四角形 22">
            <a:extLst>
              <a:ext uri="{FF2B5EF4-FFF2-40B4-BE49-F238E27FC236}">
                <a16:creationId xmlns:a16="http://schemas.microsoft.com/office/drawing/2014/main" id="{F0F8D07B-E743-45E5-4B0C-6E5E065C8109}"/>
              </a:ext>
            </a:extLst>
          </p:cNvPr>
          <p:cNvSpPr/>
          <p:nvPr/>
        </p:nvSpPr>
        <p:spPr>
          <a:xfrm>
            <a:off x="6678817" y="41672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4" name="角丸四角形 23">
            <a:extLst>
              <a:ext uri="{FF2B5EF4-FFF2-40B4-BE49-F238E27FC236}">
                <a16:creationId xmlns:a16="http://schemas.microsoft.com/office/drawing/2014/main" id="{4766FCD6-6EE3-5CF2-0B27-39896A512482}"/>
              </a:ext>
            </a:extLst>
          </p:cNvPr>
          <p:cNvSpPr/>
          <p:nvPr/>
        </p:nvSpPr>
        <p:spPr>
          <a:xfrm>
            <a:off x="6831217" y="4319602"/>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5" name="角丸四角形 24">
            <a:extLst>
              <a:ext uri="{FF2B5EF4-FFF2-40B4-BE49-F238E27FC236}">
                <a16:creationId xmlns:a16="http://schemas.microsoft.com/office/drawing/2014/main" id="{646A35D2-BE17-C56F-E0FF-B72D5E4B7B66}"/>
              </a:ext>
            </a:extLst>
          </p:cNvPr>
          <p:cNvSpPr/>
          <p:nvPr/>
        </p:nvSpPr>
        <p:spPr>
          <a:xfrm>
            <a:off x="7022039" y="56344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6" name="角丸四角形 25">
            <a:extLst>
              <a:ext uri="{FF2B5EF4-FFF2-40B4-BE49-F238E27FC236}">
                <a16:creationId xmlns:a16="http://schemas.microsoft.com/office/drawing/2014/main" id="{BB4884FC-3043-1F24-42F6-216A6B086525}"/>
              </a:ext>
            </a:extLst>
          </p:cNvPr>
          <p:cNvSpPr/>
          <p:nvPr/>
        </p:nvSpPr>
        <p:spPr>
          <a:xfrm>
            <a:off x="7174439" y="57868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7" name="角丸四角形 26">
            <a:extLst>
              <a:ext uri="{FF2B5EF4-FFF2-40B4-BE49-F238E27FC236}">
                <a16:creationId xmlns:a16="http://schemas.microsoft.com/office/drawing/2014/main" id="{C40BFF5E-DB17-31F0-0F55-C3D0255910AB}"/>
              </a:ext>
            </a:extLst>
          </p:cNvPr>
          <p:cNvSpPr/>
          <p:nvPr/>
        </p:nvSpPr>
        <p:spPr>
          <a:xfrm>
            <a:off x="7326839" y="593929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8" name="右矢印 27">
            <a:extLst>
              <a:ext uri="{FF2B5EF4-FFF2-40B4-BE49-F238E27FC236}">
                <a16:creationId xmlns:a16="http://schemas.microsoft.com/office/drawing/2014/main" id="{106E348D-5D96-EBED-A671-D1A585CFBABB}"/>
              </a:ext>
            </a:extLst>
          </p:cNvPr>
          <p:cNvSpPr/>
          <p:nvPr/>
        </p:nvSpPr>
        <p:spPr>
          <a:xfrm>
            <a:off x="6273572" y="5930636"/>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9" name="右矢印 28">
            <a:extLst>
              <a:ext uri="{FF2B5EF4-FFF2-40B4-BE49-F238E27FC236}">
                <a16:creationId xmlns:a16="http://schemas.microsoft.com/office/drawing/2014/main" id="{27F8AE00-8FA1-6FFE-041A-D5CFF3FEAA03}"/>
              </a:ext>
            </a:extLst>
          </p:cNvPr>
          <p:cNvSpPr/>
          <p:nvPr/>
        </p:nvSpPr>
        <p:spPr>
          <a:xfrm rot="10800000">
            <a:off x="6265200" y="5771534"/>
            <a:ext cx="391886" cy="60290"/>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1F0F379A-834A-AD2C-9D52-5E590F823740}"/>
              </a:ext>
            </a:extLst>
          </p:cNvPr>
          <p:cNvSpPr txBox="1"/>
          <p:nvPr/>
        </p:nvSpPr>
        <p:spPr>
          <a:xfrm>
            <a:off x="6114448" y="5516548"/>
            <a:ext cx="723275" cy="307777"/>
          </a:xfrm>
          <a:prstGeom prst="rect">
            <a:avLst/>
          </a:prstGeom>
          <a:noFill/>
        </p:spPr>
        <p:txBody>
          <a:bodyPr wrap="none" rtlCol="0">
            <a:spAutoFit/>
          </a:bodyPr>
          <a:lstStyle/>
          <a:p>
            <a:pPr algn="l"/>
            <a:r>
              <a:rPr kumimoji="1" lang="ja-JP" altLang="en-US" sz="1400">
                <a:cs typeface="Arial" panose="020B0604020202020204" pitchFamily="34" charset="0"/>
              </a:rPr>
              <a:t>クエリ</a:t>
            </a:r>
            <a:endParaRPr kumimoji="1" lang="ja-JP" altLang="en-US" sz="1400" dirty="0">
              <a:cs typeface="Arial" panose="020B0604020202020204" pitchFamily="34" charset="0"/>
            </a:endParaRPr>
          </a:p>
        </p:txBody>
      </p:sp>
      <p:sp>
        <p:nvSpPr>
          <p:cNvPr id="31" name="テキスト ボックス 30">
            <a:extLst>
              <a:ext uri="{FF2B5EF4-FFF2-40B4-BE49-F238E27FC236}">
                <a16:creationId xmlns:a16="http://schemas.microsoft.com/office/drawing/2014/main" id="{07404043-16F1-A4C0-7016-D1B6EE7E62FB}"/>
              </a:ext>
            </a:extLst>
          </p:cNvPr>
          <p:cNvSpPr txBox="1"/>
          <p:nvPr/>
        </p:nvSpPr>
        <p:spPr>
          <a:xfrm>
            <a:off x="6045788" y="5960355"/>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レコード</a:t>
            </a:r>
            <a:endParaRPr kumimoji="1" lang="ja-JP" altLang="en-US" sz="1400" dirty="0">
              <a:cs typeface="Arial" panose="020B0604020202020204" pitchFamily="34" charset="0"/>
            </a:endParaRPr>
          </a:p>
        </p:txBody>
      </p:sp>
      <p:sp>
        <p:nvSpPr>
          <p:cNvPr id="33" name="右矢印 32">
            <a:extLst>
              <a:ext uri="{FF2B5EF4-FFF2-40B4-BE49-F238E27FC236}">
                <a16:creationId xmlns:a16="http://schemas.microsoft.com/office/drawing/2014/main" id="{88300E3F-1358-FB8A-9CE7-BD75447F5E11}"/>
              </a:ext>
            </a:extLst>
          </p:cNvPr>
          <p:cNvSpPr/>
          <p:nvPr/>
        </p:nvSpPr>
        <p:spPr>
          <a:xfrm rot="5400000">
            <a:off x="6980592"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4" name="右矢印 33">
            <a:extLst>
              <a:ext uri="{FF2B5EF4-FFF2-40B4-BE49-F238E27FC236}">
                <a16:creationId xmlns:a16="http://schemas.microsoft.com/office/drawing/2014/main" id="{2D5303D8-68F5-E79A-6B43-8AF8C62B1F35}"/>
              </a:ext>
            </a:extLst>
          </p:cNvPr>
          <p:cNvSpPr/>
          <p:nvPr/>
        </p:nvSpPr>
        <p:spPr>
          <a:xfrm rot="5400000">
            <a:off x="6980591" y="5107939"/>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5" name="右矢印 34">
            <a:extLst>
              <a:ext uri="{FF2B5EF4-FFF2-40B4-BE49-F238E27FC236}">
                <a16:creationId xmlns:a16="http://schemas.microsoft.com/office/drawing/2014/main" id="{717686FF-C690-5452-14ED-313DB56F7D83}"/>
              </a:ext>
            </a:extLst>
          </p:cNvPr>
          <p:cNvSpPr/>
          <p:nvPr/>
        </p:nvSpPr>
        <p:spPr>
          <a:xfrm rot="16200000">
            <a:off x="7743084" y="3592354"/>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6" name="右矢印 35">
            <a:extLst>
              <a:ext uri="{FF2B5EF4-FFF2-40B4-BE49-F238E27FC236}">
                <a16:creationId xmlns:a16="http://schemas.microsoft.com/office/drawing/2014/main" id="{1FD0B1F5-DA91-8D6A-B5D0-E6FC612ECFDE}"/>
              </a:ext>
            </a:extLst>
          </p:cNvPr>
          <p:cNvSpPr/>
          <p:nvPr/>
        </p:nvSpPr>
        <p:spPr>
          <a:xfrm rot="16200000">
            <a:off x="7778717" y="5110591"/>
            <a:ext cx="621231" cy="71266"/>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1CF69335-54BE-44A0-E10C-3E6B2C360775}"/>
              </a:ext>
            </a:extLst>
          </p:cNvPr>
          <p:cNvSpPr txBox="1"/>
          <p:nvPr/>
        </p:nvSpPr>
        <p:spPr>
          <a:xfrm>
            <a:off x="6379811" y="3515037"/>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調査論点</a:t>
            </a:r>
            <a:endParaRPr kumimoji="1" lang="ja-JP" altLang="en-US" sz="1400" dirty="0">
              <a:cs typeface="Arial" panose="020B0604020202020204" pitchFamily="34" charset="0"/>
            </a:endParaRPr>
          </a:p>
        </p:txBody>
      </p:sp>
      <p:sp>
        <p:nvSpPr>
          <p:cNvPr id="38" name="テキスト ボックス 37">
            <a:extLst>
              <a:ext uri="{FF2B5EF4-FFF2-40B4-BE49-F238E27FC236}">
                <a16:creationId xmlns:a16="http://schemas.microsoft.com/office/drawing/2014/main" id="{A2054291-2ECF-B632-1A0A-575CFF5BF9F5}"/>
              </a:ext>
            </a:extLst>
          </p:cNvPr>
          <p:cNvSpPr txBox="1"/>
          <p:nvPr/>
        </p:nvSpPr>
        <p:spPr>
          <a:xfrm>
            <a:off x="8124966" y="3505221"/>
            <a:ext cx="902811" cy="307777"/>
          </a:xfrm>
          <a:prstGeom prst="rect">
            <a:avLst/>
          </a:prstGeom>
          <a:noFill/>
        </p:spPr>
        <p:txBody>
          <a:bodyPr wrap="none" rtlCol="0">
            <a:spAutoFit/>
          </a:bodyPr>
          <a:lstStyle/>
          <a:p>
            <a:pPr algn="l"/>
            <a:r>
              <a:rPr kumimoji="1" lang="ja-JP" altLang="en-US" sz="1400">
                <a:cs typeface="Arial" panose="020B0604020202020204" pitchFamily="34" charset="0"/>
              </a:rPr>
              <a:t>レポート</a:t>
            </a:r>
            <a:endParaRPr kumimoji="1" lang="ja-JP" altLang="en-US" sz="1400" dirty="0">
              <a:cs typeface="Arial" panose="020B0604020202020204" pitchFamily="34" charset="0"/>
            </a:endParaRPr>
          </a:p>
        </p:txBody>
      </p:sp>
      <p:sp>
        <p:nvSpPr>
          <p:cNvPr id="39" name="テキスト ボックス 38">
            <a:extLst>
              <a:ext uri="{FF2B5EF4-FFF2-40B4-BE49-F238E27FC236}">
                <a16:creationId xmlns:a16="http://schemas.microsoft.com/office/drawing/2014/main" id="{E10F527A-8828-4A2B-CFEE-4AA3D815D90A}"/>
              </a:ext>
            </a:extLst>
          </p:cNvPr>
          <p:cNvSpPr txBox="1"/>
          <p:nvPr/>
        </p:nvSpPr>
        <p:spPr>
          <a:xfrm>
            <a:off x="6600604" y="4971274"/>
            <a:ext cx="543739" cy="307777"/>
          </a:xfrm>
          <a:prstGeom prst="rect">
            <a:avLst/>
          </a:prstGeom>
          <a:noFill/>
        </p:spPr>
        <p:txBody>
          <a:bodyPr wrap="none" rtlCol="0">
            <a:spAutoFit/>
          </a:bodyPr>
          <a:lstStyle/>
          <a:p>
            <a:pPr algn="l"/>
            <a:r>
              <a:rPr kumimoji="1" lang="ja-JP" altLang="en-US" sz="1400">
                <a:cs typeface="Arial" panose="020B0604020202020204" pitchFamily="34" charset="0"/>
              </a:rPr>
              <a:t>質問</a:t>
            </a:r>
            <a:endParaRPr kumimoji="1" lang="ja-JP" altLang="en-US" sz="1400" dirty="0">
              <a:cs typeface="Arial" panose="020B0604020202020204" pitchFamily="34" charset="0"/>
            </a:endParaRPr>
          </a:p>
        </p:txBody>
      </p:sp>
      <p:sp>
        <p:nvSpPr>
          <p:cNvPr id="40" name="テキスト ボックス 39">
            <a:extLst>
              <a:ext uri="{FF2B5EF4-FFF2-40B4-BE49-F238E27FC236}">
                <a16:creationId xmlns:a16="http://schemas.microsoft.com/office/drawing/2014/main" id="{BF47A28A-5498-2434-0C36-FD937845BD0D}"/>
              </a:ext>
            </a:extLst>
          </p:cNvPr>
          <p:cNvSpPr txBox="1"/>
          <p:nvPr/>
        </p:nvSpPr>
        <p:spPr>
          <a:xfrm>
            <a:off x="8165556" y="5035516"/>
            <a:ext cx="543739" cy="307777"/>
          </a:xfrm>
          <a:prstGeom prst="rect">
            <a:avLst/>
          </a:prstGeom>
          <a:noFill/>
        </p:spPr>
        <p:txBody>
          <a:bodyPr wrap="none" rtlCol="0">
            <a:spAutoFit/>
          </a:bodyPr>
          <a:lstStyle/>
          <a:p>
            <a:pPr algn="l"/>
            <a:r>
              <a:rPr kumimoji="1" lang="ja-JP" altLang="en-US" sz="1400">
                <a:cs typeface="Arial" panose="020B0604020202020204" pitchFamily="34" charset="0"/>
              </a:rPr>
              <a:t>回答</a:t>
            </a:r>
            <a:endParaRPr kumimoji="1" lang="ja-JP" altLang="en-US" sz="1400" dirty="0">
              <a:cs typeface="Arial" panose="020B0604020202020204" pitchFamily="34" charset="0"/>
            </a:endParaRPr>
          </a:p>
        </p:txBody>
      </p:sp>
      <p:sp>
        <p:nvSpPr>
          <p:cNvPr id="47" name="テキスト ボックス 46">
            <a:extLst>
              <a:ext uri="{FF2B5EF4-FFF2-40B4-BE49-F238E27FC236}">
                <a16:creationId xmlns:a16="http://schemas.microsoft.com/office/drawing/2014/main" id="{F5AF7EDF-9EE5-F72C-EDA2-833DBFC6DABA}"/>
              </a:ext>
            </a:extLst>
          </p:cNvPr>
          <p:cNvSpPr txBox="1"/>
          <p:nvPr/>
        </p:nvSpPr>
        <p:spPr>
          <a:xfrm>
            <a:off x="5815205" y="2776915"/>
            <a:ext cx="902811" cy="307777"/>
          </a:xfrm>
          <a:prstGeom prst="rect">
            <a:avLst/>
          </a:prstGeom>
          <a:noFill/>
        </p:spPr>
        <p:txBody>
          <a:bodyPr wrap="none" rtlCol="0">
            <a:spAutoFit/>
          </a:bodyPr>
          <a:lstStyle/>
          <a:p>
            <a:pPr algn="l"/>
            <a:r>
              <a:rPr kumimoji="1" lang="ja-JP" altLang="en-US" sz="1400">
                <a:cs typeface="Arial" panose="020B0604020202020204" pitchFamily="34" charset="0"/>
              </a:rPr>
              <a:t>調査開始</a:t>
            </a:r>
            <a:endParaRPr kumimoji="1" lang="ja-JP" altLang="en-US" sz="1400" dirty="0">
              <a:cs typeface="Arial" panose="020B0604020202020204" pitchFamily="34" charset="0"/>
            </a:endParaRPr>
          </a:p>
        </p:txBody>
      </p:sp>
      <p:sp>
        <p:nvSpPr>
          <p:cNvPr id="51" name="正方形/長方形 50">
            <a:extLst>
              <a:ext uri="{FF2B5EF4-FFF2-40B4-BE49-F238E27FC236}">
                <a16:creationId xmlns:a16="http://schemas.microsoft.com/office/drawing/2014/main" id="{7A350431-C425-CF98-55FD-9356E2945FC5}"/>
              </a:ext>
            </a:extLst>
          </p:cNvPr>
          <p:cNvSpPr/>
          <p:nvPr/>
        </p:nvSpPr>
        <p:spPr>
          <a:xfrm>
            <a:off x="78735" y="2194592"/>
            <a:ext cx="4399931" cy="45768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役割</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あなたは QAAgent / SQL 専門エージェントである。</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目的</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ログ上の事実が必要な場合、run_sql_query で SQLite を検索して 調査担当の質問に答える。</a:t>
            </a: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endParaRPr lang="en-US" altLang="ja-JP" sz="1200" b="1" dirty="0">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重要な column</a:t>
            </a:r>
          </a:p>
          <a:p>
            <a:pPr lvl="0" defTabSz="914400" eaLnBrk="0" fontAlgn="base" hangingPunct="0">
              <a:spcBef>
                <a:spcPct val="0"/>
              </a:spcBef>
              <a:spcAft>
                <a:spcPct val="0"/>
              </a:spcAft>
              <a:buFontTx/>
              <a:buChar char="•"/>
            </a:pPr>
            <a:r>
              <a:rPr lang="ja-JP" altLang="ja-JP" sz="1200">
                <a:solidFill>
                  <a:srgbClr val="000000"/>
                </a:solidFill>
                <a:latin typeface="Arial" panose="020B0604020202020204" pitchFamily="34" charset="0"/>
              </a:rPr>
              <a:t>audit_logs: time、pid、ppid、pname、process_name、access、object、 event_record_id、event_id</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a:t>
            </a:r>
            <a:endParaRPr lang="ja-JP" altLang="ja-JP" sz="1200">
              <a:solidFill>
                <a:schemeClr val="tx1"/>
              </a:solidFill>
              <a:latin typeface="Arial" panose="020B0604020202020204" pitchFamily="34" charset="0"/>
            </a:endParaRP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プロセス時刻起点の SQL 探索ガイド</a:t>
            </a:r>
          </a:p>
          <a:p>
            <a:pPr lvl="0" defTabSz="914400" eaLnBrk="0" fontAlgn="base" hangingPunct="0">
              <a:spcBef>
                <a:spcPct val="0"/>
              </a:spcBef>
              <a:spcAft>
                <a:spcPct val="0"/>
              </a:spcAft>
              <a:buFontTx/>
              <a:buAutoNum type="arabicPeriod"/>
            </a:pPr>
            <a:r>
              <a:rPr lang="ja-JP" altLang="ja-JP" sz="1200">
                <a:solidFill>
                  <a:srgbClr val="000000"/>
                </a:solidFill>
                <a:latin typeface="Arial" panose="020B0604020202020204" pitchFamily="34" charset="0"/>
              </a:rPr>
              <a:t>与えられた process と timestamp から始める。</a:t>
            </a:r>
          </a:p>
          <a:p>
            <a:pPr lvl="0" defTabSz="914400" eaLnBrk="0" fontAlgn="base" hangingPunct="0">
              <a:spcBef>
                <a:spcPct val="0"/>
              </a:spcBef>
              <a:spcAft>
                <a:spcPct val="0"/>
              </a:spcAft>
              <a:buFontTx/>
              <a:buAutoNum type="arabicPeriod" startAt="2"/>
            </a:pPr>
            <a:r>
              <a:rPr lang="ja-JP" altLang="ja-JP" sz="1200">
                <a:solidFill>
                  <a:srgbClr val="000000"/>
                </a:solidFill>
                <a:latin typeface="Arial" panose="020B0604020202020204" pitchFamily="34" charset="0"/>
              </a:rPr>
              <a:t>audit_logs.time の形式は 'YYYY-MM-DD HH:MM:SS' を使う。</a:t>
            </a:r>
          </a:p>
          <a:p>
            <a:pPr lvl="0" defTabSz="914400" eaLnBrk="0" fontAlgn="base" hangingPunct="0">
              <a:spcBef>
                <a:spcPct val="0"/>
              </a:spcBef>
              <a:spcAft>
                <a:spcPct val="0"/>
              </a:spcAft>
              <a:buFontTx/>
              <a:buAutoNum type="arabicPeriod" startAt="3"/>
            </a:pPr>
            <a:r>
              <a:rPr lang="ja-JP" altLang="ja-JP" sz="1200">
                <a:solidFill>
                  <a:srgbClr val="000000"/>
                </a:solidFill>
                <a:latin typeface="Arial" panose="020B0604020202020204" pitchFamily="34" charset="0"/>
              </a:rPr>
              <a:t>CBC alert field を入力から仮定しない。</a:t>
            </a:r>
            <a:endParaRPr lang="en-US" altLang="ja-JP" sz="1200" dirty="0">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a:t>
            </a:r>
          </a:p>
          <a:p>
            <a:pPr lvl="0" defTabSz="914400" eaLnBrk="0" fontAlgn="base" hangingPunct="0">
              <a:spcBef>
                <a:spcPct val="0"/>
              </a:spcBef>
              <a:spcAft>
                <a:spcPct val="0"/>
              </a:spcAft>
              <a:buFontTx/>
              <a:buAutoNum type="arabicPeriod" startAt="10"/>
            </a:pPr>
            <a:r>
              <a:rPr lang="ja-JP" altLang="ja-JP" sz="1200">
                <a:solidFill>
                  <a:srgbClr val="000000"/>
                </a:solidFill>
                <a:latin typeface="Arial" panose="020B0604020202020204" pitchFamily="34" charset="0"/>
              </a:rPr>
              <a:t>値を作らない。unknown は null にする。</a:t>
            </a:r>
          </a:p>
          <a:p>
            <a:pPr lvl="0" defTabSz="914400" eaLnBrk="0" fontAlgn="base" hangingPunct="0">
              <a:spcBef>
                <a:spcPct val="0"/>
              </a:spcBef>
              <a:spcAft>
                <a:spcPct val="0"/>
              </a:spcAft>
            </a:pP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スキーマ</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{schema} ...</a:t>
            </a:r>
            <a:endParaRPr lang="ja-JP" altLang="ja-JP" sz="1200" b="1">
              <a:solidFill>
                <a:srgbClr val="000000"/>
              </a:solidFill>
              <a:latin typeface="Arial" panose="020B0604020202020204" pitchFamily="34" charset="0"/>
            </a:endParaRPr>
          </a:p>
          <a:p>
            <a:pPr lvl="0" defTabSz="914400" eaLnBrk="0" fontAlgn="base" hangingPunct="0">
              <a:spcBef>
                <a:spcPct val="0"/>
              </a:spcBef>
              <a:spcAft>
                <a:spcPct val="0"/>
              </a:spcAft>
            </a:pPr>
            <a:r>
              <a:rPr lang="ja-JP" altLang="ja-JP" sz="1200" b="1">
                <a:solidFill>
                  <a:srgbClr val="000000"/>
                </a:solidFill>
                <a:latin typeface="Arial" panose="020B0604020202020204" pitchFamily="34" charset="0"/>
              </a:rPr>
              <a:t>質問</a:t>
            </a:r>
          </a:p>
          <a:p>
            <a:pPr lvl="0" defTabSz="914400" eaLnBrk="0" fontAlgn="base" hangingPunct="0">
              <a:spcBef>
                <a:spcPct val="0"/>
              </a:spcBef>
              <a:spcAft>
                <a:spcPct val="0"/>
              </a:spcAft>
            </a:pPr>
            <a:r>
              <a:rPr lang="ja-JP" altLang="ja-JP" sz="1200">
                <a:solidFill>
                  <a:srgbClr val="000000"/>
                </a:solidFill>
                <a:latin typeface="Arial" panose="020B0604020202020204" pitchFamily="34" charset="0"/>
              </a:rPr>
              <a:t>{question} ...</a:t>
            </a:r>
            <a:endParaRPr lang="ja-JP" altLang="ja-JP" sz="1200">
              <a:solidFill>
                <a:schemeClr val="tx1"/>
              </a:solidFill>
              <a:latin typeface="Arial" panose="020B0604020202020204" pitchFamily="34" charset="0"/>
            </a:endParaRPr>
          </a:p>
        </p:txBody>
      </p:sp>
      <p:sp>
        <p:nvSpPr>
          <p:cNvPr id="2" name="右矢印 1">
            <a:extLst>
              <a:ext uri="{FF2B5EF4-FFF2-40B4-BE49-F238E27FC236}">
                <a16:creationId xmlns:a16="http://schemas.microsoft.com/office/drawing/2014/main" id="{5F97CCB7-F209-9179-3BE8-191F04492016}"/>
              </a:ext>
            </a:extLst>
          </p:cNvPr>
          <p:cNvSpPr/>
          <p:nvPr/>
        </p:nvSpPr>
        <p:spPr>
          <a:xfrm>
            <a:off x="5980191" y="3029616"/>
            <a:ext cx="638594" cy="115187"/>
          </a:xfrm>
          <a:prstGeom prst="rightArrow">
            <a:avLst/>
          </a:pr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E49A95E9-2B29-F0BB-E5B0-33DDDC66E5CE}"/>
              </a:ext>
            </a:extLst>
          </p:cNvPr>
          <p:cNvCxnSpPr>
            <a:cxnSpLocks/>
          </p:cNvCxnSpPr>
          <p:nvPr/>
        </p:nvCxnSpPr>
        <p:spPr>
          <a:xfrm>
            <a:off x="4704515" y="2901789"/>
            <a:ext cx="0" cy="3333481"/>
          </a:xfrm>
          <a:prstGeom prst="line">
            <a:avLst/>
          </a:prstGeom>
        </p:spPr>
        <p:style>
          <a:lnRef idx="1">
            <a:schemeClr val="dk1"/>
          </a:lnRef>
          <a:fillRef idx="0">
            <a:schemeClr val="dk1"/>
          </a:fillRef>
          <a:effectRef idx="0">
            <a:schemeClr val="dk1"/>
          </a:effectRef>
          <a:fontRef idx="minor">
            <a:schemeClr val="tx1"/>
          </a:fontRef>
        </p:style>
      </p:cxnSp>
      <p:sp>
        <p:nvSpPr>
          <p:cNvPr id="10" name="正方形/長方形 9">
            <a:extLst>
              <a:ext uri="{FF2B5EF4-FFF2-40B4-BE49-F238E27FC236}">
                <a16:creationId xmlns:a16="http://schemas.microsoft.com/office/drawing/2014/main" id="{DB5876BE-5D69-52FE-DDFF-B4191E5C9F69}"/>
              </a:ext>
            </a:extLst>
          </p:cNvPr>
          <p:cNvSpPr/>
          <p:nvPr/>
        </p:nvSpPr>
        <p:spPr>
          <a:xfrm>
            <a:off x="6837724" y="5495224"/>
            <a:ext cx="2190054"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コネクタ 47">
            <a:extLst>
              <a:ext uri="{FF2B5EF4-FFF2-40B4-BE49-F238E27FC236}">
                <a16:creationId xmlns:a16="http://schemas.microsoft.com/office/drawing/2014/main" id="{0C5F8FA4-93B6-83C5-0217-29DCD08DA283}"/>
              </a:ext>
            </a:extLst>
          </p:cNvPr>
          <p:cNvCxnSpPr>
            <a:cxnSpLocks/>
          </p:cNvCxnSpPr>
          <p:nvPr/>
        </p:nvCxnSpPr>
        <p:spPr>
          <a:xfrm>
            <a:off x="4478666" y="2235115"/>
            <a:ext cx="2352551" cy="328143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7EC67736-58C6-851A-BEFE-D93833CF5CAF}"/>
              </a:ext>
            </a:extLst>
          </p:cNvPr>
          <p:cNvSpPr txBox="1"/>
          <p:nvPr/>
        </p:nvSpPr>
        <p:spPr>
          <a:xfrm>
            <a:off x="78735" y="632482"/>
            <a:ext cx="7879080" cy="923330"/>
          </a:xfrm>
          <a:prstGeom prst="rect">
            <a:avLst/>
          </a:prstGeom>
          <a:noFill/>
        </p:spPr>
        <p:txBody>
          <a:bodyPr wrap="none" rtlCol="0">
            <a:spAutoFit/>
          </a:bodyPr>
          <a:lstStyle/>
          <a:p>
            <a:pPr marL="285750" indent="-285750" algn="l">
              <a:buFont typeface="Arial" panose="020B0604020202020204" pitchFamily="34" charset="0"/>
              <a:buChar char="•"/>
            </a:pPr>
            <a:r>
              <a:rPr kumimoji="1" lang="en-US" altLang="ja-JP" dirty="0">
                <a:cs typeface="Arial" panose="020B0604020202020204" pitchFamily="34" charset="0"/>
              </a:rPr>
              <a:t>SQL Agent</a:t>
            </a:r>
            <a:r>
              <a:rPr kumimoji="1" lang="ja-JP" altLang="en-US">
                <a:cs typeface="Arial" panose="020B0604020202020204" pitchFamily="34" charset="0"/>
              </a:rPr>
              <a:t>：データベースの仲介役</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上位の</a:t>
            </a:r>
            <a:r>
              <a:rPr kumimoji="1" lang="en-US" altLang="ja-JP" dirty="0">
                <a:cs typeface="Arial" panose="020B0604020202020204" pitchFamily="34" charset="0"/>
              </a:rPr>
              <a:t>Agent</a:t>
            </a:r>
            <a:r>
              <a:rPr kumimoji="1" lang="ja-JP" altLang="en-US">
                <a:cs typeface="Arial" panose="020B0604020202020204" pitchFamily="34" charset="0"/>
              </a:rPr>
              <a:t>から受け取った調査項目を元に</a:t>
            </a:r>
            <a:r>
              <a:rPr kumimoji="1" lang="en-US" altLang="ja-JP" dirty="0">
                <a:cs typeface="Arial" panose="020B0604020202020204" pitchFamily="34" charset="0"/>
              </a:rPr>
              <a:t>SQL</a:t>
            </a:r>
            <a:r>
              <a:rPr kumimoji="1" lang="ja-JP" altLang="en-US">
                <a:cs typeface="Arial" panose="020B0604020202020204" pitchFamily="34" charset="0"/>
              </a:rPr>
              <a:t>クエリを作成</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調査項目とデータベースの検索結果を合わせて上位の</a:t>
            </a:r>
            <a:r>
              <a:rPr kumimoji="1" lang="en-US" altLang="ja-JP" dirty="0">
                <a:cs typeface="Arial" panose="020B0604020202020204" pitchFamily="34" charset="0"/>
              </a:rPr>
              <a:t>Agent</a:t>
            </a:r>
            <a:r>
              <a:rPr kumimoji="1" lang="ja-JP" altLang="en-US">
                <a:cs typeface="Arial" panose="020B0604020202020204" pitchFamily="34" charset="0"/>
              </a:rPr>
              <a:t>に返す</a:t>
            </a:r>
            <a:endParaRPr kumimoji="1" lang="en-US" altLang="ja-JP" dirty="0">
              <a:cs typeface="Arial" panose="020B0604020202020204" pitchFamily="34" charset="0"/>
            </a:endParaRPr>
          </a:p>
        </p:txBody>
      </p:sp>
    </p:spTree>
    <p:extLst>
      <p:ext uri="{BB962C8B-B14F-4D97-AF65-F5344CB8AC3E}">
        <p14:creationId xmlns:p14="http://schemas.microsoft.com/office/powerpoint/2010/main" val="4079228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8B814-CD58-3341-0CC9-DEF3CE95A2E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BB489268-1884-ABA8-9DA8-BF69FE4BEFAE}"/>
              </a:ext>
            </a:extLst>
          </p:cNvPr>
          <p:cNvSpPr>
            <a:spLocks noGrp="1"/>
          </p:cNvSpPr>
          <p:nvPr>
            <p:ph type="title"/>
          </p:nvPr>
        </p:nvSpPr>
        <p:spPr>
          <a:xfrm>
            <a:off x="217755" y="13766"/>
            <a:ext cx="7886700" cy="626133"/>
          </a:xfrm>
        </p:spPr>
        <p:txBody>
          <a:bodyPr>
            <a:normAutofit/>
          </a:bodyPr>
          <a:lstStyle/>
          <a:p>
            <a:r>
              <a:rPr lang="en-US" dirty="0" err="1"/>
              <a:t>提案手法</a:t>
            </a:r>
            <a:r>
              <a:rPr lang="ja-JP" altLang="en-US"/>
              <a:t>　</a:t>
            </a:r>
            <a:r>
              <a:rPr lang="en-US" altLang="ja-JP" dirty="0"/>
              <a:t>Agent</a:t>
            </a:r>
            <a:r>
              <a:rPr lang="ja-JP" altLang="en-US"/>
              <a:t>間のやり取り詳細</a:t>
            </a:r>
            <a:endParaRPr lang="en-US" dirty="0"/>
          </a:p>
        </p:txBody>
      </p:sp>
      <p:sp>
        <p:nvSpPr>
          <p:cNvPr id="4" name="スライド番号プレースホルダー 3">
            <a:extLst>
              <a:ext uri="{FF2B5EF4-FFF2-40B4-BE49-F238E27FC236}">
                <a16:creationId xmlns:a16="http://schemas.microsoft.com/office/drawing/2014/main" id="{E49F6D10-C2EE-C1EB-13BA-91BEDE36992F}"/>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15</a:t>
            </a:fld>
            <a:endParaRPr lang="en-US"/>
          </a:p>
        </p:txBody>
      </p:sp>
      <p:sp>
        <p:nvSpPr>
          <p:cNvPr id="6" name="テキスト ボックス 5">
            <a:extLst>
              <a:ext uri="{FF2B5EF4-FFF2-40B4-BE49-F238E27FC236}">
                <a16:creationId xmlns:a16="http://schemas.microsoft.com/office/drawing/2014/main" id="{BBB6553B-53DD-9D2A-CCCB-70413523C708}"/>
              </a:ext>
            </a:extLst>
          </p:cNvPr>
          <p:cNvSpPr txBox="1"/>
          <p:nvPr/>
        </p:nvSpPr>
        <p:spPr>
          <a:xfrm>
            <a:off x="0" y="639899"/>
            <a:ext cx="9040790" cy="1754326"/>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ja-JP" altLang="ja-JP">
                <a:solidFill>
                  <a:srgbClr val="000000"/>
                </a:solidFill>
                <a:latin typeface="Arial" panose="020B0604020202020204" pitchFamily="34" charset="0"/>
              </a:rPr>
              <a:t>Chief Agentが出した1つの論点での例</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en-US" altLang="ja-JP" dirty="0">
                <a:solidFill>
                  <a:srgbClr val="000000"/>
                </a:solidFill>
                <a:latin typeface="Arial" panose="020B0604020202020204" pitchFamily="34" charset="0"/>
              </a:rPr>
              <a:t>1.reg.exe</a:t>
            </a:r>
            <a:r>
              <a:rPr lang="ja-JP" altLang="en-US">
                <a:solidFill>
                  <a:srgbClr val="000000"/>
                </a:solidFill>
                <a:latin typeface="Arial" panose="020B0604020202020204" pitchFamily="34" charset="0"/>
              </a:rPr>
              <a:t>に関するセキュリティアラートが入力</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en-US" altLang="ja-JP" dirty="0">
                <a:solidFill>
                  <a:srgbClr val="000000"/>
                </a:solidFill>
                <a:latin typeface="Arial" panose="020B0604020202020204" pitchFamily="34" charset="0"/>
              </a:rPr>
              <a:t>2.</a:t>
            </a:r>
            <a:r>
              <a:rPr lang="ja-JP" altLang="ja-JP">
                <a:solidFill>
                  <a:srgbClr val="000000"/>
                </a:solidFill>
                <a:latin typeface="Arial" panose="020B0604020202020204" pitchFamily="34" charset="0"/>
              </a:rPr>
              <a:t> Chief Agentがreg.exe以外でレジストリにアクセスした記録が無いか調査論点として出</a:t>
            </a:r>
            <a:r>
              <a:rPr lang="ja-JP" altLang="en-US">
                <a:solidFill>
                  <a:srgbClr val="000000"/>
                </a:solidFill>
                <a:latin typeface="Arial" panose="020B0604020202020204" pitchFamily="34" charset="0"/>
              </a:rPr>
              <a:t>す</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en-US" altLang="ja-JP" dirty="0">
                <a:solidFill>
                  <a:srgbClr val="000000"/>
                </a:solidFill>
                <a:latin typeface="Arial" panose="020B0604020202020204" pitchFamily="34" charset="0"/>
              </a:rPr>
              <a:t>3.</a:t>
            </a:r>
            <a:r>
              <a:rPr lang="ja-JP" altLang="ja-JP">
                <a:solidFill>
                  <a:srgbClr val="000000"/>
                </a:solidFill>
                <a:latin typeface="Arial" panose="020B0604020202020204" pitchFamily="34" charset="0"/>
              </a:rPr>
              <a:t>Investigator Agent</a:t>
            </a:r>
            <a:r>
              <a:rPr lang="ja-JP" altLang="en-US">
                <a:solidFill>
                  <a:srgbClr val="000000"/>
                </a:solidFill>
                <a:latin typeface="Arial" panose="020B0604020202020204" pitchFamily="34" charset="0"/>
              </a:rPr>
              <a:t>が時間帯で区切り調査項目を作成する</a:t>
            </a:r>
            <a:endParaRPr lang="en-US" altLang="ja-JP" dirty="0">
              <a:solidFill>
                <a:srgbClr val="000000"/>
              </a:solidFill>
              <a:latin typeface="Arial" panose="020B0604020202020204" pitchFamily="34" charset="0"/>
            </a:endParaRPr>
          </a:p>
          <a:p>
            <a:pPr marL="742950" lvl="1" indent="-285750" defTabSz="914400" eaLnBrk="0" fontAlgn="base" hangingPunct="0">
              <a:spcBef>
                <a:spcPct val="0"/>
              </a:spcBef>
              <a:spcAft>
                <a:spcPct val="0"/>
              </a:spcAft>
              <a:buFont typeface="Arial" panose="020B0604020202020204" pitchFamily="34" charset="0"/>
              <a:buChar char="•"/>
            </a:pPr>
            <a:r>
              <a:rPr lang="en-US" altLang="ja-JP" dirty="0">
                <a:solidFill>
                  <a:srgbClr val="000000"/>
                </a:solidFill>
                <a:latin typeface="Arial" panose="020B0604020202020204" pitchFamily="34" charset="0"/>
              </a:rPr>
              <a:t>4.SQL Agent</a:t>
            </a:r>
            <a:r>
              <a:rPr lang="ja-JP" altLang="en-US">
                <a:solidFill>
                  <a:srgbClr val="000000"/>
                </a:solidFill>
                <a:latin typeface="Arial" panose="020B0604020202020204" pitchFamily="34" charset="0"/>
              </a:rPr>
              <a:t>はデータベースから情報を検索する</a:t>
            </a:r>
            <a:endParaRPr lang="ja-JP" altLang="ja-JP">
              <a:solidFill>
                <a:srgbClr val="000000"/>
              </a:solidFill>
              <a:latin typeface="Arial" panose="020B0604020202020204" pitchFamily="34" charset="0"/>
            </a:endParaRPr>
          </a:p>
        </p:txBody>
      </p:sp>
      <p:pic>
        <p:nvPicPr>
          <p:cNvPr id="7" name="図 6">
            <a:extLst>
              <a:ext uri="{FF2B5EF4-FFF2-40B4-BE49-F238E27FC236}">
                <a16:creationId xmlns:a16="http://schemas.microsoft.com/office/drawing/2014/main" id="{6837D3B2-F992-A213-E93E-39D26C80B82F}"/>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10" name="角丸四角形 9">
            <a:extLst>
              <a:ext uri="{FF2B5EF4-FFF2-40B4-BE49-F238E27FC236}">
                <a16:creationId xmlns:a16="http://schemas.microsoft.com/office/drawing/2014/main" id="{8723FE25-5B16-6DD7-478C-36404C33559B}"/>
              </a:ext>
            </a:extLst>
          </p:cNvPr>
          <p:cNvSpPr/>
          <p:nvPr/>
        </p:nvSpPr>
        <p:spPr>
          <a:xfrm>
            <a:off x="688894" y="2840157"/>
            <a:ext cx="7415561" cy="58884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15:07~15:10</a:t>
            </a:r>
            <a:r>
              <a:rPr kumimoji="1" lang="ja-JP" altLang="en-US" sz="1400">
                <a:solidFill>
                  <a:schemeClr val="tx1"/>
                </a:solidFill>
              </a:rPr>
              <a:t>の間に</a:t>
            </a:r>
            <a:r>
              <a:rPr kumimoji="1" lang="en-US" altLang="ja-JP" sz="1400" dirty="0" err="1">
                <a:solidFill>
                  <a:schemeClr val="tx1"/>
                </a:solidFill>
              </a:rPr>
              <a:t>reg.exe</a:t>
            </a:r>
            <a:r>
              <a:rPr kumimoji="1" lang="ja-JP" altLang="en-US" sz="1400">
                <a:solidFill>
                  <a:schemeClr val="tx1"/>
                </a:solidFill>
              </a:rPr>
              <a:t>以外でレジストリの</a:t>
            </a:r>
            <a:r>
              <a:rPr kumimoji="1" lang="en-US" altLang="ja-JP" sz="1400" dirty="0">
                <a:solidFill>
                  <a:schemeClr val="tx1"/>
                </a:solidFill>
              </a:rPr>
              <a:t>Run</a:t>
            </a:r>
            <a:r>
              <a:rPr kumimoji="1" lang="ja-JP" altLang="en-US" sz="1400">
                <a:solidFill>
                  <a:schemeClr val="tx1"/>
                </a:solidFill>
              </a:rPr>
              <a:t>キーにアクセスしたプロセスを調査する</a:t>
            </a:r>
          </a:p>
        </p:txBody>
      </p:sp>
      <p:sp>
        <p:nvSpPr>
          <p:cNvPr id="11" name="角丸四角形 10">
            <a:extLst>
              <a:ext uri="{FF2B5EF4-FFF2-40B4-BE49-F238E27FC236}">
                <a16:creationId xmlns:a16="http://schemas.microsoft.com/office/drawing/2014/main" id="{51B1C58C-2B46-894C-87C1-78044C752E40}"/>
              </a:ext>
            </a:extLst>
          </p:cNvPr>
          <p:cNvSpPr/>
          <p:nvPr/>
        </p:nvSpPr>
        <p:spPr>
          <a:xfrm>
            <a:off x="688895" y="3653556"/>
            <a:ext cx="883428" cy="58884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質問</a:t>
            </a:r>
            <a:r>
              <a:rPr kumimoji="1" lang="en-US" altLang="ja-JP" dirty="0">
                <a:solidFill>
                  <a:schemeClr val="tx1"/>
                </a:solidFill>
              </a:rPr>
              <a:t>1</a:t>
            </a:r>
            <a:endParaRPr kumimoji="1" lang="ja-JP" altLang="en-US">
              <a:solidFill>
                <a:schemeClr val="tx1"/>
              </a:solidFill>
            </a:endParaRPr>
          </a:p>
        </p:txBody>
      </p:sp>
      <p:sp>
        <p:nvSpPr>
          <p:cNvPr id="12" name="角丸四角形 11">
            <a:extLst>
              <a:ext uri="{FF2B5EF4-FFF2-40B4-BE49-F238E27FC236}">
                <a16:creationId xmlns:a16="http://schemas.microsoft.com/office/drawing/2014/main" id="{4D15B31C-F376-62A2-0809-7A3D28B6B98D}"/>
              </a:ext>
            </a:extLst>
          </p:cNvPr>
          <p:cNvSpPr/>
          <p:nvPr/>
        </p:nvSpPr>
        <p:spPr>
          <a:xfrm>
            <a:off x="688894" y="4466955"/>
            <a:ext cx="883428" cy="58884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質問</a:t>
            </a:r>
            <a:r>
              <a:rPr kumimoji="1" lang="en-US" altLang="ja-JP" dirty="0">
                <a:solidFill>
                  <a:schemeClr val="tx1"/>
                </a:solidFill>
              </a:rPr>
              <a:t>2</a:t>
            </a:r>
            <a:endParaRPr kumimoji="1" lang="ja-JP" altLang="en-US">
              <a:solidFill>
                <a:schemeClr val="tx1"/>
              </a:solidFill>
            </a:endParaRPr>
          </a:p>
        </p:txBody>
      </p:sp>
      <p:sp>
        <p:nvSpPr>
          <p:cNvPr id="13" name="角丸四角形 12">
            <a:extLst>
              <a:ext uri="{FF2B5EF4-FFF2-40B4-BE49-F238E27FC236}">
                <a16:creationId xmlns:a16="http://schemas.microsoft.com/office/drawing/2014/main" id="{7F0882CD-61B9-7AE5-8364-5052B68BFF5E}"/>
              </a:ext>
            </a:extLst>
          </p:cNvPr>
          <p:cNvSpPr/>
          <p:nvPr/>
        </p:nvSpPr>
        <p:spPr>
          <a:xfrm>
            <a:off x="688894" y="5224733"/>
            <a:ext cx="883428" cy="621202"/>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質問</a:t>
            </a:r>
            <a:r>
              <a:rPr kumimoji="1" lang="en-US" altLang="ja-JP" dirty="0">
                <a:solidFill>
                  <a:schemeClr val="tx1"/>
                </a:solidFill>
              </a:rPr>
              <a:t>3</a:t>
            </a:r>
            <a:endParaRPr kumimoji="1" lang="ja-JP" altLang="en-US">
              <a:solidFill>
                <a:schemeClr val="tx1"/>
              </a:solidFill>
            </a:endParaRPr>
          </a:p>
        </p:txBody>
      </p:sp>
      <p:sp>
        <p:nvSpPr>
          <p:cNvPr id="14" name="角丸四角形 13">
            <a:extLst>
              <a:ext uri="{FF2B5EF4-FFF2-40B4-BE49-F238E27FC236}">
                <a16:creationId xmlns:a16="http://schemas.microsoft.com/office/drawing/2014/main" id="{36DCD6E6-215C-BEBD-4842-6FC1BD8E45D1}"/>
              </a:ext>
            </a:extLst>
          </p:cNvPr>
          <p:cNvSpPr/>
          <p:nvPr/>
        </p:nvSpPr>
        <p:spPr>
          <a:xfrm>
            <a:off x="688893" y="6148854"/>
            <a:ext cx="7415561" cy="58884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該当範囲ではレジストリの</a:t>
            </a:r>
            <a:r>
              <a:rPr kumimoji="1" lang="en-US" altLang="ja-JP" dirty="0">
                <a:solidFill>
                  <a:schemeClr val="tx1"/>
                </a:solidFill>
              </a:rPr>
              <a:t>Run</a:t>
            </a:r>
            <a:r>
              <a:rPr kumimoji="1" lang="ja-JP" altLang="en-US">
                <a:solidFill>
                  <a:schemeClr val="tx1"/>
                </a:solidFill>
              </a:rPr>
              <a:t>キーにアクセしたプロセスがなかった</a:t>
            </a:r>
            <a:endParaRPr kumimoji="1" lang="en-US" altLang="ja-JP" dirty="0">
              <a:solidFill>
                <a:schemeClr val="tx1"/>
              </a:solidFill>
            </a:endParaRPr>
          </a:p>
        </p:txBody>
      </p:sp>
      <p:sp>
        <p:nvSpPr>
          <p:cNvPr id="15" name="角丸四角形 14">
            <a:extLst>
              <a:ext uri="{FF2B5EF4-FFF2-40B4-BE49-F238E27FC236}">
                <a16:creationId xmlns:a16="http://schemas.microsoft.com/office/drawing/2014/main" id="{B545819D-18EA-C21F-B5CC-32F41E1E4838}"/>
              </a:ext>
            </a:extLst>
          </p:cNvPr>
          <p:cNvSpPr/>
          <p:nvPr/>
        </p:nvSpPr>
        <p:spPr>
          <a:xfrm>
            <a:off x="1722240" y="3653555"/>
            <a:ext cx="3443256" cy="58884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15:07~15:10</a:t>
            </a:r>
            <a:r>
              <a:rPr kumimoji="1" lang="ja-JP" altLang="en-US" sz="1200">
                <a:solidFill>
                  <a:schemeClr val="tx1"/>
                </a:solidFill>
              </a:rPr>
              <a:t>の間に</a:t>
            </a:r>
            <a:r>
              <a:rPr kumimoji="1" lang="en-US" altLang="ja-JP" sz="1200" dirty="0" err="1">
                <a:solidFill>
                  <a:schemeClr val="tx1"/>
                </a:solidFill>
              </a:rPr>
              <a:t>reg.exe</a:t>
            </a:r>
            <a:r>
              <a:rPr kumimoji="1" lang="ja-JP" altLang="en-US" sz="1200">
                <a:solidFill>
                  <a:schemeClr val="tx1"/>
                </a:solidFill>
              </a:rPr>
              <a:t>以外のプロセスが</a:t>
            </a:r>
            <a:r>
              <a:rPr kumimoji="1" lang="en-US" altLang="ja-JP" sz="1200" dirty="0">
                <a:solidFill>
                  <a:schemeClr val="tx1"/>
                </a:solidFill>
              </a:rPr>
              <a:t>Windows</a:t>
            </a:r>
            <a:r>
              <a:rPr kumimoji="1" lang="ja-JP" altLang="en-US" sz="1200">
                <a:solidFill>
                  <a:schemeClr val="tx1"/>
                </a:solidFill>
              </a:rPr>
              <a:t>の</a:t>
            </a:r>
            <a:r>
              <a:rPr kumimoji="1" lang="en-US" altLang="ja-JP" sz="1200" dirty="0">
                <a:solidFill>
                  <a:schemeClr val="tx1"/>
                </a:solidFill>
              </a:rPr>
              <a:t>Run</a:t>
            </a:r>
            <a:r>
              <a:rPr kumimoji="1" lang="ja-JP" altLang="en-US" sz="1200">
                <a:solidFill>
                  <a:schemeClr val="tx1"/>
                </a:solidFill>
              </a:rPr>
              <a:t>キーに対して行ったレジストリ操作のログを教えてください</a:t>
            </a:r>
          </a:p>
        </p:txBody>
      </p:sp>
      <p:sp>
        <p:nvSpPr>
          <p:cNvPr id="16" name="角丸四角形 15">
            <a:extLst>
              <a:ext uri="{FF2B5EF4-FFF2-40B4-BE49-F238E27FC236}">
                <a16:creationId xmlns:a16="http://schemas.microsoft.com/office/drawing/2014/main" id="{F67EEBE6-828A-09EA-2C3E-BF6930FB66B5}"/>
              </a:ext>
            </a:extLst>
          </p:cNvPr>
          <p:cNvSpPr/>
          <p:nvPr/>
        </p:nvSpPr>
        <p:spPr>
          <a:xfrm>
            <a:off x="1722240" y="4480605"/>
            <a:ext cx="3443256" cy="588843"/>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15:05~15:12</a:t>
            </a:r>
            <a:r>
              <a:rPr kumimoji="1" lang="ja-JP" altLang="en-US" sz="1200">
                <a:solidFill>
                  <a:schemeClr val="tx1"/>
                </a:solidFill>
              </a:rPr>
              <a:t>の間に</a:t>
            </a:r>
            <a:r>
              <a:rPr kumimoji="1" lang="en-US" altLang="ja-JP" sz="1200" dirty="0" err="1">
                <a:solidFill>
                  <a:schemeClr val="tx1"/>
                </a:solidFill>
              </a:rPr>
              <a:t>reg.exe</a:t>
            </a:r>
            <a:r>
              <a:rPr kumimoji="1" lang="ja-JP" altLang="en-US" sz="1200">
                <a:solidFill>
                  <a:schemeClr val="tx1"/>
                </a:solidFill>
              </a:rPr>
              <a:t>以外のプロセスが</a:t>
            </a:r>
            <a:r>
              <a:rPr kumimoji="1" lang="en-US" altLang="ja-JP" sz="1200" dirty="0">
                <a:solidFill>
                  <a:schemeClr val="tx1"/>
                </a:solidFill>
              </a:rPr>
              <a:t>Windows</a:t>
            </a:r>
            <a:r>
              <a:rPr kumimoji="1" lang="ja-JP" altLang="en-US" sz="1200">
                <a:solidFill>
                  <a:schemeClr val="tx1"/>
                </a:solidFill>
              </a:rPr>
              <a:t>の</a:t>
            </a:r>
            <a:r>
              <a:rPr kumimoji="1" lang="en-US" altLang="ja-JP" sz="1200" dirty="0">
                <a:solidFill>
                  <a:schemeClr val="tx1"/>
                </a:solidFill>
              </a:rPr>
              <a:t>Run</a:t>
            </a:r>
            <a:r>
              <a:rPr kumimoji="1" lang="ja-JP" altLang="en-US" sz="1200">
                <a:solidFill>
                  <a:schemeClr val="tx1"/>
                </a:solidFill>
              </a:rPr>
              <a:t>キーに対して行ったレジストリ操作のログを教えてください</a:t>
            </a:r>
          </a:p>
        </p:txBody>
      </p:sp>
      <p:sp>
        <p:nvSpPr>
          <p:cNvPr id="17" name="角丸四角形 16">
            <a:extLst>
              <a:ext uri="{FF2B5EF4-FFF2-40B4-BE49-F238E27FC236}">
                <a16:creationId xmlns:a16="http://schemas.microsoft.com/office/drawing/2014/main" id="{FFA2CCB4-42A3-CBB3-6DB0-CA4CF470C390}"/>
              </a:ext>
            </a:extLst>
          </p:cNvPr>
          <p:cNvSpPr/>
          <p:nvPr/>
        </p:nvSpPr>
        <p:spPr>
          <a:xfrm>
            <a:off x="1722239" y="5208585"/>
            <a:ext cx="3443255" cy="63735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15:07~15:10</a:t>
            </a:r>
            <a:r>
              <a:rPr kumimoji="1" lang="ja-JP" altLang="en-US" sz="1200">
                <a:solidFill>
                  <a:schemeClr val="tx1"/>
                </a:solidFill>
              </a:rPr>
              <a:t>で</a:t>
            </a:r>
            <a:r>
              <a:rPr kumimoji="1" lang="en-US" altLang="ja-JP" sz="1200" dirty="0" err="1">
                <a:solidFill>
                  <a:schemeClr val="tx1"/>
                </a:solidFill>
              </a:rPr>
              <a:t>reg.exe</a:t>
            </a:r>
            <a:r>
              <a:rPr kumimoji="1" lang="ja-JP" altLang="en-US" sz="1200">
                <a:solidFill>
                  <a:schemeClr val="tx1"/>
                </a:solidFill>
              </a:rPr>
              <a:t>以外のプロセスが自動起動設定に関するレジストリキーに対して行ったレジストリ操作を調査せよ</a:t>
            </a:r>
          </a:p>
        </p:txBody>
      </p:sp>
      <p:sp>
        <p:nvSpPr>
          <p:cNvPr id="18" name="角丸四角形 17">
            <a:extLst>
              <a:ext uri="{FF2B5EF4-FFF2-40B4-BE49-F238E27FC236}">
                <a16:creationId xmlns:a16="http://schemas.microsoft.com/office/drawing/2014/main" id="{196FBF8D-CFD8-82E0-ACF5-1C87F77F82F8}"/>
              </a:ext>
            </a:extLst>
          </p:cNvPr>
          <p:cNvSpPr/>
          <p:nvPr/>
        </p:nvSpPr>
        <p:spPr>
          <a:xfrm>
            <a:off x="5315413" y="3653554"/>
            <a:ext cx="1319562" cy="58884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rPr>
              <a:t>SELECT </a:t>
            </a:r>
            <a:r>
              <a:rPr kumimoji="1" lang="en-US" altLang="ja-JP" sz="900" dirty="0" err="1">
                <a:solidFill>
                  <a:schemeClr val="tx1"/>
                </a:solidFill>
              </a:rPr>
              <a:t>time,access,process</a:t>
            </a:r>
            <a:r>
              <a:rPr kumimoji="1" lang="en-US" altLang="ja-JP" sz="900" dirty="0">
                <a:solidFill>
                  <a:schemeClr val="tx1"/>
                </a:solidFill>
              </a:rPr>
              <a:t>,,,,</a:t>
            </a:r>
            <a:endParaRPr kumimoji="1" lang="ja-JP" altLang="en-US" sz="900">
              <a:solidFill>
                <a:schemeClr val="tx1"/>
              </a:solidFill>
            </a:endParaRPr>
          </a:p>
        </p:txBody>
      </p:sp>
      <p:sp>
        <p:nvSpPr>
          <p:cNvPr id="19" name="角丸四角形 18">
            <a:extLst>
              <a:ext uri="{FF2B5EF4-FFF2-40B4-BE49-F238E27FC236}">
                <a16:creationId xmlns:a16="http://schemas.microsoft.com/office/drawing/2014/main" id="{08E8E24B-72C3-E9EA-3C6D-CAC2303A70EB}"/>
              </a:ext>
            </a:extLst>
          </p:cNvPr>
          <p:cNvSpPr/>
          <p:nvPr/>
        </p:nvSpPr>
        <p:spPr>
          <a:xfrm>
            <a:off x="5315413" y="4458746"/>
            <a:ext cx="1319562" cy="58884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rPr>
              <a:t>SELECT </a:t>
            </a:r>
            <a:r>
              <a:rPr kumimoji="1" lang="en-US" altLang="ja-JP" sz="900" dirty="0" err="1">
                <a:solidFill>
                  <a:schemeClr val="tx1"/>
                </a:solidFill>
              </a:rPr>
              <a:t>time,access,process</a:t>
            </a:r>
            <a:r>
              <a:rPr kumimoji="1" lang="en-US" altLang="ja-JP" sz="900" dirty="0">
                <a:solidFill>
                  <a:schemeClr val="tx1"/>
                </a:solidFill>
              </a:rPr>
              <a:t>,,,,</a:t>
            </a:r>
            <a:endParaRPr kumimoji="1" lang="ja-JP" altLang="en-US" sz="900">
              <a:solidFill>
                <a:schemeClr val="tx1"/>
              </a:solidFill>
            </a:endParaRPr>
          </a:p>
        </p:txBody>
      </p:sp>
      <p:sp>
        <p:nvSpPr>
          <p:cNvPr id="20" name="角丸四角形 19">
            <a:extLst>
              <a:ext uri="{FF2B5EF4-FFF2-40B4-BE49-F238E27FC236}">
                <a16:creationId xmlns:a16="http://schemas.microsoft.com/office/drawing/2014/main" id="{928F2F12-19C5-58F3-D9B5-DA179B6F7D10}"/>
              </a:ext>
            </a:extLst>
          </p:cNvPr>
          <p:cNvSpPr/>
          <p:nvPr/>
        </p:nvSpPr>
        <p:spPr>
          <a:xfrm>
            <a:off x="5315412" y="5169107"/>
            <a:ext cx="1319562" cy="67682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rPr>
              <a:t>SELECT </a:t>
            </a:r>
            <a:r>
              <a:rPr kumimoji="1" lang="en-US" altLang="ja-JP" sz="900" dirty="0" err="1">
                <a:solidFill>
                  <a:schemeClr val="tx1"/>
                </a:solidFill>
              </a:rPr>
              <a:t>time,access,process</a:t>
            </a:r>
            <a:r>
              <a:rPr kumimoji="1" lang="en-US" altLang="ja-JP" sz="900" dirty="0">
                <a:solidFill>
                  <a:schemeClr val="tx1"/>
                </a:solidFill>
              </a:rPr>
              <a:t>,,,,</a:t>
            </a:r>
            <a:endParaRPr kumimoji="1" lang="ja-JP" altLang="en-US" sz="900">
              <a:solidFill>
                <a:schemeClr val="tx1"/>
              </a:solidFill>
            </a:endParaRPr>
          </a:p>
        </p:txBody>
      </p:sp>
      <p:sp>
        <p:nvSpPr>
          <p:cNvPr id="21" name="角丸四角形 20">
            <a:extLst>
              <a:ext uri="{FF2B5EF4-FFF2-40B4-BE49-F238E27FC236}">
                <a16:creationId xmlns:a16="http://schemas.microsoft.com/office/drawing/2014/main" id="{96C78083-103F-F951-D088-D4AF1CD5A18B}"/>
              </a:ext>
            </a:extLst>
          </p:cNvPr>
          <p:cNvSpPr/>
          <p:nvPr/>
        </p:nvSpPr>
        <p:spPr>
          <a:xfrm>
            <a:off x="6784892" y="3635940"/>
            <a:ext cx="1319562" cy="58884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No result</a:t>
            </a:r>
            <a:endParaRPr kumimoji="1" lang="ja-JP" altLang="en-US">
              <a:solidFill>
                <a:schemeClr val="tx1"/>
              </a:solidFill>
            </a:endParaRPr>
          </a:p>
        </p:txBody>
      </p:sp>
      <p:sp>
        <p:nvSpPr>
          <p:cNvPr id="22" name="角丸四角形 21">
            <a:extLst>
              <a:ext uri="{FF2B5EF4-FFF2-40B4-BE49-F238E27FC236}">
                <a16:creationId xmlns:a16="http://schemas.microsoft.com/office/drawing/2014/main" id="{D562D047-A0E0-2C50-8414-C821733F198B}"/>
              </a:ext>
            </a:extLst>
          </p:cNvPr>
          <p:cNvSpPr/>
          <p:nvPr/>
        </p:nvSpPr>
        <p:spPr>
          <a:xfrm>
            <a:off x="6784892" y="4461050"/>
            <a:ext cx="1319562" cy="58884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No result</a:t>
            </a:r>
            <a:endParaRPr kumimoji="1" lang="ja-JP" altLang="en-US">
              <a:solidFill>
                <a:schemeClr val="tx1"/>
              </a:solidFill>
            </a:endParaRPr>
          </a:p>
        </p:txBody>
      </p:sp>
      <p:sp>
        <p:nvSpPr>
          <p:cNvPr id="23" name="角丸四角形 22">
            <a:extLst>
              <a:ext uri="{FF2B5EF4-FFF2-40B4-BE49-F238E27FC236}">
                <a16:creationId xmlns:a16="http://schemas.microsoft.com/office/drawing/2014/main" id="{A78C96FA-B43C-70C6-CA7C-9395CEFEB961}"/>
              </a:ext>
            </a:extLst>
          </p:cNvPr>
          <p:cNvSpPr/>
          <p:nvPr/>
        </p:nvSpPr>
        <p:spPr>
          <a:xfrm>
            <a:off x="6784892" y="5169107"/>
            <a:ext cx="1319562" cy="67682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No result</a:t>
            </a:r>
            <a:endParaRPr kumimoji="1" lang="ja-JP" altLang="en-US">
              <a:solidFill>
                <a:schemeClr val="tx1"/>
              </a:solidFill>
            </a:endParaRPr>
          </a:p>
        </p:txBody>
      </p:sp>
      <p:sp>
        <p:nvSpPr>
          <p:cNvPr id="24" name="角丸四角形 23">
            <a:extLst>
              <a:ext uri="{FF2B5EF4-FFF2-40B4-BE49-F238E27FC236}">
                <a16:creationId xmlns:a16="http://schemas.microsoft.com/office/drawing/2014/main" id="{22996BA2-A7EA-B72A-884F-D74C6E7B0C95}"/>
              </a:ext>
            </a:extLst>
          </p:cNvPr>
          <p:cNvSpPr/>
          <p:nvPr/>
        </p:nvSpPr>
        <p:spPr>
          <a:xfrm>
            <a:off x="217755" y="2628321"/>
            <a:ext cx="4057065"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a:t>
            </a:r>
            <a:r>
              <a:rPr kumimoji="1" lang="ja-JP" altLang="en-US" b="1">
                <a:solidFill>
                  <a:schemeClr val="tx1"/>
                </a:solidFill>
              </a:rPr>
              <a:t>　調査論点の提起</a:t>
            </a:r>
            <a:r>
              <a:rPr kumimoji="1" lang="en-US" altLang="ja-JP" b="1" dirty="0">
                <a:solidFill>
                  <a:schemeClr val="tx1"/>
                </a:solidFill>
              </a:rPr>
              <a:t> </a:t>
            </a:r>
            <a:endParaRPr kumimoji="1" lang="ja-JP" altLang="en-US" b="1">
              <a:solidFill>
                <a:schemeClr val="tx1"/>
              </a:solidFill>
            </a:endParaRPr>
          </a:p>
        </p:txBody>
      </p:sp>
      <p:sp>
        <p:nvSpPr>
          <p:cNvPr id="25" name="角丸四角形 24">
            <a:extLst>
              <a:ext uri="{FF2B5EF4-FFF2-40B4-BE49-F238E27FC236}">
                <a16:creationId xmlns:a16="http://schemas.microsoft.com/office/drawing/2014/main" id="{EBE5E5D6-C0DD-7797-E6BE-6B19D158A0A1}"/>
              </a:ext>
            </a:extLst>
          </p:cNvPr>
          <p:cNvSpPr/>
          <p:nvPr/>
        </p:nvSpPr>
        <p:spPr>
          <a:xfrm>
            <a:off x="217755" y="3370535"/>
            <a:ext cx="2331939" cy="2959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Investigator Agent</a:t>
            </a:r>
            <a:endParaRPr kumimoji="1" lang="ja-JP" altLang="en-US" b="1">
              <a:solidFill>
                <a:schemeClr val="tx1"/>
              </a:solidFill>
            </a:endParaRPr>
          </a:p>
        </p:txBody>
      </p:sp>
      <p:sp>
        <p:nvSpPr>
          <p:cNvPr id="26" name="角丸四角形 25">
            <a:extLst>
              <a:ext uri="{FF2B5EF4-FFF2-40B4-BE49-F238E27FC236}">
                <a16:creationId xmlns:a16="http://schemas.microsoft.com/office/drawing/2014/main" id="{7D87BB02-1326-D4AA-1D57-8444B61D6614}"/>
              </a:ext>
            </a:extLst>
          </p:cNvPr>
          <p:cNvSpPr/>
          <p:nvPr/>
        </p:nvSpPr>
        <p:spPr>
          <a:xfrm>
            <a:off x="5116293" y="3384480"/>
            <a:ext cx="1382456" cy="29598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SQL Agent</a:t>
            </a:r>
            <a:endParaRPr kumimoji="1" lang="ja-JP" altLang="en-US" b="1">
              <a:solidFill>
                <a:schemeClr val="tx1"/>
              </a:solidFill>
            </a:endParaRPr>
          </a:p>
        </p:txBody>
      </p:sp>
      <p:sp>
        <p:nvSpPr>
          <p:cNvPr id="27" name="角丸四角形 26">
            <a:extLst>
              <a:ext uri="{FF2B5EF4-FFF2-40B4-BE49-F238E27FC236}">
                <a16:creationId xmlns:a16="http://schemas.microsoft.com/office/drawing/2014/main" id="{3292B55C-7BD0-C5FA-A6F2-DBBB284BD073}"/>
              </a:ext>
            </a:extLst>
          </p:cNvPr>
          <p:cNvSpPr/>
          <p:nvPr/>
        </p:nvSpPr>
        <p:spPr>
          <a:xfrm>
            <a:off x="217755" y="5909781"/>
            <a:ext cx="4057064" cy="29598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Chief Agent</a:t>
            </a:r>
            <a:r>
              <a:rPr kumimoji="1" lang="ja-JP" altLang="en-US" b="1">
                <a:solidFill>
                  <a:schemeClr val="tx1"/>
                </a:solidFill>
              </a:rPr>
              <a:t>　調査結果の受け取り</a:t>
            </a:r>
            <a:r>
              <a:rPr kumimoji="1" lang="en-US" altLang="ja-JP" b="1" dirty="0">
                <a:solidFill>
                  <a:schemeClr val="tx1"/>
                </a:solidFill>
              </a:rPr>
              <a:t> </a:t>
            </a:r>
            <a:endParaRPr kumimoji="1" lang="ja-JP" altLang="en-US" b="1">
              <a:solidFill>
                <a:schemeClr val="tx1"/>
              </a:solidFill>
            </a:endParaRPr>
          </a:p>
        </p:txBody>
      </p:sp>
      <p:sp>
        <p:nvSpPr>
          <p:cNvPr id="28" name="テキスト ボックス 27">
            <a:extLst>
              <a:ext uri="{FF2B5EF4-FFF2-40B4-BE49-F238E27FC236}">
                <a16:creationId xmlns:a16="http://schemas.microsoft.com/office/drawing/2014/main" id="{1DCD1333-E7DA-7EFF-5DAA-6ADAAFFA7E16}"/>
              </a:ext>
            </a:extLst>
          </p:cNvPr>
          <p:cNvSpPr txBox="1"/>
          <p:nvPr/>
        </p:nvSpPr>
        <p:spPr>
          <a:xfrm>
            <a:off x="273395" y="2993760"/>
            <a:ext cx="415498" cy="369332"/>
          </a:xfrm>
          <a:prstGeom prst="rect">
            <a:avLst/>
          </a:prstGeom>
          <a:noFill/>
        </p:spPr>
        <p:txBody>
          <a:bodyPr wrap="none" rtlCol="0">
            <a:spAutoFit/>
          </a:bodyPr>
          <a:lstStyle/>
          <a:p>
            <a:pPr algn="l"/>
            <a:r>
              <a:rPr kumimoji="1" lang="en-US" altLang="ja-JP" dirty="0">
                <a:cs typeface="Arial" panose="020B0604020202020204" pitchFamily="34" charset="0"/>
              </a:rPr>
              <a:t>①</a:t>
            </a:r>
            <a:endParaRPr kumimoji="1" lang="ja-JP" altLang="en-US" dirty="0">
              <a:cs typeface="Arial" panose="020B0604020202020204" pitchFamily="34" charset="0"/>
            </a:endParaRPr>
          </a:p>
        </p:txBody>
      </p:sp>
      <p:sp>
        <p:nvSpPr>
          <p:cNvPr id="29" name="テキスト ボックス 28">
            <a:extLst>
              <a:ext uri="{FF2B5EF4-FFF2-40B4-BE49-F238E27FC236}">
                <a16:creationId xmlns:a16="http://schemas.microsoft.com/office/drawing/2014/main" id="{083362D7-0468-0846-CCCB-2776CC2BF982}"/>
              </a:ext>
            </a:extLst>
          </p:cNvPr>
          <p:cNvSpPr txBox="1"/>
          <p:nvPr/>
        </p:nvSpPr>
        <p:spPr>
          <a:xfrm>
            <a:off x="273395" y="3783930"/>
            <a:ext cx="415498" cy="369332"/>
          </a:xfrm>
          <a:prstGeom prst="rect">
            <a:avLst/>
          </a:prstGeom>
          <a:noFill/>
        </p:spPr>
        <p:txBody>
          <a:bodyPr wrap="none" rtlCol="0">
            <a:spAutoFit/>
          </a:bodyPr>
          <a:lstStyle/>
          <a:p>
            <a:pPr algn="l"/>
            <a:r>
              <a:rPr kumimoji="1" lang="en-US" altLang="ja-JP" dirty="0">
                <a:cs typeface="Arial" panose="020B0604020202020204" pitchFamily="34" charset="0"/>
              </a:rPr>
              <a:t>②</a:t>
            </a:r>
            <a:endParaRPr kumimoji="1" lang="ja-JP" altLang="en-US" dirty="0">
              <a:cs typeface="Arial" panose="020B0604020202020204" pitchFamily="34" charset="0"/>
            </a:endParaRPr>
          </a:p>
        </p:txBody>
      </p:sp>
      <p:sp>
        <p:nvSpPr>
          <p:cNvPr id="30" name="テキスト ボックス 29">
            <a:extLst>
              <a:ext uri="{FF2B5EF4-FFF2-40B4-BE49-F238E27FC236}">
                <a16:creationId xmlns:a16="http://schemas.microsoft.com/office/drawing/2014/main" id="{5ACB33CD-2494-0573-C9C9-8CD13FC13A24}"/>
              </a:ext>
            </a:extLst>
          </p:cNvPr>
          <p:cNvSpPr txBox="1"/>
          <p:nvPr/>
        </p:nvSpPr>
        <p:spPr>
          <a:xfrm>
            <a:off x="273395" y="4405694"/>
            <a:ext cx="415498" cy="369332"/>
          </a:xfrm>
          <a:prstGeom prst="rect">
            <a:avLst/>
          </a:prstGeom>
          <a:noFill/>
        </p:spPr>
        <p:txBody>
          <a:bodyPr wrap="none" rtlCol="0">
            <a:spAutoFit/>
          </a:bodyPr>
          <a:lstStyle/>
          <a:p>
            <a:pPr algn="l"/>
            <a:r>
              <a:rPr kumimoji="1" lang="en-US" altLang="ja-JP" dirty="0">
                <a:cs typeface="Arial" panose="020B0604020202020204" pitchFamily="34" charset="0"/>
              </a:rPr>
              <a:t>②</a:t>
            </a:r>
            <a:endParaRPr kumimoji="1" lang="ja-JP" altLang="en-US" dirty="0">
              <a:cs typeface="Arial" panose="020B0604020202020204" pitchFamily="34" charset="0"/>
            </a:endParaRPr>
          </a:p>
        </p:txBody>
      </p:sp>
      <p:sp>
        <p:nvSpPr>
          <p:cNvPr id="31" name="テキスト ボックス 30">
            <a:extLst>
              <a:ext uri="{FF2B5EF4-FFF2-40B4-BE49-F238E27FC236}">
                <a16:creationId xmlns:a16="http://schemas.microsoft.com/office/drawing/2014/main" id="{137CDE56-7C29-4103-9C7B-1EA199037D05}"/>
              </a:ext>
            </a:extLst>
          </p:cNvPr>
          <p:cNvSpPr txBox="1"/>
          <p:nvPr/>
        </p:nvSpPr>
        <p:spPr>
          <a:xfrm>
            <a:off x="5243890" y="3633477"/>
            <a:ext cx="415498" cy="369332"/>
          </a:xfrm>
          <a:prstGeom prst="rect">
            <a:avLst/>
          </a:prstGeom>
          <a:noFill/>
        </p:spPr>
        <p:txBody>
          <a:bodyPr wrap="none" rtlCol="0">
            <a:spAutoFit/>
          </a:bodyPr>
          <a:lstStyle/>
          <a:p>
            <a:pPr algn="l"/>
            <a:r>
              <a:rPr kumimoji="1" lang="en-US" altLang="ja-JP" dirty="0">
                <a:cs typeface="Arial" panose="020B0604020202020204" pitchFamily="34" charset="0"/>
              </a:rPr>
              <a:t>③</a:t>
            </a:r>
            <a:endParaRPr kumimoji="1" lang="ja-JP" altLang="en-US" dirty="0">
              <a:cs typeface="Arial" panose="020B0604020202020204" pitchFamily="34" charset="0"/>
            </a:endParaRPr>
          </a:p>
        </p:txBody>
      </p:sp>
      <p:sp>
        <p:nvSpPr>
          <p:cNvPr id="32" name="テキスト ボックス 31">
            <a:extLst>
              <a:ext uri="{FF2B5EF4-FFF2-40B4-BE49-F238E27FC236}">
                <a16:creationId xmlns:a16="http://schemas.microsoft.com/office/drawing/2014/main" id="{C293FECE-310F-0343-3BD0-0B11048FAF92}"/>
              </a:ext>
            </a:extLst>
          </p:cNvPr>
          <p:cNvSpPr txBox="1"/>
          <p:nvPr/>
        </p:nvSpPr>
        <p:spPr>
          <a:xfrm>
            <a:off x="5243890" y="4412393"/>
            <a:ext cx="415498" cy="369332"/>
          </a:xfrm>
          <a:prstGeom prst="rect">
            <a:avLst/>
          </a:prstGeom>
          <a:noFill/>
        </p:spPr>
        <p:txBody>
          <a:bodyPr wrap="none" rtlCol="0">
            <a:spAutoFit/>
          </a:bodyPr>
          <a:lstStyle/>
          <a:p>
            <a:pPr algn="l"/>
            <a:r>
              <a:rPr kumimoji="1" lang="en-US" altLang="ja-JP" dirty="0">
                <a:cs typeface="Arial" panose="020B0604020202020204" pitchFamily="34" charset="0"/>
              </a:rPr>
              <a:t>③</a:t>
            </a:r>
            <a:endParaRPr kumimoji="1" lang="ja-JP" altLang="en-US" dirty="0">
              <a:cs typeface="Arial" panose="020B0604020202020204" pitchFamily="34" charset="0"/>
            </a:endParaRPr>
          </a:p>
        </p:txBody>
      </p:sp>
      <p:sp>
        <p:nvSpPr>
          <p:cNvPr id="33" name="テキスト ボックス 32">
            <a:extLst>
              <a:ext uri="{FF2B5EF4-FFF2-40B4-BE49-F238E27FC236}">
                <a16:creationId xmlns:a16="http://schemas.microsoft.com/office/drawing/2014/main" id="{7A81E860-EC75-8DF8-76B5-C5692A6D3B23}"/>
              </a:ext>
            </a:extLst>
          </p:cNvPr>
          <p:cNvSpPr txBox="1"/>
          <p:nvPr/>
        </p:nvSpPr>
        <p:spPr>
          <a:xfrm>
            <a:off x="273395" y="5177063"/>
            <a:ext cx="415498" cy="369332"/>
          </a:xfrm>
          <a:prstGeom prst="rect">
            <a:avLst/>
          </a:prstGeom>
          <a:noFill/>
        </p:spPr>
        <p:txBody>
          <a:bodyPr wrap="none" rtlCol="0">
            <a:spAutoFit/>
          </a:bodyPr>
          <a:lstStyle/>
          <a:p>
            <a:pPr algn="l"/>
            <a:r>
              <a:rPr kumimoji="1" lang="en-US" altLang="ja-JP" dirty="0">
                <a:cs typeface="Arial" panose="020B0604020202020204" pitchFamily="34" charset="0"/>
              </a:rPr>
              <a:t>④</a:t>
            </a:r>
            <a:endParaRPr kumimoji="1" lang="ja-JP" altLang="en-US" dirty="0">
              <a:cs typeface="Arial" panose="020B0604020202020204" pitchFamily="34" charset="0"/>
            </a:endParaRPr>
          </a:p>
        </p:txBody>
      </p:sp>
      <p:sp>
        <p:nvSpPr>
          <p:cNvPr id="34" name="テキスト ボックス 33">
            <a:extLst>
              <a:ext uri="{FF2B5EF4-FFF2-40B4-BE49-F238E27FC236}">
                <a16:creationId xmlns:a16="http://schemas.microsoft.com/office/drawing/2014/main" id="{019D931F-8866-2460-727C-C521A21A2D80}"/>
              </a:ext>
            </a:extLst>
          </p:cNvPr>
          <p:cNvSpPr txBox="1"/>
          <p:nvPr/>
        </p:nvSpPr>
        <p:spPr>
          <a:xfrm>
            <a:off x="5243890" y="5144365"/>
            <a:ext cx="415498" cy="369332"/>
          </a:xfrm>
          <a:prstGeom prst="rect">
            <a:avLst/>
          </a:prstGeom>
          <a:noFill/>
        </p:spPr>
        <p:txBody>
          <a:bodyPr wrap="none" rtlCol="0">
            <a:spAutoFit/>
          </a:bodyPr>
          <a:lstStyle/>
          <a:p>
            <a:pPr algn="l"/>
            <a:r>
              <a:rPr kumimoji="1" lang="en-US" altLang="ja-JP" dirty="0">
                <a:cs typeface="Arial" panose="020B0604020202020204" pitchFamily="34" charset="0"/>
              </a:rPr>
              <a:t>➄</a:t>
            </a:r>
            <a:endParaRPr kumimoji="1" lang="ja-JP" altLang="en-US" dirty="0">
              <a:cs typeface="Arial" panose="020B0604020202020204" pitchFamily="34" charset="0"/>
            </a:endParaRPr>
          </a:p>
        </p:txBody>
      </p:sp>
      <p:sp>
        <p:nvSpPr>
          <p:cNvPr id="35" name="テキスト ボックス 34">
            <a:extLst>
              <a:ext uri="{FF2B5EF4-FFF2-40B4-BE49-F238E27FC236}">
                <a16:creationId xmlns:a16="http://schemas.microsoft.com/office/drawing/2014/main" id="{5DFE4F16-B98C-AFA4-3E7C-99EDB2F7089D}"/>
              </a:ext>
            </a:extLst>
          </p:cNvPr>
          <p:cNvSpPr txBox="1"/>
          <p:nvPr/>
        </p:nvSpPr>
        <p:spPr>
          <a:xfrm>
            <a:off x="273395" y="6308639"/>
            <a:ext cx="415498" cy="369332"/>
          </a:xfrm>
          <a:prstGeom prst="rect">
            <a:avLst/>
          </a:prstGeom>
          <a:noFill/>
        </p:spPr>
        <p:txBody>
          <a:bodyPr wrap="none" rtlCol="0">
            <a:spAutoFit/>
          </a:bodyPr>
          <a:lstStyle/>
          <a:p>
            <a:pPr algn="l"/>
            <a:r>
              <a:rPr kumimoji="1" lang="en-US" altLang="ja-JP" dirty="0">
                <a:cs typeface="Arial" panose="020B0604020202020204" pitchFamily="34" charset="0"/>
              </a:rPr>
              <a:t>⑥</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698950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6A6D-38D1-476C-145F-576E7F00F7B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834FFD0-534F-021B-1BF9-91D4A973D1BC}"/>
              </a:ext>
            </a:extLst>
          </p:cNvPr>
          <p:cNvSpPr>
            <a:spLocks noGrp="1"/>
          </p:cNvSpPr>
          <p:nvPr>
            <p:ph type="title"/>
          </p:nvPr>
        </p:nvSpPr>
        <p:spPr>
          <a:xfrm>
            <a:off x="217755" y="13766"/>
            <a:ext cx="7886700" cy="626133"/>
          </a:xfrm>
        </p:spPr>
        <p:txBody>
          <a:bodyPr>
            <a:normAutofit/>
          </a:bodyPr>
          <a:lstStyle/>
          <a:p>
            <a:r>
              <a:rPr lang="en-US" dirty="0" err="1"/>
              <a:t>実験の全体像</a:t>
            </a:r>
            <a:endParaRPr lang="en-US" dirty="0"/>
          </a:p>
        </p:txBody>
      </p:sp>
      <p:sp>
        <p:nvSpPr>
          <p:cNvPr id="4" name="スライド番号プレースホルダー 3">
            <a:extLst>
              <a:ext uri="{FF2B5EF4-FFF2-40B4-BE49-F238E27FC236}">
                <a16:creationId xmlns:a16="http://schemas.microsoft.com/office/drawing/2014/main" id="{491FCE7B-F92C-E958-7B21-436A762BFEE2}"/>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16</a:t>
            </a:fld>
            <a:endParaRPr lang="en-US"/>
          </a:p>
        </p:txBody>
      </p:sp>
      <p:pic>
        <p:nvPicPr>
          <p:cNvPr id="7" name="図 6">
            <a:extLst>
              <a:ext uri="{FF2B5EF4-FFF2-40B4-BE49-F238E27FC236}">
                <a16:creationId xmlns:a16="http://schemas.microsoft.com/office/drawing/2014/main" id="{68AF273F-E657-3F73-CC99-28361BAF75AB}"/>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3AF816CF-D8B7-57EC-DB12-D7544E15F568}"/>
              </a:ext>
            </a:extLst>
          </p:cNvPr>
          <p:cNvSpPr txBox="1"/>
          <p:nvPr/>
        </p:nvSpPr>
        <p:spPr>
          <a:xfrm>
            <a:off x="93471" y="651774"/>
            <a:ext cx="8843700" cy="3139321"/>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目的</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en-US" altLang="ja-JP" dirty="0">
                <a:cs typeface="Arial" panose="020B0604020202020204" pitchFamily="34" charset="0"/>
              </a:rPr>
              <a:t>CBC alert</a:t>
            </a:r>
            <a:r>
              <a:rPr kumimoji="1" lang="ja-JP" altLang="en-US">
                <a:cs typeface="Arial" panose="020B0604020202020204" pitchFamily="34" charset="0"/>
              </a:rPr>
              <a:t>に頼らず、ログだけで正常の行動列を復元出来るかを検証する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復元が可能であれば、正常調査中に</a:t>
            </a:r>
            <a:r>
              <a:rPr kumimoji="1" lang="en-US" altLang="ja-JP" dirty="0">
                <a:cs typeface="Arial" panose="020B0604020202020204" pitchFamily="34" charset="0"/>
              </a:rPr>
              <a:t>CBC alert</a:t>
            </a:r>
            <a:r>
              <a:rPr kumimoji="1" lang="ja-JP" altLang="en-US">
                <a:cs typeface="Arial" panose="020B0604020202020204" pitchFamily="34" charset="0"/>
              </a:rPr>
              <a:t>に記載のない行動列も発見出来る</a:t>
            </a:r>
            <a:endParaRPr kumimoji="1" lang="en-US" altLang="ja-JP" dirty="0">
              <a:cs typeface="Arial" panose="020B0604020202020204" pitchFamily="34" charset="0"/>
            </a:endParaRPr>
          </a:p>
          <a:p>
            <a:pPr marL="742950" lvl="1" indent="-285750">
              <a:buFont typeface="Arial" panose="020B0604020202020204" pitchFamily="34" charset="0"/>
              <a:buChar char="•"/>
            </a:pPr>
            <a:endParaRPr kumimoji="1" lang="en-US" altLang="ja-JP" dirty="0">
              <a:cs typeface="Arial" panose="020B0604020202020204" pitchFamily="34" charset="0"/>
            </a:endParaRPr>
          </a:p>
          <a:p>
            <a:pPr marL="285750" indent="-285750">
              <a:buFont typeface="Arial" panose="020B0604020202020204" pitchFamily="34" charset="0"/>
              <a:buChar char="•"/>
            </a:pPr>
            <a:r>
              <a:rPr kumimoji="1" lang="ja-JP" altLang="en-US">
                <a:cs typeface="Arial" panose="020B0604020202020204" pitchFamily="34" charset="0"/>
              </a:rPr>
              <a:t>実験設計</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en-US" altLang="ja-JP" dirty="0">
                <a:cs typeface="Arial" panose="020B0604020202020204" pitchFamily="34" charset="0"/>
              </a:rPr>
              <a:t>CBC alert</a:t>
            </a:r>
            <a:r>
              <a:rPr kumimoji="1" lang="ja-JP" altLang="en-US">
                <a:cs typeface="Arial" panose="020B0604020202020204" pitchFamily="34" charset="0"/>
              </a:rPr>
              <a:t>の有無を</a:t>
            </a:r>
            <a:r>
              <a:rPr kumimoji="1" lang="en-US" altLang="ja-JP" dirty="0">
                <a:cs typeface="Arial" panose="020B0604020202020204" pitchFamily="34" charset="0"/>
              </a:rPr>
              <a:t>3</a:t>
            </a:r>
            <a:r>
              <a:rPr kumimoji="1" lang="ja-JP" altLang="en-US">
                <a:cs typeface="Arial" panose="020B0604020202020204" pitchFamily="34" charset="0"/>
              </a:rPr>
              <a:t>段階で変えることで、モデルの純粋なログ探索、復元能力を図る</a:t>
            </a:r>
            <a:endParaRPr kumimoji="1" lang="en-US" altLang="ja-JP" dirty="0">
              <a:cs typeface="Arial" panose="020B0604020202020204" pitchFamily="34" charset="0"/>
            </a:endParaRPr>
          </a:p>
          <a:p>
            <a:pPr marL="742950" lvl="1" indent="-285750">
              <a:buFont typeface="Arial" panose="020B0604020202020204" pitchFamily="34" charset="0"/>
              <a:buChar char="•"/>
            </a:pPr>
            <a:endParaRPr kumimoji="1" lang="en-US" altLang="ja-JP" dirty="0">
              <a:cs typeface="Arial" panose="020B0604020202020204" pitchFamily="34" charset="0"/>
            </a:endParaRPr>
          </a:p>
          <a:p>
            <a:pPr marL="742950" lvl="1" indent="-285750">
              <a:buFont typeface="Arial" panose="020B0604020202020204" pitchFamily="34" charset="0"/>
              <a:buChar char="•"/>
            </a:pPr>
            <a:endParaRPr kumimoji="1" lang="en-US" altLang="ja-JP" dirty="0">
              <a:cs typeface="Arial" panose="020B0604020202020204" pitchFamily="34" charset="0"/>
            </a:endParaRPr>
          </a:p>
          <a:p>
            <a:pPr marL="285750" indent="-285750">
              <a:buFont typeface="Arial" panose="020B0604020202020204" pitchFamily="34" charset="0"/>
              <a:buChar char="•"/>
            </a:pPr>
            <a:endParaRPr kumimoji="1" lang="ja-JP" altLang="en-US" dirty="0">
              <a:cs typeface="Arial" panose="020B0604020202020204" pitchFamily="34" charset="0"/>
            </a:endParaRPr>
          </a:p>
        </p:txBody>
      </p:sp>
      <p:graphicFrame>
        <p:nvGraphicFramePr>
          <p:cNvPr id="3" name="表 2">
            <a:extLst>
              <a:ext uri="{FF2B5EF4-FFF2-40B4-BE49-F238E27FC236}">
                <a16:creationId xmlns:a16="http://schemas.microsoft.com/office/drawing/2014/main" id="{104CF18D-DCAC-3CCD-FF6C-041A900EAFD7}"/>
              </a:ext>
            </a:extLst>
          </p:cNvPr>
          <p:cNvGraphicFramePr>
            <a:graphicFrameLocks noGrp="1"/>
          </p:cNvGraphicFramePr>
          <p:nvPr>
            <p:extLst>
              <p:ext uri="{D42A27DB-BD31-4B8C-83A1-F6EECF244321}">
                <p14:modId xmlns:p14="http://schemas.microsoft.com/office/powerpoint/2010/main" val="852854343"/>
              </p:ext>
            </p:extLst>
          </p:nvPr>
        </p:nvGraphicFramePr>
        <p:xfrm>
          <a:off x="217754" y="3188071"/>
          <a:ext cx="8625944" cy="2873138"/>
        </p:xfrm>
        <a:graphic>
          <a:graphicData uri="http://schemas.openxmlformats.org/drawingml/2006/table">
            <a:tbl>
              <a:tblPr/>
              <a:tblGrid>
                <a:gridCol w="1379692">
                  <a:extLst>
                    <a:ext uri="{9D8B030D-6E8A-4147-A177-3AD203B41FA5}">
                      <a16:colId xmlns:a16="http://schemas.microsoft.com/office/drawing/2014/main" val="865250336"/>
                    </a:ext>
                  </a:extLst>
                </a:gridCol>
                <a:gridCol w="2489812">
                  <a:extLst>
                    <a:ext uri="{9D8B030D-6E8A-4147-A177-3AD203B41FA5}">
                      <a16:colId xmlns:a16="http://schemas.microsoft.com/office/drawing/2014/main" val="1487285199"/>
                    </a:ext>
                  </a:extLst>
                </a:gridCol>
                <a:gridCol w="2423711">
                  <a:extLst>
                    <a:ext uri="{9D8B030D-6E8A-4147-A177-3AD203B41FA5}">
                      <a16:colId xmlns:a16="http://schemas.microsoft.com/office/drawing/2014/main" val="3601238034"/>
                    </a:ext>
                  </a:extLst>
                </a:gridCol>
                <a:gridCol w="2332729">
                  <a:extLst>
                    <a:ext uri="{9D8B030D-6E8A-4147-A177-3AD203B41FA5}">
                      <a16:colId xmlns:a16="http://schemas.microsoft.com/office/drawing/2014/main" val="2533826393"/>
                    </a:ext>
                  </a:extLst>
                </a:gridCol>
              </a:tblGrid>
              <a:tr h="404258">
                <a:tc>
                  <a:txBody>
                    <a:bodyPr/>
                    <a:lstStyle/>
                    <a:p>
                      <a:pPr>
                        <a:buNone/>
                      </a:pPr>
                      <a:r>
                        <a:rPr lang="ja-JP" sz="1800"/>
                        <a:t>ステージ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入力にCBC alertを含む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DBにCBC alertを含む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測りたいこと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609829922"/>
                  </a:ext>
                </a:extLst>
              </a:tr>
              <a:tr h="579437">
                <a:tc>
                  <a:txBody>
                    <a:bodyPr/>
                    <a:lstStyle/>
                    <a:p>
                      <a:pPr>
                        <a:buNone/>
                      </a:pPr>
                      <a:r>
                        <a:rPr lang="ja-JP" sz="1800"/>
                        <a:t>Stage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CBC alertを手がかりに行動列を復元できるか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3684506"/>
                  </a:ext>
                </a:extLst>
              </a:tr>
              <a:tr h="579437">
                <a:tc>
                  <a:txBody>
                    <a:bodyPr/>
                    <a:lstStyle/>
                    <a:p>
                      <a:pPr>
                        <a:buNone/>
                      </a:pPr>
                      <a:r>
                        <a:rPr lang="ja-JP" sz="1800"/>
                        <a:t>Stage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あり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DBから自力でCBC alertに到達できるか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6190243"/>
                  </a:ext>
                </a:extLst>
              </a:tr>
              <a:tr h="579437">
                <a:tc>
                  <a:txBody>
                    <a:bodyPr/>
                    <a:lstStyle/>
                    <a:p>
                      <a:pPr>
                        <a:buNone/>
                      </a:pPr>
                      <a:r>
                        <a:rPr lang="ja-JP" sz="1800"/>
                        <a:t>Stage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buNone/>
                      </a:pPr>
                      <a:r>
                        <a:rPr lang="ja-JP" sz="1800"/>
                        <a:t>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なし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sz="1800"/>
                        <a:t>低レベルログのみから行動列を復元できるか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594218"/>
                  </a:ext>
                </a:extLst>
              </a:tr>
            </a:tbl>
          </a:graphicData>
        </a:graphic>
      </p:graphicFrame>
    </p:spTree>
    <p:extLst>
      <p:ext uri="{BB962C8B-B14F-4D97-AF65-F5344CB8AC3E}">
        <p14:creationId xmlns:p14="http://schemas.microsoft.com/office/powerpoint/2010/main" val="869387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DA953-7D1C-8B91-C6F2-1D3F51871072}"/>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654BB258-520A-FF88-B6FA-6048EAA67486}"/>
              </a:ext>
            </a:extLst>
          </p:cNvPr>
          <p:cNvSpPr>
            <a:spLocks noGrp="1"/>
          </p:cNvSpPr>
          <p:nvPr>
            <p:ph type="title"/>
          </p:nvPr>
        </p:nvSpPr>
        <p:spPr>
          <a:xfrm>
            <a:off x="217755" y="13766"/>
            <a:ext cx="7886700" cy="626133"/>
          </a:xfrm>
        </p:spPr>
        <p:txBody>
          <a:bodyPr>
            <a:normAutofit/>
          </a:bodyPr>
          <a:lstStyle/>
          <a:p>
            <a:r>
              <a:rPr lang="en-US" dirty="0" err="1"/>
              <a:t>実験：使用するデータセット</a:t>
            </a:r>
            <a:endParaRPr lang="en-US" dirty="0"/>
          </a:p>
        </p:txBody>
      </p:sp>
      <p:sp>
        <p:nvSpPr>
          <p:cNvPr id="4" name="スライド番号プレースホルダー 3">
            <a:extLst>
              <a:ext uri="{FF2B5EF4-FFF2-40B4-BE49-F238E27FC236}">
                <a16:creationId xmlns:a16="http://schemas.microsoft.com/office/drawing/2014/main" id="{215317B1-EB1D-F250-C902-432A5C36CF14}"/>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17</a:t>
            </a:fld>
            <a:endParaRPr lang="en-US"/>
          </a:p>
        </p:txBody>
      </p:sp>
      <p:pic>
        <p:nvPicPr>
          <p:cNvPr id="7" name="図 6">
            <a:extLst>
              <a:ext uri="{FF2B5EF4-FFF2-40B4-BE49-F238E27FC236}">
                <a16:creationId xmlns:a16="http://schemas.microsoft.com/office/drawing/2014/main" id="{B474CD00-0C60-EFB4-53AA-073B9A277BB0}"/>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1C4002AD-4697-3526-439A-DA21ADE3CC24}"/>
              </a:ext>
            </a:extLst>
          </p:cNvPr>
          <p:cNvSpPr txBox="1"/>
          <p:nvPr/>
        </p:nvSpPr>
        <p:spPr>
          <a:xfrm>
            <a:off x="130669" y="651774"/>
            <a:ext cx="8760732" cy="1477328"/>
          </a:xfrm>
          <a:prstGeom prst="rect">
            <a:avLst/>
          </a:prstGeom>
          <a:noFill/>
        </p:spPr>
        <p:txBody>
          <a:bodyPr wrap="non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使用するデータセット</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en-US" altLang="ja-JP" dirty="0">
                <a:cs typeface="Arial" panose="020B0604020202020204" pitchFamily="34" charset="0"/>
              </a:rPr>
              <a:t>ATLAS v2</a:t>
            </a:r>
          </a:p>
          <a:p>
            <a:pPr marL="1200150" lvl="2" indent="-285750">
              <a:buFont typeface="Arial" panose="020B0604020202020204" pitchFamily="34" charset="0"/>
              <a:buChar char="•"/>
            </a:pPr>
            <a:r>
              <a:rPr kumimoji="1" lang="en-US" altLang="ja-JP" dirty="0">
                <a:cs typeface="Arial" panose="020B0604020202020204" pitchFamily="34" charset="0"/>
              </a:rPr>
              <a:t>Windows </a:t>
            </a:r>
            <a:r>
              <a:rPr kumimoji="1" lang="ja-JP" altLang="en-US">
                <a:cs typeface="Arial" panose="020B0604020202020204" pitchFamily="34" charset="0"/>
              </a:rPr>
              <a:t>エンドポイントログのオープンソースデータ</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ja-JP" altLang="en-US">
                <a:cs typeface="Arial" panose="020B0604020202020204" pitchFamily="34" charset="0"/>
              </a:rPr>
              <a:t>ログの種類が豊富で実務に近い</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ja-JP" altLang="en-US">
                <a:cs typeface="Arial" panose="020B0604020202020204" pitchFamily="34" charset="0"/>
              </a:rPr>
              <a:t>正常期間に人が</a:t>
            </a:r>
            <a:r>
              <a:rPr kumimoji="1" lang="en-US" altLang="ja-JP" dirty="0">
                <a:cs typeface="Arial" panose="020B0604020202020204" pitchFamily="34" charset="0"/>
              </a:rPr>
              <a:t>8</a:t>
            </a:r>
            <a:r>
              <a:rPr kumimoji="1" lang="ja-JP" altLang="en-US">
                <a:cs typeface="Arial" panose="020B0604020202020204" pitchFamily="34" charset="0"/>
              </a:rPr>
              <a:t>時間✖︎</a:t>
            </a:r>
            <a:r>
              <a:rPr kumimoji="1" lang="en-US" altLang="ja-JP" dirty="0">
                <a:cs typeface="Arial" panose="020B0604020202020204" pitchFamily="34" charset="0"/>
              </a:rPr>
              <a:t>4</a:t>
            </a:r>
            <a:r>
              <a:rPr kumimoji="1" lang="ja-JP" altLang="en-US">
                <a:cs typeface="Arial" panose="020B0604020202020204" pitchFamily="34" charset="0"/>
              </a:rPr>
              <a:t>日間作業しており実環境の再現がなされている</a:t>
            </a:r>
            <a:endParaRPr kumimoji="1" lang="en-US" altLang="ja-JP" dirty="0">
              <a:cs typeface="Arial" panose="020B0604020202020204" pitchFamily="34" charset="0"/>
            </a:endParaRPr>
          </a:p>
        </p:txBody>
      </p:sp>
      <p:graphicFrame>
        <p:nvGraphicFramePr>
          <p:cNvPr id="3" name="表 2">
            <a:extLst>
              <a:ext uri="{FF2B5EF4-FFF2-40B4-BE49-F238E27FC236}">
                <a16:creationId xmlns:a16="http://schemas.microsoft.com/office/drawing/2014/main" id="{052E79EF-8658-739F-99B5-E861C78EA2AA}"/>
              </a:ext>
            </a:extLst>
          </p:cNvPr>
          <p:cNvGraphicFramePr>
            <a:graphicFrameLocks noGrp="1"/>
          </p:cNvGraphicFramePr>
          <p:nvPr>
            <p:extLst>
              <p:ext uri="{D42A27DB-BD31-4B8C-83A1-F6EECF244321}">
                <p14:modId xmlns:p14="http://schemas.microsoft.com/office/powerpoint/2010/main" val="331613407"/>
              </p:ext>
            </p:extLst>
          </p:nvPr>
        </p:nvGraphicFramePr>
        <p:xfrm>
          <a:off x="121038" y="3126869"/>
          <a:ext cx="8760733" cy="2903818"/>
        </p:xfrm>
        <a:graphic>
          <a:graphicData uri="http://schemas.openxmlformats.org/drawingml/2006/table">
            <a:tbl>
              <a:tblPr/>
              <a:tblGrid>
                <a:gridCol w="2165822">
                  <a:extLst>
                    <a:ext uri="{9D8B030D-6E8A-4147-A177-3AD203B41FA5}">
                      <a16:colId xmlns:a16="http://schemas.microsoft.com/office/drawing/2014/main" val="2702691857"/>
                    </a:ext>
                  </a:extLst>
                </a:gridCol>
                <a:gridCol w="6594911">
                  <a:extLst>
                    <a:ext uri="{9D8B030D-6E8A-4147-A177-3AD203B41FA5}">
                      <a16:colId xmlns:a16="http://schemas.microsoft.com/office/drawing/2014/main" val="3341637119"/>
                    </a:ext>
                  </a:extLst>
                </a:gridCol>
              </a:tblGrid>
              <a:tr h="407532">
                <a:tc>
                  <a:txBody>
                    <a:bodyPr/>
                    <a:lstStyle/>
                    <a:p>
                      <a:pPr>
                        <a:buNone/>
                      </a:pPr>
                      <a:r>
                        <a:rPr lang="ja-JP" sz="1800"/>
                        <a:t>ログ種別</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内容</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40089597"/>
                  </a:ext>
                </a:extLst>
              </a:tr>
              <a:tr h="713160">
                <a:tc>
                  <a:txBody>
                    <a:bodyPr/>
                    <a:lstStyle/>
                    <a:p>
                      <a:pPr>
                        <a:buNone/>
                      </a:pPr>
                      <a:r>
                        <a:rPr lang="ja-JP" sz="1800"/>
                        <a:t>Windows Security</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600"/>
                        <a:t>Windows OSの監査ログ。ファイル/オブジェクトアクセス、認証、プロセス作成/終了、通信許可などを含む。</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86915"/>
                  </a:ext>
                </a:extLst>
              </a:tr>
              <a:tr h="730016">
                <a:tc>
                  <a:txBody>
                    <a:bodyPr/>
                    <a:lstStyle/>
                    <a:p>
                      <a:pPr>
                        <a:buNone/>
                      </a:pPr>
                      <a:r>
                        <a:rPr lang="ja-JP" sz="1800"/>
                        <a:t>Sysmon</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600"/>
                        <a:t>端末上の詳細なシステム活動ログ。プロセス作成/終了、親プロセス、コマンドライン、ProcessGuidなどを含む。</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26961"/>
                  </a:ext>
                </a:extLst>
              </a:tr>
              <a:tr h="359173">
                <a:tc>
                  <a:txBody>
                    <a:bodyPr/>
                    <a:lstStyle/>
                    <a:p>
                      <a:pPr>
                        <a:buNone/>
                      </a:pPr>
                      <a:r>
                        <a:rPr lang="ja-JP" sz="1800"/>
                        <a:t>DNS</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600"/>
                        <a:t>名前解決のログ。通信先ドメインの確認に使える。</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7723664"/>
                  </a:ext>
                </a:extLst>
              </a:tr>
              <a:tr h="359173">
                <a:tc>
                  <a:txBody>
                    <a:bodyPr/>
                    <a:lstStyle/>
                    <a:p>
                      <a:pPr>
                        <a:buNone/>
                      </a:pPr>
                      <a:r>
                        <a:rPr lang="ja-JP" sz="1800"/>
                        <a:t>Firefox</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600"/>
                        <a:t>ブラウザ操作やWebアクセスの文脈を確認できる。</a:t>
                      </a:r>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476789"/>
                  </a:ext>
                </a:extLst>
              </a:tr>
              <a:tr h="334764">
                <a:tc>
                  <a:txBody>
                    <a:bodyPr/>
                    <a:lstStyle/>
                    <a:p>
                      <a:pPr>
                        <a:buNone/>
                      </a:pPr>
                      <a:r>
                        <a:rPr lang="ja-JP" sz="1800"/>
                        <a:t>CBC </a:t>
                      </a:r>
                      <a:r>
                        <a:rPr lang="ja-JP" altLang="en-US" sz="1800"/>
                        <a:t>アラート</a:t>
                      </a:r>
                      <a:endParaRPr lang="ja-JP" sz="1800"/>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600"/>
                        <a:t>Carbon Black EDRが観測した端末イベント</a:t>
                      </a:r>
                      <a:r>
                        <a:rPr lang="ja-JP" altLang="en-US" sz="1600"/>
                        <a:t>のアラート</a:t>
                      </a:r>
                      <a:endParaRPr lang="ja-JP" sz="1600"/>
                    </a:p>
                  </a:txBody>
                  <a:tcPr marL="7029" marR="7029" marT="3515" marB="35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8344104"/>
                  </a:ext>
                </a:extLst>
              </a:tr>
            </a:tbl>
          </a:graphicData>
        </a:graphic>
      </p:graphicFrame>
      <p:sp>
        <p:nvSpPr>
          <p:cNvPr id="6" name="テキスト ボックス 5">
            <a:extLst>
              <a:ext uri="{FF2B5EF4-FFF2-40B4-BE49-F238E27FC236}">
                <a16:creationId xmlns:a16="http://schemas.microsoft.com/office/drawing/2014/main" id="{DAB1E234-764A-6B0D-0C27-2A9940CDD557}"/>
              </a:ext>
            </a:extLst>
          </p:cNvPr>
          <p:cNvSpPr txBox="1"/>
          <p:nvPr/>
        </p:nvSpPr>
        <p:spPr>
          <a:xfrm>
            <a:off x="0" y="2635251"/>
            <a:ext cx="3526671" cy="369332"/>
          </a:xfrm>
          <a:prstGeom prst="rect">
            <a:avLst/>
          </a:prstGeom>
          <a:noFill/>
        </p:spPr>
        <p:txBody>
          <a:bodyPr wrap="none" rtlCol="0">
            <a:spAutoFit/>
          </a:bodyPr>
          <a:lstStyle/>
          <a:p>
            <a:pPr algn="l"/>
            <a:r>
              <a:rPr kumimoji="1" lang="en-US" altLang="ja-JP" dirty="0">
                <a:cs typeface="Arial" panose="020B0604020202020204" pitchFamily="34" charset="0"/>
              </a:rPr>
              <a:t>ATLAS V2 </a:t>
            </a:r>
            <a:r>
              <a:rPr kumimoji="1" lang="ja-JP" altLang="en-US">
                <a:cs typeface="Arial" panose="020B0604020202020204" pitchFamily="34" charset="0"/>
              </a:rPr>
              <a:t>に含まれるログの種類</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2673497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C8ACB-DB22-C064-632E-10FBA6023FBA}"/>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367FDFDB-4E26-BFE4-CDAA-D63D0F76B5A8}"/>
              </a:ext>
            </a:extLst>
          </p:cNvPr>
          <p:cNvSpPr>
            <a:spLocks noGrp="1"/>
          </p:cNvSpPr>
          <p:nvPr>
            <p:ph type="title"/>
          </p:nvPr>
        </p:nvSpPr>
        <p:spPr>
          <a:xfrm>
            <a:off x="217755" y="13766"/>
            <a:ext cx="7886700" cy="626133"/>
          </a:xfrm>
        </p:spPr>
        <p:txBody>
          <a:bodyPr>
            <a:normAutofit/>
          </a:bodyPr>
          <a:lstStyle/>
          <a:p>
            <a:r>
              <a:rPr lang="en-US" dirty="0" err="1"/>
              <a:t>実験：使用するユースケース</a:t>
            </a:r>
            <a:endParaRPr lang="en-US" dirty="0"/>
          </a:p>
        </p:txBody>
      </p:sp>
      <p:sp>
        <p:nvSpPr>
          <p:cNvPr id="4" name="スライド番号プレースホルダー 3">
            <a:extLst>
              <a:ext uri="{FF2B5EF4-FFF2-40B4-BE49-F238E27FC236}">
                <a16:creationId xmlns:a16="http://schemas.microsoft.com/office/drawing/2014/main" id="{F4CDF61E-73DD-9DF0-112C-D3D4DC5393F1}"/>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18</a:t>
            </a:fld>
            <a:endParaRPr lang="en-US"/>
          </a:p>
        </p:txBody>
      </p:sp>
      <p:pic>
        <p:nvPicPr>
          <p:cNvPr id="7" name="図 6">
            <a:extLst>
              <a:ext uri="{FF2B5EF4-FFF2-40B4-BE49-F238E27FC236}">
                <a16:creationId xmlns:a16="http://schemas.microsoft.com/office/drawing/2014/main" id="{874DD82F-044C-D4C1-65CE-5DDBCC9C46D6}"/>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CE860B7A-54DB-961F-682E-F66890669A4A}"/>
              </a:ext>
            </a:extLst>
          </p:cNvPr>
          <p:cNvSpPr txBox="1"/>
          <p:nvPr/>
        </p:nvSpPr>
        <p:spPr>
          <a:xfrm>
            <a:off x="130669" y="651774"/>
            <a:ext cx="8843700" cy="2862322"/>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使用するユースケース</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選定条件</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en-US" altLang="ja-JP" dirty="0">
                <a:cs typeface="Arial" panose="020B0604020202020204" pitchFamily="34" charset="0"/>
              </a:rPr>
              <a:t>1.</a:t>
            </a:r>
            <a:r>
              <a:rPr kumimoji="1" lang="ja-JP" altLang="en-US">
                <a:cs typeface="Arial" panose="020B0604020202020204" pitchFamily="34" charset="0"/>
              </a:rPr>
              <a:t>実務でも調査対象になる攻撃</a:t>
            </a:r>
            <a:r>
              <a:rPr kumimoji="1" lang="en-US" altLang="ja-JP" dirty="0">
                <a:cs typeface="Arial" panose="020B0604020202020204" pitchFamily="34" charset="0"/>
              </a:rPr>
              <a:t>/</a:t>
            </a:r>
            <a:r>
              <a:rPr kumimoji="1" lang="ja-JP" altLang="en-US">
                <a:cs typeface="Arial" panose="020B0604020202020204" pitchFamily="34" charset="0"/>
              </a:rPr>
              <a:t>正常でも使用する正常コマンドや一般ツール関連のプロセス</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en-US" altLang="ja-JP" dirty="0">
                <a:cs typeface="Arial" panose="020B0604020202020204" pitchFamily="34" charset="0"/>
              </a:rPr>
              <a:t>2.ATLAS v2</a:t>
            </a:r>
            <a:r>
              <a:rPr kumimoji="1" lang="ja-JP" altLang="en-US">
                <a:cs typeface="Arial" panose="020B0604020202020204" pitchFamily="34" charset="0"/>
              </a:rPr>
              <a:t>内の</a:t>
            </a:r>
            <a:r>
              <a:rPr kumimoji="1" lang="en-US" altLang="ja-JP" dirty="0">
                <a:cs typeface="Arial" panose="020B0604020202020204" pitchFamily="34" charset="0"/>
              </a:rPr>
              <a:t>CBC</a:t>
            </a:r>
            <a:r>
              <a:rPr kumimoji="1" lang="ja-JP" altLang="en-US">
                <a:cs typeface="Arial" panose="020B0604020202020204" pitchFamily="34" charset="0"/>
              </a:rPr>
              <a:t>アラートで実際に偽陽性になっている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選定結果</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en-US" altLang="ja-JP" dirty="0">
                <a:cs typeface="Arial" panose="020B0604020202020204" pitchFamily="34" charset="0"/>
              </a:rPr>
              <a:t>1.MITRE ATT&amp;CK</a:t>
            </a:r>
            <a:r>
              <a:rPr kumimoji="1" lang="ja-JP" altLang="en-US">
                <a:cs typeface="Arial" panose="020B0604020202020204" pitchFamily="34" charset="0"/>
              </a:rPr>
              <a:t>、</a:t>
            </a:r>
            <a:r>
              <a:rPr kumimoji="1" lang="en-US" altLang="ja-JP" dirty="0">
                <a:cs typeface="Arial" panose="020B0604020202020204" pitchFamily="34" charset="0"/>
              </a:rPr>
              <a:t>LOLBA</a:t>
            </a:r>
            <a:r>
              <a:rPr kumimoji="1" lang="ja-JP" altLang="en-US">
                <a:cs typeface="Arial" panose="020B0604020202020204" pitchFamily="34" charset="0"/>
              </a:rPr>
              <a:t>を参考に</a:t>
            </a:r>
            <a:r>
              <a:rPr kumimoji="1" lang="en-US" altLang="ja-JP" dirty="0">
                <a:cs typeface="Arial" panose="020B0604020202020204" pitchFamily="34" charset="0"/>
              </a:rPr>
              <a:t>96</a:t>
            </a:r>
            <a:r>
              <a:rPr kumimoji="1" lang="ja-JP" altLang="en-US">
                <a:cs typeface="Arial" panose="020B0604020202020204" pitchFamily="34" charset="0"/>
              </a:rPr>
              <a:t>プロセスから</a:t>
            </a:r>
            <a:r>
              <a:rPr kumimoji="1" lang="en-US" altLang="ja-JP" dirty="0">
                <a:cs typeface="Arial" panose="020B0604020202020204" pitchFamily="34" charset="0"/>
              </a:rPr>
              <a:t>5</a:t>
            </a:r>
            <a:r>
              <a:rPr kumimoji="1" lang="ja-JP" altLang="en-US">
                <a:cs typeface="Arial" panose="020B0604020202020204" pitchFamily="34" charset="0"/>
              </a:rPr>
              <a:t>プロセス抽出</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en-US" altLang="ja-JP" dirty="0">
                <a:cs typeface="Arial" panose="020B0604020202020204" pitchFamily="34" charset="0"/>
              </a:rPr>
              <a:t>2.5</a:t>
            </a:r>
            <a:r>
              <a:rPr kumimoji="1" lang="ja-JP" altLang="en-US">
                <a:cs typeface="Arial" panose="020B0604020202020204" pitchFamily="34" charset="0"/>
              </a:rPr>
              <a:t>プロセスの中から、</a:t>
            </a:r>
            <a:r>
              <a:rPr kumimoji="1" lang="en-US" altLang="ja-JP" dirty="0">
                <a:cs typeface="Arial" panose="020B0604020202020204" pitchFamily="34" charset="0"/>
              </a:rPr>
              <a:t>CBC</a:t>
            </a:r>
            <a:r>
              <a:rPr kumimoji="1" lang="ja-JP" altLang="en-US">
                <a:cs typeface="Arial" panose="020B0604020202020204" pitchFamily="34" charset="0"/>
              </a:rPr>
              <a:t>アラートで偽陽性になっている時間を抽出</a:t>
            </a:r>
            <a:endParaRPr kumimoji="1" lang="en-US" altLang="ja-JP" dirty="0">
              <a:cs typeface="Arial" panose="020B0604020202020204" pitchFamily="34" charset="0"/>
            </a:endParaRPr>
          </a:p>
          <a:p>
            <a:pPr lvl="2"/>
            <a:r>
              <a:rPr kumimoji="1" lang="ja-JP" altLang="en-US">
                <a:cs typeface="Arial" panose="020B0604020202020204" pitchFamily="34" charset="0"/>
              </a:rPr>
              <a:t>→合計</a:t>
            </a:r>
            <a:r>
              <a:rPr kumimoji="1" lang="en-US" altLang="ja-JP" dirty="0">
                <a:cs typeface="Arial" panose="020B0604020202020204" pitchFamily="34" charset="0"/>
              </a:rPr>
              <a:t>27</a:t>
            </a:r>
            <a:r>
              <a:rPr kumimoji="1" lang="ja-JP" altLang="en-US">
                <a:cs typeface="Arial" panose="020B0604020202020204" pitchFamily="34" charset="0"/>
              </a:rPr>
              <a:t>個の起点ログを抽出</a:t>
            </a:r>
            <a:endParaRPr kumimoji="1" lang="en-US" altLang="ja-JP" dirty="0">
              <a:cs typeface="Arial" panose="020B0604020202020204" pitchFamily="34" charset="0"/>
            </a:endParaRPr>
          </a:p>
          <a:p>
            <a:pPr marL="1200150" lvl="2" indent="-285750">
              <a:buFont typeface="Arial" panose="020B0604020202020204" pitchFamily="34" charset="0"/>
              <a:buChar char="•"/>
            </a:pPr>
            <a:endParaRPr kumimoji="1" lang="en-US" altLang="ja-JP" dirty="0">
              <a:cs typeface="Arial" panose="020B0604020202020204" pitchFamily="34" charset="0"/>
            </a:endParaRPr>
          </a:p>
        </p:txBody>
      </p:sp>
      <p:graphicFrame>
        <p:nvGraphicFramePr>
          <p:cNvPr id="8" name="表 7">
            <a:extLst>
              <a:ext uri="{FF2B5EF4-FFF2-40B4-BE49-F238E27FC236}">
                <a16:creationId xmlns:a16="http://schemas.microsoft.com/office/drawing/2014/main" id="{F03249CD-D40C-3EC0-E8AE-AC3DEA7D6598}"/>
              </a:ext>
            </a:extLst>
          </p:cNvPr>
          <p:cNvGraphicFramePr>
            <a:graphicFrameLocks noGrp="1"/>
          </p:cNvGraphicFramePr>
          <p:nvPr>
            <p:extLst>
              <p:ext uri="{D42A27DB-BD31-4B8C-83A1-F6EECF244321}">
                <p14:modId xmlns:p14="http://schemas.microsoft.com/office/powerpoint/2010/main" val="166731068"/>
              </p:ext>
            </p:extLst>
          </p:nvPr>
        </p:nvGraphicFramePr>
        <p:xfrm>
          <a:off x="217755" y="3759336"/>
          <a:ext cx="8625945" cy="2974945"/>
        </p:xfrm>
        <a:graphic>
          <a:graphicData uri="http://schemas.openxmlformats.org/drawingml/2006/table">
            <a:tbl>
              <a:tblPr/>
              <a:tblGrid>
                <a:gridCol w="3211815">
                  <a:extLst>
                    <a:ext uri="{9D8B030D-6E8A-4147-A177-3AD203B41FA5}">
                      <a16:colId xmlns:a16="http://schemas.microsoft.com/office/drawing/2014/main" val="2164123712"/>
                    </a:ext>
                  </a:extLst>
                </a:gridCol>
                <a:gridCol w="623427">
                  <a:extLst>
                    <a:ext uri="{9D8B030D-6E8A-4147-A177-3AD203B41FA5}">
                      <a16:colId xmlns:a16="http://schemas.microsoft.com/office/drawing/2014/main" val="4003334929"/>
                    </a:ext>
                  </a:extLst>
                </a:gridCol>
                <a:gridCol w="2634217">
                  <a:extLst>
                    <a:ext uri="{9D8B030D-6E8A-4147-A177-3AD203B41FA5}">
                      <a16:colId xmlns:a16="http://schemas.microsoft.com/office/drawing/2014/main" val="1798987021"/>
                    </a:ext>
                  </a:extLst>
                </a:gridCol>
                <a:gridCol w="2156486">
                  <a:extLst>
                    <a:ext uri="{9D8B030D-6E8A-4147-A177-3AD203B41FA5}">
                      <a16:colId xmlns:a16="http://schemas.microsoft.com/office/drawing/2014/main" val="1023229571"/>
                    </a:ext>
                  </a:extLst>
                </a:gridCol>
              </a:tblGrid>
              <a:tr h="279000">
                <a:tc>
                  <a:txBody>
                    <a:bodyPr/>
                    <a:lstStyle/>
                    <a:p>
                      <a:pPr>
                        <a:buNone/>
                      </a:pPr>
                      <a:r>
                        <a:rPr lang="ja-JP" sz="1400" b="1"/>
                        <a:t>行動背景カテゴリ</a:t>
                      </a:r>
                      <a:endParaRPr lang="ja-JP" sz="1400"/>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件数</a:t>
                      </a:r>
                      <a:endParaRPr lang="ja-JP" sz="1400"/>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何をしている行動か</a:t>
                      </a:r>
                      <a:endParaRPr lang="ja-JP" sz="1400"/>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具体例</a:t>
                      </a:r>
                      <a:endParaRPr lang="ja-JP" sz="1400"/>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22570701"/>
                  </a:ext>
                </a:extLst>
              </a:tr>
              <a:tr h="490705">
                <a:tc>
                  <a:txBody>
                    <a:bodyPr/>
                    <a:lstStyle/>
                    <a:p>
                      <a:pPr>
                        <a:buNone/>
                      </a:pPr>
                      <a:r>
                        <a:rPr lang="ja-JP" sz="1400"/>
                        <a:t>Pythonで簡易Webサーバを立てる行動</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13</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python.exe で簡易HTTPサーバを起動している</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python -m SimpleHTTPServer</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5665289"/>
                  </a:ext>
                </a:extLst>
              </a:tr>
              <a:tr h="489240">
                <a:tc>
                  <a:txBody>
                    <a:bodyPr/>
                    <a:lstStyle/>
                    <a:p>
                      <a:pPr>
                        <a:buNone/>
                      </a:pPr>
                      <a:r>
                        <a:rPr lang="ja-JP" sz="1400"/>
                        <a:t>通信ログを取るためのバッチ実行</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8</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cmd.exe 経由でDNS/通信ログ収集用のバッチを動かしている</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start_dns_logs.bat、tshark.exe</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000743"/>
                  </a:ext>
                </a:extLst>
              </a:tr>
              <a:tr h="611679">
                <a:tc>
                  <a:txBody>
                    <a:bodyPr/>
                    <a:lstStyle/>
                    <a:p>
                      <a:pPr>
                        <a:buNone/>
                      </a:pPr>
                      <a:r>
                        <a:rPr lang="ja-JP" sz="1400"/>
                        <a:t>エディタからPythonスクリプトを実行する行動</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3</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Sublime Text から cmd.exe や python.exe が起動されている</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hello.py、helloworld.py</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5623181"/>
                  </a:ext>
                </a:extLst>
              </a:tr>
              <a:tr h="490705">
                <a:tc>
                  <a:txBody>
                    <a:bodyPr/>
                    <a:lstStyle/>
                    <a:p>
                      <a:pPr>
                        <a:buNone/>
                      </a:pPr>
                      <a:r>
                        <a:rPr lang="ja-JP" sz="1400"/>
                        <a:t>コマンド経由で補助ツールを実行する行動</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2</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cmd.exe /c で別のツールやバッチを呼び出している</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nvidia-smi.exe、run_http_server.bat</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4410577"/>
                  </a:ext>
                </a:extLst>
              </a:tr>
              <a:tr h="602814">
                <a:tc>
                  <a:txBody>
                    <a:bodyPr/>
                    <a:lstStyle/>
                    <a:p>
                      <a:pPr>
                        <a:buNone/>
                      </a:pPr>
                      <a:r>
                        <a:rPr lang="ja-JP" sz="1400"/>
                        <a:t>アプリが自動起動設定を登録する行動</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1</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Discord が reg.exe を使って Run key を追加・確認している</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HKCU\...\Run\Discord</a:t>
                      </a:r>
                    </a:p>
                  </a:txBody>
                  <a:tcPr marL="67822" marR="67822" marT="33911" marB="339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0853645"/>
                  </a:ext>
                </a:extLst>
              </a:tr>
            </a:tbl>
          </a:graphicData>
        </a:graphic>
      </p:graphicFrame>
      <p:sp>
        <p:nvSpPr>
          <p:cNvPr id="9" name="テキスト ボックス 8">
            <a:extLst>
              <a:ext uri="{FF2B5EF4-FFF2-40B4-BE49-F238E27FC236}">
                <a16:creationId xmlns:a16="http://schemas.microsoft.com/office/drawing/2014/main" id="{AD95F8A4-2BE8-BBE2-EEAF-1204404FB750}"/>
              </a:ext>
            </a:extLst>
          </p:cNvPr>
          <p:cNvSpPr txBox="1"/>
          <p:nvPr/>
        </p:nvSpPr>
        <p:spPr>
          <a:xfrm>
            <a:off x="217755" y="3429000"/>
            <a:ext cx="3089307" cy="369332"/>
          </a:xfrm>
          <a:prstGeom prst="rect">
            <a:avLst/>
          </a:prstGeom>
          <a:noFill/>
        </p:spPr>
        <p:txBody>
          <a:bodyPr wrap="none" rtlCol="0">
            <a:spAutoFit/>
          </a:bodyPr>
          <a:lstStyle/>
          <a:p>
            <a:pPr algn="l"/>
            <a:r>
              <a:rPr kumimoji="1" lang="en-US" altLang="ja-JP" dirty="0">
                <a:cs typeface="Arial" panose="020B0604020202020204" pitchFamily="34" charset="0"/>
              </a:rPr>
              <a:t>27</a:t>
            </a:r>
            <a:r>
              <a:rPr kumimoji="1" lang="ja-JP" altLang="en-US">
                <a:cs typeface="Arial" panose="020B0604020202020204" pitchFamily="34" charset="0"/>
              </a:rPr>
              <a:t>ユースケースの行動内訳</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156273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E01F-68D9-4866-7DB8-1D4B5E1C7082}"/>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3C0C6FEB-691A-CD0F-E8EE-24F8F82A4C36}"/>
              </a:ext>
            </a:extLst>
          </p:cNvPr>
          <p:cNvSpPr>
            <a:spLocks noGrp="1"/>
          </p:cNvSpPr>
          <p:nvPr>
            <p:ph type="title"/>
          </p:nvPr>
        </p:nvSpPr>
        <p:spPr>
          <a:xfrm>
            <a:off x="217755" y="13766"/>
            <a:ext cx="7886700" cy="626133"/>
          </a:xfrm>
        </p:spPr>
        <p:txBody>
          <a:bodyPr>
            <a:normAutofit/>
          </a:bodyPr>
          <a:lstStyle/>
          <a:p>
            <a:r>
              <a:rPr lang="en-US" dirty="0" err="1"/>
              <a:t>実験：実験設定</a:t>
            </a:r>
            <a:endParaRPr lang="en-US" dirty="0"/>
          </a:p>
        </p:txBody>
      </p:sp>
      <p:sp>
        <p:nvSpPr>
          <p:cNvPr id="4" name="スライド番号プレースホルダー 3">
            <a:extLst>
              <a:ext uri="{FF2B5EF4-FFF2-40B4-BE49-F238E27FC236}">
                <a16:creationId xmlns:a16="http://schemas.microsoft.com/office/drawing/2014/main" id="{3163B345-93D6-F152-E281-BAF5DAC0DA40}"/>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19</a:t>
            </a:fld>
            <a:endParaRPr lang="en-US"/>
          </a:p>
        </p:txBody>
      </p:sp>
      <p:pic>
        <p:nvPicPr>
          <p:cNvPr id="7" name="図 6">
            <a:extLst>
              <a:ext uri="{FF2B5EF4-FFF2-40B4-BE49-F238E27FC236}">
                <a16:creationId xmlns:a16="http://schemas.microsoft.com/office/drawing/2014/main" id="{351846A5-350E-1098-977D-496C40B50E47}"/>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E6B9B72F-AF57-DC97-57F7-E4FD544D3C9D}"/>
              </a:ext>
            </a:extLst>
          </p:cNvPr>
          <p:cNvSpPr txBox="1"/>
          <p:nvPr/>
        </p:nvSpPr>
        <p:spPr>
          <a:xfrm>
            <a:off x="217755" y="651774"/>
            <a:ext cx="8625945" cy="2031325"/>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目的</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段階的にセキュリティアラートの検知情報を抜くことで提案手法の行動復元能力を測る</a:t>
            </a:r>
            <a:endParaRPr kumimoji="1" lang="en-US" altLang="ja-JP" dirty="0">
              <a:cs typeface="Arial" panose="020B0604020202020204" pitchFamily="34" charset="0"/>
            </a:endParaRPr>
          </a:p>
          <a:p>
            <a:pPr marL="285750" indent="-285750">
              <a:buFont typeface="Arial" panose="020B0604020202020204" pitchFamily="34" charset="0"/>
              <a:buChar char="•"/>
            </a:pPr>
            <a:r>
              <a:rPr kumimoji="1" lang="ja-JP" altLang="en-US">
                <a:cs typeface="Arial" panose="020B0604020202020204" pitchFamily="34" charset="0"/>
              </a:rPr>
              <a:t>場面</a:t>
            </a:r>
            <a:r>
              <a:rPr kumimoji="1" lang="en-US" altLang="ja-JP" dirty="0">
                <a:cs typeface="Arial" panose="020B0604020202020204" pitchFamily="34" charset="0"/>
              </a:rPr>
              <a:t>	</a:t>
            </a:r>
          </a:p>
          <a:p>
            <a:pPr marL="742950" lvl="1" indent="-285750">
              <a:buFont typeface="Arial" panose="020B0604020202020204" pitchFamily="34" charset="0"/>
              <a:buChar char="•"/>
            </a:pPr>
            <a:r>
              <a:rPr kumimoji="1" lang="ja-JP" altLang="en-US">
                <a:cs typeface="Arial" panose="020B0604020202020204" pitchFamily="34" charset="0"/>
              </a:rPr>
              <a:t>ベースラインではアラート情報を入力とするが段階的に検知情報にアクセス出来なくすることでログの探索、統合能力を測る</a:t>
            </a:r>
            <a:endParaRPr kumimoji="1" lang="en-US" altLang="ja-JP" dirty="0">
              <a:cs typeface="Arial" panose="020B0604020202020204" pitchFamily="34" charset="0"/>
            </a:endParaRPr>
          </a:p>
          <a:p>
            <a:pPr marL="285750" indent="-285750">
              <a:buFont typeface="Arial" panose="020B0604020202020204" pitchFamily="34" charset="0"/>
              <a:buChar char="•"/>
            </a:pPr>
            <a:endParaRPr kumimoji="1" lang="ja-JP" altLang="en-US" dirty="0">
              <a:cs typeface="Arial" panose="020B0604020202020204" pitchFamily="34" charset="0"/>
            </a:endParaRPr>
          </a:p>
        </p:txBody>
      </p:sp>
      <p:graphicFrame>
        <p:nvGraphicFramePr>
          <p:cNvPr id="6" name="表 5">
            <a:extLst>
              <a:ext uri="{FF2B5EF4-FFF2-40B4-BE49-F238E27FC236}">
                <a16:creationId xmlns:a16="http://schemas.microsoft.com/office/drawing/2014/main" id="{23F9A430-94D6-5155-071F-EE818632F66A}"/>
              </a:ext>
            </a:extLst>
          </p:cNvPr>
          <p:cNvGraphicFramePr>
            <a:graphicFrameLocks noGrp="1"/>
          </p:cNvGraphicFramePr>
          <p:nvPr>
            <p:extLst>
              <p:ext uri="{D42A27DB-BD31-4B8C-83A1-F6EECF244321}">
                <p14:modId xmlns:p14="http://schemas.microsoft.com/office/powerpoint/2010/main" val="989502171"/>
              </p:ext>
            </p:extLst>
          </p:nvPr>
        </p:nvGraphicFramePr>
        <p:xfrm>
          <a:off x="300300" y="2417548"/>
          <a:ext cx="8630100" cy="4286836"/>
        </p:xfrm>
        <a:graphic>
          <a:graphicData uri="http://schemas.openxmlformats.org/drawingml/2006/table">
            <a:tbl>
              <a:tblPr/>
              <a:tblGrid>
                <a:gridCol w="2157525">
                  <a:extLst>
                    <a:ext uri="{9D8B030D-6E8A-4147-A177-3AD203B41FA5}">
                      <a16:colId xmlns:a16="http://schemas.microsoft.com/office/drawing/2014/main" val="89748353"/>
                    </a:ext>
                  </a:extLst>
                </a:gridCol>
                <a:gridCol w="1898478">
                  <a:extLst>
                    <a:ext uri="{9D8B030D-6E8A-4147-A177-3AD203B41FA5}">
                      <a16:colId xmlns:a16="http://schemas.microsoft.com/office/drawing/2014/main" val="2634167562"/>
                    </a:ext>
                  </a:extLst>
                </a:gridCol>
                <a:gridCol w="1795750">
                  <a:extLst>
                    <a:ext uri="{9D8B030D-6E8A-4147-A177-3AD203B41FA5}">
                      <a16:colId xmlns:a16="http://schemas.microsoft.com/office/drawing/2014/main" val="1670965153"/>
                    </a:ext>
                  </a:extLst>
                </a:gridCol>
                <a:gridCol w="2778347">
                  <a:extLst>
                    <a:ext uri="{9D8B030D-6E8A-4147-A177-3AD203B41FA5}">
                      <a16:colId xmlns:a16="http://schemas.microsoft.com/office/drawing/2014/main" val="1604711966"/>
                    </a:ext>
                  </a:extLst>
                </a:gridCol>
              </a:tblGrid>
              <a:tr h="536395">
                <a:tc>
                  <a:txBody>
                    <a:bodyPr/>
                    <a:lstStyle/>
                    <a:p>
                      <a:pPr>
                        <a:buNone/>
                      </a:pPr>
                      <a:r>
                        <a:rPr lang="ja-JP" sz="1400"/>
                        <a:t>ステージ</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a:t>見たいこと</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a:t>入力</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a:t>使用できるデータベース</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82467758"/>
                  </a:ext>
                </a:extLst>
              </a:tr>
              <a:tr h="1279534">
                <a:tc>
                  <a:txBody>
                    <a:bodyPr/>
                    <a:lstStyle/>
                    <a:p>
                      <a:pPr>
                        <a:buNone/>
                      </a:pPr>
                      <a:r>
                        <a:rPr lang="ja-JP" sz="1400"/>
                        <a:t>Stage 1：アラート起点</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アラート情報を手がかりに行動列を復元できるか</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host, process, timestamp</a:t>
                      </a:r>
                      <a:br>
                        <a:rPr lang="en-US" altLang="ja-JP" sz="1200" dirty="0"/>
                      </a:br>
                      <a:br>
                        <a:rPr lang="en-US" altLang="ja-JP" sz="1200" dirty="0"/>
                      </a:br>
                      <a:r>
                        <a:rPr lang="ja-JP" sz="1200"/>
                        <a:t>CBC alert </a:t>
                      </a:r>
                      <a:r>
                        <a:rPr lang="ja-JP" altLang="en-US" sz="1200"/>
                        <a:t>情報</a:t>
                      </a:r>
                      <a:endParaRPr lang="ja-JP" sz="1200"/>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CBC alert summary rows、CBC EDR/NGAV event Windows Security</a:t>
                      </a:r>
                      <a:br>
                        <a:rPr lang="en-US" altLang="ja-JP" sz="1200" dirty="0"/>
                      </a:br>
                      <a:r>
                        <a:rPr lang="ja-JP" sz="1200"/>
                        <a:t>Sysmon</a:t>
                      </a:r>
                      <a:br>
                        <a:rPr lang="en-US" altLang="ja-JP" sz="1200" dirty="0"/>
                      </a:br>
                      <a:r>
                        <a:rPr lang="ja-JP" sz="1200"/>
                        <a:t>DNS</a:t>
                      </a:r>
                      <a:br>
                        <a:rPr lang="en-US" altLang="ja-JP" sz="1200" dirty="0"/>
                      </a:br>
                      <a:r>
                        <a:rPr lang="ja-JP" sz="1200"/>
                        <a:t>Browser history</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0214912"/>
                  </a:ext>
                </a:extLst>
              </a:tr>
              <a:tr h="1133459">
                <a:tc>
                  <a:txBody>
                    <a:bodyPr/>
                    <a:lstStyle/>
                    <a:p>
                      <a:pPr>
                        <a:buNone/>
                      </a:pPr>
                      <a:r>
                        <a:rPr lang="ja-JP" sz="1400"/>
                        <a:t>Stage 2</a:t>
                      </a:r>
                      <a:r>
                        <a:rPr lang="ja-JP" altLang="en-US" sz="1400"/>
                        <a:t>：入力からアラート除外</a:t>
                      </a:r>
                      <a:endParaRPr lang="ja-JP" sz="1400"/>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最小入力から DB 内のアラートや telemetry に到達できるか</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host, process, timestamp </a:t>
                      </a:r>
                      <a:br>
                        <a:rPr lang="en-US" altLang="ja-JP" sz="1200" dirty="0"/>
                      </a:br>
                      <a:r>
                        <a:rPr lang="ja-JP" sz="1200" b="1">
                          <a:solidFill>
                            <a:srgbClr val="FF0000"/>
                          </a:solidFill>
                        </a:rPr>
                        <a:t>（</a:t>
                      </a:r>
                      <a:r>
                        <a:rPr lang="ja-JP" altLang="en-US" sz="1200" b="1">
                          <a:solidFill>
                            <a:srgbClr val="FF0000"/>
                          </a:solidFill>
                        </a:rPr>
                        <a:t>検知</a:t>
                      </a:r>
                      <a:r>
                        <a:rPr lang="ja-JP" sz="1200" b="1">
                          <a:solidFill>
                            <a:srgbClr val="FF0000"/>
                          </a:solidFill>
                        </a:rPr>
                        <a:t>情報なし）</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CBC alert summary rows、CBC EDR/NGAV event Windows Security</a:t>
                      </a:r>
                      <a:br>
                        <a:rPr lang="en-US" altLang="ja-JP" sz="1200" dirty="0"/>
                      </a:br>
                      <a:r>
                        <a:rPr lang="ja-JP" sz="1200"/>
                        <a:t>Sysmon</a:t>
                      </a:r>
                      <a:br>
                        <a:rPr lang="en-US" altLang="ja-JP" sz="1200" dirty="0"/>
                      </a:br>
                      <a:r>
                        <a:rPr lang="ja-JP" sz="1200"/>
                        <a:t>DNS</a:t>
                      </a:r>
                      <a:br>
                        <a:rPr lang="en-US" altLang="ja-JP" sz="1200" dirty="0"/>
                      </a:br>
                      <a:r>
                        <a:rPr lang="ja-JP" sz="1200"/>
                        <a:t>Browser history</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8411392"/>
                  </a:ext>
                </a:extLst>
              </a:tr>
              <a:tr h="1269896">
                <a:tc>
                  <a:txBody>
                    <a:bodyPr/>
                    <a:lstStyle/>
                    <a:p>
                      <a:pPr>
                        <a:buNone/>
                      </a:pPr>
                      <a:r>
                        <a:rPr lang="ja-JP" sz="1400"/>
                        <a:t>Stage 3：</a:t>
                      </a:r>
                      <a:r>
                        <a:rPr lang="ja-JP" altLang="en-US" sz="1400"/>
                        <a:t>データベースからアラート</a:t>
                      </a:r>
                      <a:r>
                        <a:rPr lang="ja-JP" sz="1400"/>
                        <a:t>除外</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低レベル telemetry のみから対象行動を探索・統合できるか</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host, process, timestamp</a:t>
                      </a:r>
                      <a:br>
                        <a:rPr lang="en-US" altLang="ja-JP" sz="1200" dirty="0"/>
                      </a:br>
                      <a:r>
                        <a:rPr lang="ja-JP" sz="1200"/>
                        <a:t> </a:t>
                      </a:r>
                      <a:r>
                        <a:rPr lang="ja-JP" sz="1200" b="1">
                          <a:solidFill>
                            <a:srgbClr val="FF0000"/>
                          </a:solidFill>
                        </a:rPr>
                        <a:t>（</a:t>
                      </a:r>
                      <a:r>
                        <a:rPr lang="ja-JP" altLang="en-US" sz="1200" b="1">
                          <a:solidFill>
                            <a:srgbClr val="FF0000"/>
                          </a:solidFill>
                        </a:rPr>
                        <a:t>検知</a:t>
                      </a:r>
                      <a:r>
                        <a:rPr lang="ja-JP" sz="1200" b="1">
                          <a:solidFill>
                            <a:srgbClr val="FF0000"/>
                          </a:solidFill>
                        </a:rPr>
                        <a:t>情報なし）</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CBC EDR/NGAV event Windows Security</a:t>
                      </a:r>
                      <a:br>
                        <a:rPr lang="en-US" altLang="ja-JP" sz="1200" dirty="0"/>
                      </a:br>
                      <a:r>
                        <a:rPr lang="ja-JP" sz="1200"/>
                        <a:t>Sysmon</a:t>
                      </a:r>
                      <a:br>
                        <a:rPr lang="en-US" altLang="ja-JP" sz="1200" dirty="0"/>
                      </a:br>
                      <a:r>
                        <a:rPr lang="ja-JP" sz="1200"/>
                        <a:t>DNS</a:t>
                      </a:r>
                      <a:br>
                        <a:rPr lang="en-US" altLang="ja-JP" sz="1200" dirty="0"/>
                      </a:br>
                      <a:r>
                        <a:rPr lang="ja-JP" sz="1200"/>
                        <a:t>Browser history</a:t>
                      </a:r>
                      <a:br>
                        <a:rPr lang="en-US" altLang="ja-JP" sz="1200" dirty="0"/>
                      </a:br>
                      <a:r>
                        <a:rPr lang="ja-JP" sz="1200" b="1">
                          <a:solidFill>
                            <a:srgbClr val="FF0000"/>
                          </a:solidFill>
                        </a:rPr>
                        <a:t>（CBC alert summary r</a:t>
                      </a:r>
                      <a:r>
                        <a:rPr lang="en-US" altLang="ja-JP" sz="1200" b="1" dirty="0">
                          <a:solidFill>
                            <a:srgbClr val="FF0000"/>
                          </a:solidFill>
                        </a:rPr>
                        <a:t>ow:</a:t>
                      </a:r>
                    </a:p>
                    <a:p>
                      <a:pPr>
                        <a:buNone/>
                      </a:pPr>
                      <a:r>
                        <a:rPr lang="ja-JP" altLang="en-US" sz="1200" b="1">
                          <a:solidFill>
                            <a:srgbClr val="FF0000"/>
                          </a:solidFill>
                        </a:rPr>
                        <a:t>検知情報のデータベース</a:t>
                      </a:r>
                      <a:r>
                        <a:rPr lang="ja-JP" sz="1200" b="1">
                          <a:solidFill>
                            <a:srgbClr val="FF0000"/>
                          </a:solidFill>
                        </a:rPr>
                        <a:t> は除外）</a:t>
                      </a:r>
                    </a:p>
                  </a:txBody>
                  <a:tcPr marL="57288" marR="57288" marT="28644" marB="286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765655"/>
                  </a:ext>
                </a:extLst>
              </a:tr>
            </a:tbl>
          </a:graphicData>
        </a:graphic>
      </p:graphicFrame>
    </p:spTree>
    <p:extLst>
      <p:ext uri="{BB962C8B-B14F-4D97-AF65-F5344CB8AC3E}">
        <p14:creationId xmlns:p14="http://schemas.microsoft.com/office/powerpoint/2010/main" val="3345078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30C88-928C-755D-02C1-CD17A3B25C15}"/>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4235ECF-FA92-817B-074E-EF0F5D4D18AD}"/>
              </a:ext>
            </a:extLst>
          </p:cNvPr>
          <p:cNvSpPr>
            <a:spLocks noGrp="1"/>
          </p:cNvSpPr>
          <p:nvPr>
            <p:ph type="title"/>
          </p:nvPr>
        </p:nvSpPr>
        <p:spPr>
          <a:xfrm>
            <a:off x="217755" y="13766"/>
            <a:ext cx="7886700" cy="626133"/>
          </a:xfrm>
        </p:spPr>
        <p:txBody>
          <a:bodyPr>
            <a:normAutofit/>
          </a:bodyPr>
          <a:lstStyle/>
          <a:p>
            <a:r>
              <a:rPr lang="en-US" dirty="0" err="1"/>
              <a:t>実験：評価指標</a:t>
            </a:r>
            <a:endParaRPr lang="en-US" dirty="0"/>
          </a:p>
        </p:txBody>
      </p:sp>
      <p:sp>
        <p:nvSpPr>
          <p:cNvPr id="4" name="スライド番号プレースホルダー 3">
            <a:extLst>
              <a:ext uri="{FF2B5EF4-FFF2-40B4-BE49-F238E27FC236}">
                <a16:creationId xmlns:a16="http://schemas.microsoft.com/office/drawing/2014/main" id="{4BDD7492-6AAF-7FF5-CF1B-5A76998ED476}"/>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20</a:t>
            </a:fld>
            <a:endParaRPr lang="en-US"/>
          </a:p>
        </p:txBody>
      </p:sp>
      <p:pic>
        <p:nvPicPr>
          <p:cNvPr id="7" name="図 6">
            <a:extLst>
              <a:ext uri="{FF2B5EF4-FFF2-40B4-BE49-F238E27FC236}">
                <a16:creationId xmlns:a16="http://schemas.microsoft.com/office/drawing/2014/main" id="{1B50CE7C-D661-2586-4974-620F7C970326}"/>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63080C3F-304E-D1B9-03B8-D48A7224D9DD}"/>
              </a:ext>
            </a:extLst>
          </p:cNvPr>
          <p:cNvSpPr txBox="1"/>
          <p:nvPr/>
        </p:nvSpPr>
        <p:spPr>
          <a:xfrm>
            <a:off x="217755" y="651774"/>
            <a:ext cx="8215711" cy="3139321"/>
          </a:xfrm>
          <a:prstGeom prst="rect">
            <a:avLst/>
          </a:prstGeom>
          <a:noFill/>
        </p:spPr>
        <p:txBody>
          <a:bodyPr wrap="non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評価</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行動列、行動ステップの</a:t>
            </a:r>
            <a:r>
              <a:rPr kumimoji="1" lang="en-US" altLang="ja-JP" dirty="0">
                <a:cs typeface="Arial" panose="020B0604020202020204" pitchFamily="34" charset="0"/>
              </a:rPr>
              <a:t>2</a:t>
            </a:r>
            <a:r>
              <a:rPr kumimoji="1" lang="ja-JP" altLang="en-US">
                <a:cs typeface="Arial" panose="020B0604020202020204" pitchFamily="34" charset="0"/>
              </a:rPr>
              <a:t>軸で行動の復元能力を測る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行動ステップの評価</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ja-JP" altLang="en-US">
                <a:cs typeface="Arial" panose="020B0604020202020204" pitchFamily="34" charset="0"/>
              </a:rPr>
              <a:t>主体、対象、行動、コマンドライン、証跡の</a:t>
            </a:r>
            <a:r>
              <a:rPr kumimoji="1" lang="en-US" altLang="ja-JP" dirty="0">
                <a:cs typeface="Arial" panose="020B0604020202020204" pitchFamily="34" charset="0"/>
              </a:rPr>
              <a:t>5</a:t>
            </a:r>
            <a:r>
              <a:rPr kumimoji="1" lang="ja-JP" altLang="en-US">
                <a:cs typeface="Arial" panose="020B0604020202020204" pitchFamily="34" charset="0"/>
              </a:rPr>
              <a:t>要素をそれぞれ評価</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ja-JP" altLang="en-US">
                <a:cs typeface="Arial" panose="020B0604020202020204" pitchFamily="34" charset="0"/>
              </a:rPr>
              <a:t>再現率と適合率で測る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行動列の評価</a:t>
            </a:r>
            <a:endParaRPr kumimoji="1" lang="en-US" altLang="ja-JP" dirty="0">
              <a:cs typeface="Arial" panose="020B0604020202020204" pitchFamily="34" charset="0"/>
            </a:endParaRPr>
          </a:p>
          <a:p>
            <a:pPr marL="1200150" lvl="2" indent="-285750">
              <a:buFont typeface="Arial" panose="020B0604020202020204" pitchFamily="34" charset="0"/>
              <a:buChar char="•"/>
            </a:pPr>
            <a:r>
              <a:rPr kumimoji="1" lang="ja-JP" altLang="en-US">
                <a:cs typeface="Arial" panose="020B0604020202020204" pitchFamily="34" charset="0"/>
              </a:rPr>
              <a:t>順序関係を</a:t>
            </a:r>
            <a:r>
              <a:rPr kumimoji="1" lang="en-US" altLang="ja-JP" dirty="0">
                <a:cs typeface="Arial" panose="020B0604020202020204" pitchFamily="34" charset="0"/>
              </a:rPr>
              <a:t>2</a:t>
            </a:r>
            <a:r>
              <a:rPr kumimoji="1" lang="ja-JP" altLang="en-US">
                <a:cs typeface="Arial" panose="020B0604020202020204" pitchFamily="34" charset="0"/>
              </a:rPr>
              <a:t>つセットで照らし合わせ評価する</a:t>
            </a:r>
            <a:endParaRPr kumimoji="1" lang="en-US" altLang="ja-JP" dirty="0">
              <a:cs typeface="Arial" panose="020B0604020202020204" pitchFamily="34" charset="0"/>
            </a:endParaRPr>
          </a:p>
          <a:p>
            <a:pPr marL="1657350" lvl="3" indent="-285750">
              <a:buFont typeface="Arial" panose="020B0604020202020204" pitchFamily="34" charset="0"/>
              <a:buChar char="•"/>
            </a:pPr>
            <a:r>
              <a:rPr kumimoji="1" lang="en-US" altLang="ja-JP" dirty="0">
                <a:cs typeface="Arial" panose="020B0604020202020204" pitchFamily="34" charset="0"/>
              </a:rPr>
              <a:t>Ex</a:t>
            </a:r>
            <a:r>
              <a:rPr kumimoji="1" lang="ja-JP" altLang="en-US">
                <a:cs typeface="Arial" panose="020B0604020202020204" pitchFamily="34" charset="0"/>
              </a:rPr>
              <a:t>　</a:t>
            </a:r>
            <a:r>
              <a:rPr kumimoji="1" lang="en-US" altLang="ja-JP" dirty="0">
                <a:cs typeface="Arial" panose="020B0604020202020204" pitchFamily="34" charset="0"/>
              </a:rPr>
              <a:t>A</a:t>
            </a:r>
            <a:r>
              <a:rPr kumimoji="1" lang="ja-JP" altLang="en-US">
                <a:cs typeface="Arial" panose="020B0604020202020204" pitchFamily="34" charset="0"/>
              </a:rPr>
              <a:t>→</a:t>
            </a:r>
            <a:r>
              <a:rPr kumimoji="1" lang="en-US" altLang="ja-JP" dirty="0">
                <a:cs typeface="Arial" panose="020B0604020202020204" pitchFamily="34" charset="0"/>
              </a:rPr>
              <a:t>B</a:t>
            </a:r>
            <a:r>
              <a:rPr kumimoji="1" lang="ja-JP" altLang="en-US">
                <a:cs typeface="Arial" panose="020B0604020202020204" pitchFamily="34" charset="0"/>
              </a:rPr>
              <a:t>→</a:t>
            </a:r>
            <a:r>
              <a:rPr kumimoji="1" lang="en-US" altLang="ja-JP" dirty="0">
                <a:cs typeface="Arial" panose="020B0604020202020204" pitchFamily="34" charset="0"/>
              </a:rPr>
              <a:t>C</a:t>
            </a:r>
            <a:r>
              <a:rPr kumimoji="1" lang="ja-JP" altLang="en-US">
                <a:cs typeface="Arial" panose="020B0604020202020204" pitchFamily="34" charset="0"/>
              </a:rPr>
              <a:t>の時</a:t>
            </a:r>
            <a:endParaRPr kumimoji="1" lang="en-US" altLang="ja-JP" dirty="0">
              <a:cs typeface="Arial" panose="020B0604020202020204" pitchFamily="34" charset="0"/>
            </a:endParaRPr>
          </a:p>
          <a:p>
            <a:pPr marL="1657350" lvl="3" indent="-285750">
              <a:buFont typeface="Arial" panose="020B0604020202020204" pitchFamily="34" charset="0"/>
              <a:buChar char="•"/>
            </a:pPr>
            <a:r>
              <a:rPr kumimoji="1" lang="en-US" altLang="ja-JP" dirty="0">
                <a:cs typeface="Arial" panose="020B0604020202020204" pitchFamily="34" charset="0"/>
              </a:rPr>
              <a:t>A</a:t>
            </a:r>
            <a:r>
              <a:rPr kumimoji="1" lang="ja-JP" altLang="en-US">
                <a:cs typeface="Arial" panose="020B0604020202020204" pitchFamily="34" charset="0"/>
              </a:rPr>
              <a:t>→</a:t>
            </a:r>
            <a:r>
              <a:rPr kumimoji="1" lang="en-US" altLang="ja-JP" dirty="0">
                <a:cs typeface="Arial" panose="020B0604020202020204" pitchFamily="34" charset="0"/>
              </a:rPr>
              <a:t>B</a:t>
            </a:r>
            <a:r>
              <a:rPr kumimoji="1" lang="ja-JP" altLang="en-US">
                <a:cs typeface="Arial" panose="020B0604020202020204" pitchFamily="34" charset="0"/>
              </a:rPr>
              <a:t>と</a:t>
            </a:r>
            <a:r>
              <a:rPr kumimoji="1" lang="en-US" altLang="ja-JP" dirty="0">
                <a:cs typeface="Arial" panose="020B0604020202020204" pitchFamily="34" charset="0"/>
              </a:rPr>
              <a:t>B</a:t>
            </a:r>
            <a:r>
              <a:rPr kumimoji="1" lang="ja-JP" altLang="en-US">
                <a:cs typeface="Arial" panose="020B0604020202020204" pitchFamily="34" charset="0"/>
              </a:rPr>
              <a:t>→</a:t>
            </a:r>
            <a:r>
              <a:rPr kumimoji="1" lang="en-US" altLang="ja-JP" dirty="0">
                <a:cs typeface="Arial" panose="020B0604020202020204" pitchFamily="34" charset="0"/>
              </a:rPr>
              <a:t>C</a:t>
            </a:r>
            <a:r>
              <a:rPr kumimoji="1" lang="ja-JP" altLang="en-US">
                <a:cs typeface="Arial" panose="020B0604020202020204" pitchFamily="34" charset="0"/>
              </a:rPr>
              <a:t>が一致するかを評価</a:t>
            </a:r>
            <a:endParaRPr kumimoji="1" lang="en-US" altLang="ja-JP" dirty="0">
              <a:cs typeface="Arial" panose="020B0604020202020204" pitchFamily="34" charset="0"/>
            </a:endParaRPr>
          </a:p>
          <a:p>
            <a:pPr marL="2114550" lvl="4" indent="-285750">
              <a:buFont typeface="Arial" panose="020B0604020202020204" pitchFamily="34" charset="0"/>
              <a:buChar char="•"/>
            </a:pPr>
            <a:endParaRPr kumimoji="1" lang="en-US" altLang="ja-JP" dirty="0">
              <a:cs typeface="Arial" panose="020B0604020202020204" pitchFamily="34" charset="0"/>
            </a:endParaRPr>
          </a:p>
          <a:p>
            <a:pPr marL="285750" indent="-285750">
              <a:buFont typeface="Arial" panose="020B0604020202020204" pitchFamily="34" charset="0"/>
              <a:buChar char="•"/>
            </a:pPr>
            <a:endParaRPr kumimoji="1" lang="ja-JP" altLang="en-US" dirty="0">
              <a:cs typeface="Arial" panose="020B0604020202020204" pitchFamily="34" charset="0"/>
            </a:endParaRPr>
          </a:p>
        </p:txBody>
      </p:sp>
      <p:graphicFrame>
        <p:nvGraphicFramePr>
          <p:cNvPr id="3" name="表 2">
            <a:extLst>
              <a:ext uri="{FF2B5EF4-FFF2-40B4-BE49-F238E27FC236}">
                <a16:creationId xmlns:a16="http://schemas.microsoft.com/office/drawing/2014/main" id="{1ADEF2A0-B214-5605-8903-9C2DD5E29214}"/>
              </a:ext>
            </a:extLst>
          </p:cNvPr>
          <p:cNvGraphicFramePr>
            <a:graphicFrameLocks noGrp="1"/>
          </p:cNvGraphicFramePr>
          <p:nvPr>
            <p:extLst>
              <p:ext uri="{D42A27DB-BD31-4B8C-83A1-F6EECF244321}">
                <p14:modId xmlns:p14="http://schemas.microsoft.com/office/powerpoint/2010/main" val="4229653179"/>
              </p:ext>
            </p:extLst>
          </p:nvPr>
        </p:nvGraphicFramePr>
        <p:xfrm>
          <a:off x="370135" y="3254829"/>
          <a:ext cx="8403730" cy="3429000"/>
        </p:xfrm>
        <a:graphic>
          <a:graphicData uri="http://schemas.openxmlformats.org/drawingml/2006/table">
            <a:tbl>
              <a:tblPr/>
              <a:tblGrid>
                <a:gridCol w="2198873">
                  <a:extLst>
                    <a:ext uri="{9D8B030D-6E8A-4147-A177-3AD203B41FA5}">
                      <a16:colId xmlns:a16="http://schemas.microsoft.com/office/drawing/2014/main" val="2999518052"/>
                    </a:ext>
                  </a:extLst>
                </a:gridCol>
                <a:gridCol w="1436914">
                  <a:extLst>
                    <a:ext uri="{9D8B030D-6E8A-4147-A177-3AD203B41FA5}">
                      <a16:colId xmlns:a16="http://schemas.microsoft.com/office/drawing/2014/main" val="1415734275"/>
                    </a:ext>
                  </a:extLst>
                </a:gridCol>
                <a:gridCol w="4767943">
                  <a:extLst>
                    <a:ext uri="{9D8B030D-6E8A-4147-A177-3AD203B41FA5}">
                      <a16:colId xmlns:a16="http://schemas.microsoft.com/office/drawing/2014/main" val="410455381"/>
                    </a:ext>
                  </a:extLst>
                </a:gridCol>
              </a:tblGrid>
              <a:tr h="517833">
                <a:tc>
                  <a:txBody>
                    <a:bodyPr/>
                    <a:lstStyle/>
                    <a:p>
                      <a:pPr>
                        <a:buNone/>
                      </a:pPr>
                      <a:r>
                        <a:rPr lang="ja-JP" sz="1800"/>
                        <a:t>評価レベル</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指標</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正解データで定義するもの</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09005798"/>
                  </a:ext>
                </a:extLst>
              </a:tr>
              <a:tr h="1016768">
                <a:tc>
                  <a:txBody>
                    <a:bodyPr/>
                    <a:lstStyle/>
                    <a:p>
                      <a:pPr>
                        <a:buNone/>
                      </a:pPr>
                      <a:r>
                        <a:rPr lang="ja-JP" sz="1800"/>
                        <a:t>行動ステップ</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再現率</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正解行動ステップの必須要素: </a:t>
                      </a:r>
                      <a:r>
                        <a:rPr lang="ja-JP" sz="1800">
                          <a:latin typeface="Courier New" panose="02070309020205020404" pitchFamily="49" charset="0"/>
                        </a:rPr>
                        <a:t>主体</a:t>
                      </a:r>
                      <a:r>
                        <a:rPr lang="ja-JP" sz="1800"/>
                        <a:t>, </a:t>
                      </a:r>
                      <a:r>
                        <a:rPr lang="ja-JP" sz="1800">
                          <a:latin typeface="Courier New" panose="02070309020205020404" pitchFamily="49" charset="0"/>
                        </a:rPr>
                        <a:t>行動</a:t>
                      </a:r>
                      <a:r>
                        <a:rPr lang="ja-JP" sz="1800"/>
                        <a:t>, </a:t>
                      </a:r>
                      <a:r>
                        <a:rPr lang="ja-JP" sz="1800">
                          <a:latin typeface="Courier New" panose="02070309020205020404" pitchFamily="49" charset="0"/>
                        </a:rPr>
                        <a:t>対象</a:t>
                      </a:r>
                      <a:r>
                        <a:rPr lang="ja-JP" sz="1800"/>
                        <a:t>, </a:t>
                      </a:r>
                      <a:r>
                        <a:rPr lang="ja-JP" sz="1800">
                          <a:latin typeface="Courier New" panose="02070309020205020404" pitchFamily="49" charset="0"/>
                        </a:rPr>
                        <a:t>コマンドライン</a:t>
                      </a:r>
                      <a:r>
                        <a:rPr lang="ja-JP" sz="1800"/>
                        <a:t>, </a:t>
                      </a:r>
                      <a:r>
                        <a:rPr lang="ja-JP" sz="1800">
                          <a:latin typeface="Courier New" panose="02070309020205020404" pitchFamily="49" charset="0"/>
                        </a:rPr>
                        <a:t>証跡</a:t>
                      </a:r>
                      <a:endParaRPr lang="ja-JP" sz="1800"/>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6828003"/>
                  </a:ext>
                </a:extLst>
              </a:tr>
              <a:tr h="1016768">
                <a:tc>
                  <a:txBody>
                    <a:bodyPr/>
                    <a:lstStyle/>
                    <a:p>
                      <a:pPr>
                        <a:buNone/>
                      </a:pPr>
                      <a:r>
                        <a:rPr lang="ja-JP" sz="1800"/>
                        <a:t>行動ステップ</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適合率</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正解行動ステップの必須要素: </a:t>
                      </a:r>
                      <a:r>
                        <a:rPr lang="ja-JP" sz="1800">
                          <a:latin typeface="Courier New" panose="02070309020205020404" pitchFamily="49" charset="0"/>
                        </a:rPr>
                        <a:t>主体</a:t>
                      </a:r>
                      <a:r>
                        <a:rPr lang="ja-JP" sz="1800"/>
                        <a:t>, </a:t>
                      </a:r>
                      <a:r>
                        <a:rPr lang="ja-JP" sz="1800">
                          <a:latin typeface="Courier New" panose="02070309020205020404" pitchFamily="49" charset="0"/>
                        </a:rPr>
                        <a:t>行動</a:t>
                      </a:r>
                      <a:r>
                        <a:rPr lang="ja-JP" sz="1800"/>
                        <a:t>, </a:t>
                      </a:r>
                      <a:r>
                        <a:rPr lang="ja-JP" sz="1800">
                          <a:latin typeface="Courier New" panose="02070309020205020404" pitchFamily="49" charset="0"/>
                        </a:rPr>
                        <a:t>対象</a:t>
                      </a:r>
                      <a:r>
                        <a:rPr lang="ja-JP" sz="1800"/>
                        <a:t>, </a:t>
                      </a:r>
                      <a:r>
                        <a:rPr lang="ja-JP" sz="1800">
                          <a:latin typeface="Courier New" panose="02070309020205020404" pitchFamily="49" charset="0"/>
                        </a:rPr>
                        <a:t>コマンドライン</a:t>
                      </a:r>
                      <a:r>
                        <a:rPr lang="ja-JP" sz="1800"/>
                        <a:t>, </a:t>
                      </a:r>
                      <a:r>
                        <a:rPr lang="ja-JP" sz="1800">
                          <a:latin typeface="Courier New" panose="02070309020205020404" pitchFamily="49" charset="0"/>
                        </a:rPr>
                        <a:t>証跡</a:t>
                      </a:r>
                      <a:endParaRPr lang="ja-JP" sz="1800"/>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6578088"/>
                  </a:ext>
                </a:extLst>
              </a:tr>
              <a:tr h="877631">
                <a:tc>
                  <a:txBody>
                    <a:bodyPr/>
                    <a:lstStyle/>
                    <a:p>
                      <a:pPr>
                        <a:buNone/>
                      </a:pPr>
                      <a:r>
                        <a:rPr lang="ja-JP" sz="1800"/>
                        <a:t>行動列</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800"/>
                        <a:t>順序一致率</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正解行動ステップ間の前後関係</a:t>
                      </a:r>
                    </a:p>
                  </a:txBody>
                  <a:tcPr marL="51280" marR="51280" marT="25640" marB="256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538112"/>
                  </a:ext>
                </a:extLst>
              </a:tr>
            </a:tbl>
          </a:graphicData>
        </a:graphic>
      </p:graphicFrame>
    </p:spTree>
    <p:extLst>
      <p:ext uri="{BB962C8B-B14F-4D97-AF65-F5344CB8AC3E}">
        <p14:creationId xmlns:p14="http://schemas.microsoft.com/office/powerpoint/2010/main" val="928110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7950F-18CE-4D95-BDE6-383629C6B1B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9CD2820-44EF-8FB8-9A77-92D58A10E670}"/>
              </a:ext>
            </a:extLst>
          </p:cNvPr>
          <p:cNvSpPr>
            <a:spLocks noGrp="1"/>
          </p:cNvSpPr>
          <p:nvPr>
            <p:ph type="title"/>
          </p:nvPr>
        </p:nvSpPr>
        <p:spPr>
          <a:xfrm>
            <a:off x="217755" y="13766"/>
            <a:ext cx="7886700" cy="626133"/>
          </a:xfrm>
        </p:spPr>
        <p:txBody>
          <a:bodyPr>
            <a:normAutofit/>
          </a:bodyPr>
          <a:lstStyle/>
          <a:p>
            <a:r>
              <a:rPr lang="en-US" dirty="0"/>
              <a:t>プレ実験：1ユースケースのみ</a:t>
            </a:r>
          </a:p>
        </p:txBody>
      </p:sp>
      <p:sp>
        <p:nvSpPr>
          <p:cNvPr id="4" name="スライド番号プレースホルダー 3">
            <a:extLst>
              <a:ext uri="{FF2B5EF4-FFF2-40B4-BE49-F238E27FC236}">
                <a16:creationId xmlns:a16="http://schemas.microsoft.com/office/drawing/2014/main" id="{B4FA3D27-1804-073B-E6DE-D040DB46D3C5}"/>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21</a:t>
            </a:fld>
            <a:endParaRPr lang="en-US"/>
          </a:p>
        </p:txBody>
      </p:sp>
      <p:pic>
        <p:nvPicPr>
          <p:cNvPr id="7" name="図 6">
            <a:extLst>
              <a:ext uri="{FF2B5EF4-FFF2-40B4-BE49-F238E27FC236}">
                <a16:creationId xmlns:a16="http://schemas.microsoft.com/office/drawing/2014/main" id="{11173316-4215-C065-858C-12274793FE39}"/>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B954E0DB-DD17-70D0-A961-E7B531D8B55B}"/>
              </a:ext>
            </a:extLst>
          </p:cNvPr>
          <p:cNvSpPr txBox="1"/>
          <p:nvPr/>
        </p:nvSpPr>
        <p:spPr>
          <a:xfrm>
            <a:off x="217755" y="651774"/>
            <a:ext cx="7476919" cy="923330"/>
          </a:xfrm>
          <a:prstGeom prst="rect">
            <a:avLst/>
          </a:prstGeom>
          <a:noFill/>
        </p:spPr>
        <p:txBody>
          <a:bodyPr wrap="non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プレ実験として</a:t>
            </a:r>
            <a:r>
              <a:rPr kumimoji="1" lang="en-US" altLang="ja-JP" dirty="0">
                <a:cs typeface="Arial" panose="020B0604020202020204" pitchFamily="34" charset="0"/>
              </a:rPr>
              <a:t>Discord</a:t>
            </a:r>
            <a:r>
              <a:rPr kumimoji="1" lang="ja-JP" altLang="en-US">
                <a:cs typeface="Arial" panose="020B0604020202020204" pitchFamily="34" charset="0"/>
              </a:rPr>
              <a:t>のインストール時のプロセス行動を評価する</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en-US" altLang="ja-JP" dirty="0">
                <a:cs typeface="Arial" panose="020B0604020202020204" pitchFamily="34" charset="0"/>
              </a:rPr>
              <a:t>3</a:t>
            </a:r>
            <a:r>
              <a:rPr kumimoji="1" lang="ja-JP" altLang="en-US">
                <a:cs typeface="Arial" panose="020B0604020202020204" pitchFamily="34" charset="0"/>
              </a:rPr>
              <a:t>段階の実験場面と</a:t>
            </a:r>
            <a:r>
              <a:rPr kumimoji="1" lang="en-US" altLang="ja-JP" dirty="0">
                <a:cs typeface="Arial" panose="020B0604020202020204" pitchFamily="34" charset="0"/>
              </a:rPr>
              <a:t>GPT4.1-mini</a:t>
            </a:r>
            <a:r>
              <a:rPr kumimoji="1" lang="ja-JP" altLang="en-US">
                <a:cs typeface="Arial" panose="020B0604020202020204" pitchFamily="34" charset="0"/>
              </a:rPr>
              <a:t>と</a:t>
            </a:r>
            <a:r>
              <a:rPr kumimoji="1" lang="en-US" altLang="ja-JP" dirty="0">
                <a:cs typeface="Arial" panose="020B0604020202020204" pitchFamily="34" charset="0"/>
              </a:rPr>
              <a:t>GPT5.4-mini</a:t>
            </a:r>
            <a:r>
              <a:rPr kumimoji="1" lang="ja-JP" altLang="en-US">
                <a:cs typeface="Arial" panose="020B0604020202020204" pitchFamily="34" charset="0"/>
              </a:rPr>
              <a:t>で評価する</a:t>
            </a:r>
            <a:endParaRPr kumimoji="1" lang="en-US" altLang="ja-JP" dirty="0">
              <a:cs typeface="Arial" panose="020B0604020202020204" pitchFamily="34" charset="0"/>
            </a:endParaRPr>
          </a:p>
          <a:p>
            <a:pPr marL="285750" indent="-285750">
              <a:buFont typeface="Arial" panose="020B0604020202020204" pitchFamily="34" charset="0"/>
              <a:buChar char="•"/>
            </a:pPr>
            <a:endParaRPr kumimoji="1" lang="ja-JP" altLang="en-US" dirty="0">
              <a:cs typeface="Arial" panose="020B0604020202020204" pitchFamily="34" charset="0"/>
            </a:endParaRPr>
          </a:p>
        </p:txBody>
      </p:sp>
      <p:graphicFrame>
        <p:nvGraphicFramePr>
          <p:cNvPr id="6" name="表 5">
            <a:extLst>
              <a:ext uri="{FF2B5EF4-FFF2-40B4-BE49-F238E27FC236}">
                <a16:creationId xmlns:a16="http://schemas.microsoft.com/office/drawing/2014/main" id="{9C650AD3-E647-9830-C44D-5C7B4D70CD36}"/>
              </a:ext>
            </a:extLst>
          </p:cNvPr>
          <p:cNvGraphicFramePr>
            <a:graphicFrameLocks noGrp="1"/>
          </p:cNvGraphicFramePr>
          <p:nvPr>
            <p:extLst>
              <p:ext uri="{D42A27DB-BD31-4B8C-83A1-F6EECF244321}">
                <p14:modId xmlns:p14="http://schemas.microsoft.com/office/powerpoint/2010/main" val="2125549528"/>
              </p:ext>
            </p:extLst>
          </p:nvPr>
        </p:nvGraphicFramePr>
        <p:xfrm>
          <a:off x="217754" y="2764971"/>
          <a:ext cx="8625948" cy="3806379"/>
        </p:xfrm>
        <a:graphic>
          <a:graphicData uri="http://schemas.openxmlformats.org/drawingml/2006/table">
            <a:tbl>
              <a:tblPr/>
              <a:tblGrid>
                <a:gridCol w="1437658">
                  <a:extLst>
                    <a:ext uri="{9D8B030D-6E8A-4147-A177-3AD203B41FA5}">
                      <a16:colId xmlns:a16="http://schemas.microsoft.com/office/drawing/2014/main" val="1602287879"/>
                    </a:ext>
                  </a:extLst>
                </a:gridCol>
                <a:gridCol w="1437658">
                  <a:extLst>
                    <a:ext uri="{9D8B030D-6E8A-4147-A177-3AD203B41FA5}">
                      <a16:colId xmlns:a16="http://schemas.microsoft.com/office/drawing/2014/main" val="3453319187"/>
                    </a:ext>
                  </a:extLst>
                </a:gridCol>
                <a:gridCol w="1437658">
                  <a:extLst>
                    <a:ext uri="{9D8B030D-6E8A-4147-A177-3AD203B41FA5}">
                      <a16:colId xmlns:a16="http://schemas.microsoft.com/office/drawing/2014/main" val="1280463304"/>
                    </a:ext>
                  </a:extLst>
                </a:gridCol>
                <a:gridCol w="1437658">
                  <a:extLst>
                    <a:ext uri="{9D8B030D-6E8A-4147-A177-3AD203B41FA5}">
                      <a16:colId xmlns:a16="http://schemas.microsoft.com/office/drawing/2014/main" val="2755398542"/>
                    </a:ext>
                  </a:extLst>
                </a:gridCol>
                <a:gridCol w="1437658">
                  <a:extLst>
                    <a:ext uri="{9D8B030D-6E8A-4147-A177-3AD203B41FA5}">
                      <a16:colId xmlns:a16="http://schemas.microsoft.com/office/drawing/2014/main" val="565575263"/>
                    </a:ext>
                  </a:extLst>
                </a:gridCol>
                <a:gridCol w="1437658">
                  <a:extLst>
                    <a:ext uri="{9D8B030D-6E8A-4147-A177-3AD203B41FA5}">
                      <a16:colId xmlns:a16="http://schemas.microsoft.com/office/drawing/2014/main" val="2667242470"/>
                    </a:ext>
                  </a:extLst>
                </a:gridCol>
              </a:tblGrid>
              <a:tr h="384087">
                <a:tc>
                  <a:txBody>
                    <a:bodyPr/>
                    <a:lstStyle/>
                    <a:p>
                      <a:pPr>
                        <a:buNone/>
                      </a:pPr>
                      <a:r>
                        <a:rPr lang="ja-JP" sz="1400" b="1"/>
                        <a:t>Step</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主体</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行動</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対象</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コマンドライン</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証跡</a:t>
                      </a:r>
                      <a:endParaRPr lang="ja-JP" sz="1400"/>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78666918"/>
                  </a:ext>
                </a:extLst>
              </a:tr>
              <a:tr h="558705">
                <a:tc>
                  <a:txBody>
                    <a:bodyPr/>
                    <a:lstStyle/>
                    <a:p>
                      <a:pPr>
                        <a:buNone/>
                      </a:pPr>
                      <a:r>
                        <a:rPr lang="ja-JP" sz="1600"/>
                        <a:t>D1</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Discord.exe</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reg.exe を子プロセスとして起動</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reg.exe</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なし</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Discord.exe と reg.exe の親子関係</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3070588"/>
                  </a:ext>
                </a:extLst>
              </a:tr>
              <a:tr h="1082558">
                <a:tc>
                  <a:txBody>
                    <a:bodyPr/>
                    <a:lstStyle/>
                    <a:p>
                      <a:pPr>
                        <a:buNone/>
                      </a:pPr>
                      <a:r>
                        <a:rPr lang="ja-JP" sz="1600"/>
                        <a:t>D2</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reg.exe</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Run key の Discord 値を照会</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HKCU\Software\Microsoft\Windows\CurrentVersion\Run\Discord</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reg.exe query HKCU\Software\Microsoft\Windows\CurrentVersion\Run /v Discord</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CBC EDR / alert / process telemetry 上の query 証跡</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0930843"/>
                  </a:ext>
                </a:extLst>
              </a:tr>
              <a:tr h="1781029">
                <a:tc>
                  <a:txBody>
                    <a:bodyPr/>
                    <a:lstStyle/>
                    <a:p>
                      <a:pPr>
                        <a:buNone/>
                      </a:pPr>
                      <a:r>
                        <a:rPr lang="ja-JP" sz="1600"/>
                        <a:t>D3</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200"/>
                        <a:t>reg.exe</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Run key の Discord 値を追加 / 更新</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HKCU\Software\Microsoft\Windows\CurrentVersion\Run\Discord = ...Update.exe --processStart Discord.exe</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reg.exe add HKCU\Software\Microsoft\Windows\CurrentVersion\Run /v Discord /d "...Discord\Update.exe --processStart Discord.exe" /f</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200"/>
                        <a:t>ACTION_WRITE_VALUE, regmod_name, CBC EDR/NGAV telemetry</a:t>
                      </a:r>
                    </a:p>
                  </a:txBody>
                  <a:tcPr marL="48669" marR="48669" marT="24334" marB="243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4865085"/>
                  </a:ext>
                </a:extLst>
              </a:tr>
            </a:tbl>
          </a:graphicData>
        </a:graphic>
      </p:graphicFrame>
      <p:sp>
        <p:nvSpPr>
          <p:cNvPr id="8" name="テキスト ボックス 7">
            <a:extLst>
              <a:ext uri="{FF2B5EF4-FFF2-40B4-BE49-F238E27FC236}">
                <a16:creationId xmlns:a16="http://schemas.microsoft.com/office/drawing/2014/main" id="{6F7E986F-22AF-7C8E-BB21-7C5475E6B5A2}"/>
              </a:ext>
            </a:extLst>
          </p:cNvPr>
          <p:cNvSpPr txBox="1"/>
          <p:nvPr/>
        </p:nvSpPr>
        <p:spPr>
          <a:xfrm>
            <a:off x="217754" y="2383764"/>
            <a:ext cx="2340897" cy="369332"/>
          </a:xfrm>
          <a:prstGeom prst="rect">
            <a:avLst/>
          </a:prstGeom>
          <a:noFill/>
        </p:spPr>
        <p:txBody>
          <a:bodyPr wrap="none" rtlCol="0">
            <a:spAutoFit/>
          </a:bodyPr>
          <a:lstStyle/>
          <a:p>
            <a:pPr algn="l"/>
            <a:r>
              <a:rPr kumimoji="1" lang="en-US" altLang="ja-JP" dirty="0">
                <a:cs typeface="Arial" panose="020B0604020202020204" pitchFamily="34" charset="0"/>
              </a:rPr>
              <a:t>Discord</a:t>
            </a:r>
            <a:r>
              <a:rPr kumimoji="1" lang="ja-JP" altLang="en-US">
                <a:cs typeface="Arial" panose="020B0604020202020204" pitchFamily="34" charset="0"/>
              </a:rPr>
              <a:t>の正解データ</a:t>
            </a:r>
            <a:endParaRPr kumimoji="1" lang="ja-JP" altLang="en-US" dirty="0">
              <a:cs typeface="Arial" panose="020B0604020202020204" pitchFamily="34" charset="0"/>
            </a:endParaRPr>
          </a:p>
        </p:txBody>
      </p:sp>
    </p:spTree>
    <p:extLst>
      <p:ext uri="{BB962C8B-B14F-4D97-AF65-F5344CB8AC3E}">
        <p14:creationId xmlns:p14="http://schemas.microsoft.com/office/powerpoint/2010/main" val="3503623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5A09F-A23F-9F5D-AEDC-B835BEB49F2F}"/>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5A6EEB23-E915-2B09-F045-54E5BDDB1AFB}"/>
              </a:ext>
            </a:extLst>
          </p:cNvPr>
          <p:cNvSpPr>
            <a:spLocks noGrp="1"/>
          </p:cNvSpPr>
          <p:nvPr>
            <p:ph type="title"/>
          </p:nvPr>
        </p:nvSpPr>
        <p:spPr>
          <a:xfrm>
            <a:off x="217755" y="13766"/>
            <a:ext cx="7886700" cy="626133"/>
          </a:xfrm>
        </p:spPr>
        <p:txBody>
          <a:bodyPr>
            <a:normAutofit/>
          </a:bodyPr>
          <a:lstStyle/>
          <a:p>
            <a:r>
              <a:rPr lang="en-US" dirty="0" err="1"/>
              <a:t>プレ実験：実験結果</a:t>
            </a:r>
            <a:endParaRPr lang="en-US" dirty="0"/>
          </a:p>
        </p:txBody>
      </p:sp>
      <p:sp>
        <p:nvSpPr>
          <p:cNvPr id="4" name="スライド番号プレースホルダー 3">
            <a:extLst>
              <a:ext uri="{FF2B5EF4-FFF2-40B4-BE49-F238E27FC236}">
                <a16:creationId xmlns:a16="http://schemas.microsoft.com/office/drawing/2014/main" id="{AF26BE79-25C2-4804-6AF9-36625358F2FC}"/>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22</a:t>
            </a:fld>
            <a:endParaRPr lang="en-US"/>
          </a:p>
        </p:txBody>
      </p:sp>
      <p:pic>
        <p:nvPicPr>
          <p:cNvPr id="7" name="図 6">
            <a:extLst>
              <a:ext uri="{FF2B5EF4-FFF2-40B4-BE49-F238E27FC236}">
                <a16:creationId xmlns:a16="http://schemas.microsoft.com/office/drawing/2014/main" id="{AD55102A-A1A6-BA59-06BC-128C440DE7A5}"/>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E8BFA2E7-DA81-0AA4-F5EC-BF0FEE5D2A7C}"/>
              </a:ext>
            </a:extLst>
          </p:cNvPr>
          <p:cNvSpPr txBox="1"/>
          <p:nvPr/>
        </p:nvSpPr>
        <p:spPr>
          <a:xfrm>
            <a:off x="217755" y="651774"/>
            <a:ext cx="8762959" cy="2031325"/>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結果</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情報が集約されたアラート情報が行動復元に大きく寄与していたことが分かった</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先行研究で攻撃の行動復元が出来ていた</a:t>
            </a:r>
            <a:r>
              <a:rPr kumimoji="1" lang="en-US" altLang="ja-JP" dirty="0" err="1">
                <a:cs typeface="Arial" panose="020B0604020202020204" pitchFamily="34" charset="0"/>
              </a:rPr>
              <a:t>gpt</a:t>
            </a:r>
            <a:r>
              <a:rPr kumimoji="1" lang="en-US" altLang="ja-JP" dirty="0">
                <a:cs typeface="Arial" panose="020B0604020202020204" pitchFamily="34" charset="0"/>
              </a:rPr>
              <a:t> 4.1-mini</a:t>
            </a:r>
            <a:r>
              <a:rPr kumimoji="1" lang="ja-JP" altLang="en-US">
                <a:cs typeface="Arial" panose="020B0604020202020204" pitchFamily="34" charset="0"/>
              </a:rPr>
              <a:t>でも正常の行動復元は出来なかったが</a:t>
            </a:r>
            <a:r>
              <a:rPr kumimoji="1" lang="en-US" altLang="ja-JP" dirty="0">
                <a:cs typeface="Arial" panose="020B0604020202020204" pitchFamily="34" charset="0"/>
              </a:rPr>
              <a:t>gpt5.4-mini</a:t>
            </a:r>
            <a:r>
              <a:rPr kumimoji="1" lang="ja-JP" altLang="en-US">
                <a:cs typeface="Arial" panose="020B0604020202020204" pitchFamily="34" charset="0"/>
              </a:rPr>
              <a:t>では出来た</a:t>
            </a:r>
            <a:endParaRPr kumimoji="1" lang="en-US" altLang="ja-JP" dirty="0">
              <a:cs typeface="Arial" panose="020B0604020202020204" pitchFamily="34" charset="0"/>
            </a:endParaRPr>
          </a:p>
          <a:p>
            <a:pPr lvl="1"/>
            <a:r>
              <a:rPr kumimoji="1" lang="ja-JP" altLang="en-US">
                <a:cs typeface="Arial" panose="020B0604020202020204" pitchFamily="34" charset="0"/>
              </a:rPr>
              <a:t>→入力で書かれていないことをログから自力で復元出来た</a:t>
            </a:r>
            <a:endParaRPr kumimoji="1" lang="en-US" altLang="ja-JP" dirty="0">
              <a:cs typeface="Arial" panose="020B0604020202020204" pitchFamily="34" charset="0"/>
            </a:endParaRPr>
          </a:p>
          <a:p>
            <a:pPr marL="742950" lvl="1" indent="-285750">
              <a:buFont typeface="Arial" panose="020B0604020202020204" pitchFamily="34" charset="0"/>
              <a:buChar char="•"/>
            </a:pPr>
            <a:endParaRPr kumimoji="1" lang="ja-JP" altLang="en-US" dirty="0">
              <a:cs typeface="Arial" panose="020B0604020202020204" pitchFamily="34" charset="0"/>
            </a:endParaRPr>
          </a:p>
        </p:txBody>
      </p:sp>
      <p:graphicFrame>
        <p:nvGraphicFramePr>
          <p:cNvPr id="3" name="表 2">
            <a:extLst>
              <a:ext uri="{FF2B5EF4-FFF2-40B4-BE49-F238E27FC236}">
                <a16:creationId xmlns:a16="http://schemas.microsoft.com/office/drawing/2014/main" id="{A92A15E6-20C7-936C-C0DF-419872C2F87F}"/>
              </a:ext>
            </a:extLst>
          </p:cNvPr>
          <p:cNvGraphicFramePr>
            <a:graphicFrameLocks noGrp="1"/>
          </p:cNvGraphicFramePr>
          <p:nvPr>
            <p:extLst>
              <p:ext uri="{D42A27DB-BD31-4B8C-83A1-F6EECF244321}">
                <p14:modId xmlns:p14="http://schemas.microsoft.com/office/powerpoint/2010/main" val="1953760957"/>
              </p:ext>
            </p:extLst>
          </p:nvPr>
        </p:nvGraphicFramePr>
        <p:xfrm>
          <a:off x="217755" y="3004456"/>
          <a:ext cx="8545246" cy="3390160"/>
        </p:xfrm>
        <a:graphic>
          <a:graphicData uri="http://schemas.openxmlformats.org/drawingml/2006/table">
            <a:tbl>
              <a:tblPr/>
              <a:tblGrid>
                <a:gridCol w="1709049">
                  <a:extLst>
                    <a:ext uri="{9D8B030D-6E8A-4147-A177-3AD203B41FA5}">
                      <a16:colId xmlns:a16="http://schemas.microsoft.com/office/drawing/2014/main" val="3055412460"/>
                    </a:ext>
                  </a:extLst>
                </a:gridCol>
                <a:gridCol w="2819368">
                  <a:extLst>
                    <a:ext uri="{9D8B030D-6E8A-4147-A177-3AD203B41FA5}">
                      <a16:colId xmlns:a16="http://schemas.microsoft.com/office/drawing/2014/main" val="3098129529"/>
                    </a:ext>
                  </a:extLst>
                </a:gridCol>
                <a:gridCol w="1393372">
                  <a:extLst>
                    <a:ext uri="{9D8B030D-6E8A-4147-A177-3AD203B41FA5}">
                      <a16:colId xmlns:a16="http://schemas.microsoft.com/office/drawing/2014/main" val="2737940415"/>
                    </a:ext>
                  </a:extLst>
                </a:gridCol>
                <a:gridCol w="1306286">
                  <a:extLst>
                    <a:ext uri="{9D8B030D-6E8A-4147-A177-3AD203B41FA5}">
                      <a16:colId xmlns:a16="http://schemas.microsoft.com/office/drawing/2014/main" val="1461138641"/>
                    </a:ext>
                  </a:extLst>
                </a:gridCol>
                <a:gridCol w="1317171">
                  <a:extLst>
                    <a:ext uri="{9D8B030D-6E8A-4147-A177-3AD203B41FA5}">
                      <a16:colId xmlns:a16="http://schemas.microsoft.com/office/drawing/2014/main" val="3462761121"/>
                    </a:ext>
                  </a:extLst>
                </a:gridCol>
              </a:tblGrid>
              <a:tr h="247787">
                <a:tc>
                  <a:txBody>
                    <a:bodyPr/>
                    <a:lstStyle/>
                    <a:p>
                      <a:pPr>
                        <a:buNone/>
                      </a:pPr>
                      <a:r>
                        <a:rPr lang="ja-JP" sz="1400" b="1"/>
                        <a:t>モデル</a:t>
                      </a:r>
                      <a:endParaRPr 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条件</a:t>
                      </a:r>
                      <a:endParaRPr 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再現率</a:t>
                      </a:r>
                      <a:endParaRPr 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適合率</a:t>
                      </a:r>
                      <a:endParaRPr 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b="1"/>
                        <a:t>順序一致率</a:t>
                      </a:r>
                      <a:endParaRPr 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33347805"/>
                  </a:ext>
                </a:extLst>
              </a:tr>
              <a:tr h="421757">
                <a:tc>
                  <a:txBody>
                    <a:bodyPr/>
                    <a:lstStyle/>
                    <a:p>
                      <a:pPr>
                        <a:buNone/>
                      </a:pPr>
                      <a:r>
                        <a:rPr lang="ja-JP" sz="1400"/>
                        <a:t>gpt-4.1-mini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a:t>Stage 1: アラート起点</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4/14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4/14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9700732"/>
                  </a:ext>
                </a:extLst>
              </a:tr>
              <a:tr h="462538">
                <a:tc>
                  <a:txBody>
                    <a:bodyPr/>
                    <a:lstStyle/>
                    <a:p>
                      <a:pPr>
                        <a:buNone/>
                      </a:pPr>
                      <a:r>
                        <a:rPr lang="ja-JP" sz="1400"/>
                        <a:t>gpt-4.1-mini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ja-JP" altLang="ja-JP" sz="1400"/>
                        <a:t>Stage 2</a:t>
                      </a:r>
                      <a:r>
                        <a:rPr lang="ja-JP" altLang="en-US" sz="1400"/>
                        <a:t>：入力からアラート除外</a:t>
                      </a:r>
                      <a:endParaRPr lang="ja-JP" alt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891113"/>
                  </a:ext>
                </a:extLst>
              </a:tr>
              <a:tr h="677288">
                <a:tc>
                  <a:txBody>
                    <a:bodyPr/>
                    <a:lstStyle/>
                    <a:p>
                      <a:pPr>
                        <a:buNone/>
                      </a:pPr>
                      <a:r>
                        <a:rPr lang="ja-JP" sz="1400"/>
                        <a:t>gpt-4.1-mini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ja-JP" altLang="ja-JP" sz="1400"/>
                        <a:t>Stage 3：</a:t>
                      </a:r>
                      <a:r>
                        <a:rPr lang="ja-JP" altLang="en-US" sz="1400"/>
                        <a:t>データベースからアラート</a:t>
                      </a:r>
                      <a:r>
                        <a:rPr lang="ja-JP" altLang="ja-JP" sz="1400"/>
                        <a:t>除外</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6936015"/>
                  </a:ext>
                </a:extLst>
              </a:tr>
              <a:tr h="421757">
                <a:tc>
                  <a:txBody>
                    <a:bodyPr/>
                    <a:lstStyle/>
                    <a:p>
                      <a:pPr>
                        <a:buNone/>
                      </a:pPr>
                      <a:r>
                        <a:rPr lang="ja-JP" sz="1400"/>
                        <a:t>gpt-5.4-mini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ja-JP" sz="1400"/>
                        <a:t>Stage 1: アラート起点</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13/14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13/14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1/2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6428316"/>
                  </a:ext>
                </a:extLst>
              </a:tr>
              <a:tr h="462538">
                <a:tc>
                  <a:txBody>
                    <a:bodyPr/>
                    <a:lstStyle/>
                    <a:p>
                      <a:pPr>
                        <a:buNone/>
                      </a:pPr>
                      <a:r>
                        <a:rPr lang="ja-JP" sz="1400"/>
                        <a:t>gpt-5.4-mini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ja-JP" altLang="ja-JP" sz="1400"/>
                        <a:t>Stage 2</a:t>
                      </a:r>
                      <a:r>
                        <a:rPr lang="ja-JP" altLang="en-US" sz="1400"/>
                        <a:t>：入力からアラート除外</a:t>
                      </a:r>
                      <a:endParaRPr lang="ja-JP" altLang="ja-JP" sz="1400"/>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solidFill>
                            <a:srgbClr val="FF0000"/>
                          </a:solidFill>
                        </a:rPr>
                        <a:t>14/14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solidFill>
                            <a:srgbClr val="FF0000"/>
                          </a:solidFill>
                        </a:rPr>
                        <a:t>14/14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solidFill>
                            <a:srgbClr val="FF0000"/>
                          </a:solidFill>
                        </a:rPr>
                        <a:t>1/2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334924"/>
                  </a:ext>
                </a:extLst>
              </a:tr>
              <a:tr h="677288">
                <a:tc>
                  <a:txBody>
                    <a:bodyPr/>
                    <a:lstStyle/>
                    <a:p>
                      <a:pPr>
                        <a:buNone/>
                      </a:pPr>
                      <a:r>
                        <a:rPr lang="ja-JP" sz="1400"/>
                        <a:t>gpt-5.4-mini</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ja-JP" altLang="ja-JP" sz="1400"/>
                        <a:t>Stage 3：</a:t>
                      </a:r>
                      <a:r>
                        <a:rPr lang="ja-JP" altLang="en-US" sz="1400"/>
                        <a:t>データベースからアラート</a:t>
                      </a:r>
                      <a:r>
                        <a:rPr lang="ja-JP" altLang="ja-JP" sz="1400"/>
                        <a:t>除外</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8/14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8/14</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400"/>
                        <a:t>0/2</a:t>
                      </a:r>
                    </a:p>
                  </a:txBody>
                  <a:tcPr marL="53635" marR="53635" marT="26817" marB="2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632613"/>
                  </a:ext>
                </a:extLst>
              </a:tr>
            </a:tbl>
          </a:graphicData>
        </a:graphic>
      </p:graphicFrame>
      <p:sp>
        <p:nvSpPr>
          <p:cNvPr id="6" name="テキスト ボックス 5">
            <a:extLst>
              <a:ext uri="{FF2B5EF4-FFF2-40B4-BE49-F238E27FC236}">
                <a16:creationId xmlns:a16="http://schemas.microsoft.com/office/drawing/2014/main" id="{2565B9DE-B39D-F1B8-48AA-ADD625CBDA8B}"/>
              </a:ext>
            </a:extLst>
          </p:cNvPr>
          <p:cNvSpPr txBox="1"/>
          <p:nvPr/>
        </p:nvSpPr>
        <p:spPr>
          <a:xfrm>
            <a:off x="158086" y="2579808"/>
            <a:ext cx="4003019" cy="369332"/>
          </a:xfrm>
          <a:prstGeom prst="rect">
            <a:avLst/>
          </a:prstGeom>
          <a:noFill/>
        </p:spPr>
        <p:txBody>
          <a:bodyPr wrap="none" rtlCol="0">
            <a:spAutoFit/>
          </a:bodyPr>
          <a:lstStyle/>
          <a:p>
            <a:pPr algn="l"/>
            <a:r>
              <a:rPr kumimoji="1" lang="ja-JP" altLang="en-US">
                <a:cs typeface="Arial" panose="020B0604020202020204" pitchFamily="34" charset="0"/>
              </a:rPr>
              <a:t>プレ実験結果：各条件で</a:t>
            </a:r>
            <a:r>
              <a:rPr kumimoji="1" lang="en-US" altLang="ja-JP" dirty="0">
                <a:cs typeface="Arial" panose="020B0604020202020204" pitchFamily="34" charset="0"/>
              </a:rPr>
              <a:t>1</a:t>
            </a:r>
            <a:r>
              <a:rPr kumimoji="1" lang="ja-JP" altLang="en-US">
                <a:cs typeface="Arial" panose="020B0604020202020204" pitchFamily="34" charset="0"/>
              </a:rPr>
              <a:t>回ずつ試行</a:t>
            </a:r>
            <a:endParaRPr kumimoji="1" lang="ja-JP" altLang="en-US" dirty="0">
              <a:cs typeface="Arial" panose="020B0604020202020204" pitchFamily="34" charset="0"/>
            </a:endParaRPr>
          </a:p>
        </p:txBody>
      </p:sp>
      <p:sp>
        <p:nvSpPr>
          <p:cNvPr id="8" name="正方形/長方形 7">
            <a:extLst>
              <a:ext uri="{FF2B5EF4-FFF2-40B4-BE49-F238E27FC236}">
                <a16:creationId xmlns:a16="http://schemas.microsoft.com/office/drawing/2014/main" id="{03C27763-AFF6-DFD5-FB3D-84CA6C0FBFC3}"/>
              </a:ext>
            </a:extLst>
          </p:cNvPr>
          <p:cNvSpPr/>
          <p:nvPr/>
        </p:nvSpPr>
        <p:spPr>
          <a:xfrm>
            <a:off x="4724400" y="4841623"/>
            <a:ext cx="4038601" cy="15680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8ACB5EC-7C22-C1C7-786B-7F1DC550EDE3}"/>
              </a:ext>
            </a:extLst>
          </p:cNvPr>
          <p:cNvSpPr txBox="1"/>
          <p:nvPr/>
        </p:nvSpPr>
        <p:spPr>
          <a:xfrm>
            <a:off x="-1295400" y="957943"/>
            <a:ext cx="184731" cy="369332"/>
          </a:xfrm>
          <a:prstGeom prst="rect">
            <a:avLst/>
          </a:prstGeom>
          <a:noFill/>
        </p:spPr>
        <p:txBody>
          <a:bodyPr wrap="none" rtlCol="0">
            <a:spAutoFit/>
          </a:bodyPr>
          <a:lstStyle/>
          <a:p>
            <a:pPr algn="l"/>
            <a:endParaRPr kumimoji="1" lang="ja-JP" altLang="en-US" dirty="0">
              <a:cs typeface="Arial" panose="020B0604020202020204" pitchFamily="34" charset="0"/>
            </a:endParaRPr>
          </a:p>
        </p:txBody>
      </p:sp>
    </p:spTree>
    <p:extLst>
      <p:ext uri="{BB962C8B-B14F-4D97-AF65-F5344CB8AC3E}">
        <p14:creationId xmlns:p14="http://schemas.microsoft.com/office/powerpoint/2010/main" val="1769460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848F-2C6E-05DE-993F-29EF0ED214BA}"/>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14CB1CDD-EA83-A9CF-43BC-8906FCBB911E}"/>
              </a:ext>
            </a:extLst>
          </p:cNvPr>
          <p:cNvSpPr>
            <a:spLocks noGrp="1"/>
          </p:cNvSpPr>
          <p:nvPr>
            <p:ph type="title"/>
          </p:nvPr>
        </p:nvSpPr>
        <p:spPr>
          <a:xfrm>
            <a:off x="217755" y="13766"/>
            <a:ext cx="7886700" cy="626133"/>
          </a:xfrm>
        </p:spPr>
        <p:txBody>
          <a:bodyPr>
            <a:normAutofit/>
          </a:bodyPr>
          <a:lstStyle/>
          <a:p>
            <a:r>
              <a:rPr lang="en-US" dirty="0" err="1"/>
              <a:t>やること</a:t>
            </a:r>
            <a:endParaRPr lang="en-US" dirty="0"/>
          </a:p>
        </p:txBody>
      </p:sp>
      <p:sp>
        <p:nvSpPr>
          <p:cNvPr id="4" name="スライド番号プレースホルダー 3">
            <a:extLst>
              <a:ext uri="{FF2B5EF4-FFF2-40B4-BE49-F238E27FC236}">
                <a16:creationId xmlns:a16="http://schemas.microsoft.com/office/drawing/2014/main" id="{01E4CF4A-86CB-2A62-3725-22C69C1841CB}"/>
              </a:ext>
            </a:extLst>
          </p:cNvPr>
          <p:cNvSpPr>
            <a:spLocks noGrp="1"/>
          </p:cNvSpPr>
          <p:nvPr>
            <p:ph type="sldNum" sz="quarter" idx="10"/>
          </p:nvPr>
        </p:nvSpPr>
        <p:spPr>
          <a:xfrm>
            <a:off x="7075755" y="286649"/>
            <a:ext cx="2057400" cy="365125"/>
          </a:xfrm>
        </p:spPr>
        <p:txBody>
          <a:bodyPr/>
          <a:lstStyle/>
          <a:p>
            <a:fld id="{3F804FDB-4E38-4F90-9E64-BFF41C44FBD6}" type="slidenum">
              <a:rPr lang="en-US" smtClean="0"/>
              <a:t>23</a:t>
            </a:fld>
            <a:endParaRPr lang="en-US"/>
          </a:p>
        </p:txBody>
      </p:sp>
      <p:pic>
        <p:nvPicPr>
          <p:cNvPr id="7" name="図 6">
            <a:extLst>
              <a:ext uri="{FF2B5EF4-FFF2-40B4-BE49-F238E27FC236}">
                <a16:creationId xmlns:a16="http://schemas.microsoft.com/office/drawing/2014/main" id="{08D04F53-BE4D-ACF3-2F54-5EB75D0C2420}"/>
              </a:ext>
            </a:extLst>
          </p:cNvPr>
          <p:cNvPicPr>
            <a:picLocks noChangeAspect="1"/>
          </p:cNvPicPr>
          <p:nvPr/>
        </p:nvPicPr>
        <p:blipFill>
          <a:blip r:embed="rId3">
            <a:extLst>
              <a:ext uri="{28A0092B-C50C-407E-A947-70E740481C1C}">
                <a14:useLocalDpi xmlns:a14="http://schemas.microsoft.com/office/drawing/2010/main" val="0"/>
              </a:ext>
            </a:extLst>
          </a:blip>
          <a:srcRect l="6550"/>
          <a:stretch>
            <a:fillRect/>
          </a:stretch>
        </p:blipFill>
        <p:spPr>
          <a:xfrm>
            <a:off x="0" y="7050853"/>
            <a:ext cx="8843700" cy="2662101"/>
          </a:xfrm>
          <a:prstGeom prst="rect">
            <a:avLst/>
          </a:prstGeom>
        </p:spPr>
      </p:pic>
      <p:sp>
        <p:nvSpPr>
          <p:cNvPr id="2" name="テキスト ボックス 1">
            <a:extLst>
              <a:ext uri="{FF2B5EF4-FFF2-40B4-BE49-F238E27FC236}">
                <a16:creationId xmlns:a16="http://schemas.microsoft.com/office/drawing/2014/main" id="{121D7B25-5478-CC06-F4B7-434FF8DF9375}"/>
              </a:ext>
            </a:extLst>
          </p:cNvPr>
          <p:cNvSpPr txBox="1"/>
          <p:nvPr/>
        </p:nvSpPr>
        <p:spPr>
          <a:xfrm>
            <a:off x="80741" y="738860"/>
            <a:ext cx="8762959" cy="2031325"/>
          </a:xfrm>
          <a:prstGeom prst="rect">
            <a:avLst/>
          </a:prstGeom>
          <a:noFill/>
        </p:spPr>
        <p:txBody>
          <a:bodyPr wrap="square" rtlCol="0">
            <a:spAutoFit/>
          </a:bodyPr>
          <a:lstStyle/>
          <a:p>
            <a:pPr marL="285750" indent="-285750" algn="l">
              <a:buFont typeface="Arial" panose="020B0604020202020204" pitchFamily="34" charset="0"/>
              <a:buChar char="•"/>
            </a:pPr>
            <a:r>
              <a:rPr kumimoji="1" lang="ja-JP" altLang="en-US">
                <a:cs typeface="Arial" panose="020B0604020202020204" pitchFamily="34" charset="0"/>
              </a:rPr>
              <a:t>実験</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ステージ</a:t>
            </a:r>
            <a:r>
              <a:rPr kumimoji="1" lang="en-US" altLang="ja-JP" dirty="0">
                <a:cs typeface="Arial" panose="020B0604020202020204" pitchFamily="34" charset="0"/>
              </a:rPr>
              <a:t>1~3</a:t>
            </a:r>
            <a:r>
              <a:rPr kumimoji="1" lang="ja-JP" altLang="en-US">
                <a:cs typeface="Arial" panose="020B0604020202020204" pitchFamily="34" charset="0"/>
              </a:rPr>
              <a:t>で</a:t>
            </a:r>
            <a:r>
              <a:rPr kumimoji="1" lang="en-US" altLang="ja-JP" dirty="0">
                <a:cs typeface="Arial" panose="020B0604020202020204" pitchFamily="34" charset="0"/>
              </a:rPr>
              <a:t>27</a:t>
            </a:r>
            <a:r>
              <a:rPr kumimoji="1" lang="ja-JP" altLang="en-US">
                <a:cs typeface="Arial" panose="020B0604020202020204" pitchFamily="34" charset="0"/>
              </a:rPr>
              <a:t>個の行動列で</a:t>
            </a:r>
            <a:r>
              <a:rPr kumimoji="1" lang="en-US" altLang="ja-JP" dirty="0">
                <a:cs typeface="Arial" panose="020B0604020202020204" pitchFamily="34" charset="0"/>
              </a:rPr>
              <a:t>3</a:t>
            </a:r>
            <a:r>
              <a:rPr kumimoji="1" lang="ja-JP" altLang="en-US">
                <a:cs typeface="Arial" panose="020B0604020202020204" pitchFamily="34" charset="0"/>
              </a:rPr>
              <a:t>回ずつ実験を回す</a:t>
            </a:r>
            <a:endParaRPr kumimoji="1" lang="en-US" altLang="ja-JP" dirty="0">
              <a:cs typeface="Arial" panose="020B0604020202020204" pitchFamily="34" charset="0"/>
            </a:endParaRPr>
          </a:p>
          <a:p>
            <a:pPr marL="285750" indent="-285750">
              <a:buFont typeface="Arial" panose="020B0604020202020204" pitchFamily="34" charset="0"/>
              <a:buChar char="•"/>
            </a:pPr>
            <a:r>
              <a:rPr kumimoji="1" lang="ja-JP" altLang="en-US">
                <a:cs typeface="Arial" panose="020B0604020202020204" pitchFamily="34" charset="0"/>
              </a:rPr>
              <a:t>考察</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復元出来た行動列出来なかった行動列を分類し考察</a:t>
            </a:r>
            <a:endParaRPr kumimoji="1" lang="en-US" altLang="ja-JP" dirty="0">
              <a:cs typeface="Arial" panose="020B0604020202020204" pitchFamily="34" charset="0"/>
            </a:endParaRPr>
          </a:p>
          <a:p>
            <a:pPr marL="742950" lvl="1" indent="-285750">
              <a:buFont typeface="Arial" panose="020B0604020202020204" pitchFamily="34" charset="0"/>
              <a:buChar char="•"/>
            </a:pPr>
            <a:r>
              <a:rPr kumimoji="1" lang="ja-JP" altLang="en-US">
                <a:cs typeface="Arial" panose="020B0604020202020204" pitchFamily="34" charset="0"/>
              </a:rPr>
              <a:t>モデルの性能によってどの程度行動復元が変化するかを考察</a:t>
            </a:r>
            <a:endParaRPr kumimoji="1" lang="en-US" altLang="ja-JP" dirty="0">
              <a:cs typeface="Arial" panose="020B0604020202020204" pitchFamily="34" charset="0"/>
            </a:endParaRPr>
          </a:p>
          <a:p>
            <a:pPr marL="742950" lvl="1" indent="-285750">
              <a:buFont typeface="Arial" panose="020B0604020202020204" pitchFamily="34" charset="0"/>
              <a:buChar char="•"/>
            </a:pPr>
            <a:endParaRPr kumimoji="1" lang="en-US" altLang="ja-JP" dirty="0">
              <a:cs typeface="Arial" panose="020B0604020202020204" pitchFamily="34" charset="0"/>
            </a:endParaRPr>
          </a:p>
          <a:p>
            <a:pPr marL="285750" indent="-285750">
              <a:buFont typeface="Arial" panose="020B0604020202020204" pitchFamily="34" charset="0"/>
              <a:buChar char="•"/>
            </a:pPr>
            <a:endParaRPr kumimoji="1" lang="en-US" altLang="ja-JP" dirty="0">
              <a:cs typeface="Arial" panose="020B0604020202020204" pitchFamily="34" charset="0"/>
            </a:endParaRPr>
          </a:p>
        </p:txBody>
      </p:sp>
    </p:spTree>
    <p:extLst>
      <p:ext uri="{BB962C8B-B14F-4D97-AF65-F5344CB8AC3E}">
        <p14:creationId xmlns:p14="http://schemas.microsoft.com/office/powerpoint/2010/main" val="2080788510"/>
      </p:ext>
    </p:extLst>
  </p:cSld>
  <p:clrMapOvr>
    <a:masterClrMapping/>
  </p:clrMapOvr>
</p:sld>
</file>

<file path=ppt/theme/theme1.xml><?xml version="1.0" encoding="utf-8"?>
<a:theme xmlns:a="http://schemas.openxmlformats.org/drawingml/2006/main" name="調和系">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Segoe UI"/>
        <a:ea typeface="メイリオ"/>
        <a:cs typeface=""/>
      </a:majorFont>
      <a:minorFont>
        <a:latin typeface="Segoe U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dirty="0" smtClean="0">
            <a:cs typeface="Arial" panose="020B0604020202020204" pitchFamily="34" charset="0"/>
          </a:defRPr>
        </a:defPPr>
      </a:lstStyle>
    </a:txDef>
  </a:objectDefaults>
  <a:extraClrSchemeLst/>
  <a:extLst>
    <a:ext uri="{05A4C25C-085E-4340-85A3-A5531E510DB2}">
      <thm15:themeFamily xmlns:thm15="http://schemas.microsoft.com/office/thememl/2012/main" name="調和系工学研究室テンプレート_20201126l.potx" id="{65328C40-A199-4948-8993-94C0F5C60673}" vid="{4B331176-5A70-45C5-B4E8-BCD7A51F175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調和系工学研究室テンプレート_20201127</Template>
  <TotalTime>78446</TotalTime>
  <Words>3655</Words>
  <Application>Microsoft Macintosh PowerPoint</Application>
  <PresentationFormat>画面に合わせる (4:3)</PresentationFormat>
  <Paragraphs>557</Paragraphs>
  <Slides>23</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vt:lpstr>
      <vt:lpstr>游ゴシック</vt:lpstr>
      <vt:lpstr>Arial</vt:lpstr>
      <vt:lpstr>Courier New</vt:lpstr>
      <vt:lpstr>Segoe UI</vt:lpstr>
      <vt:lpstr>調和系</vt:lpstr>
      <vt:lpstr> 6/XX 背景~研究目的 Windowsエンドポイントログを用いた正常行動の行動復元列による偽陽性判断の検討</vt:lpstr>
      <vt:lpstr>背景　  </vt:lpstr>
      <vt:lpstr>背景　インシデント分析とは　  </vt:lpstr>
      <vt:lpstr>先行研究　  </vt:lpstr>
      <vt:lpstr> 6/10 網屋MTG Windowsエンドポイントログを用いた正常行動の行動復元列による偽陽性判断の検討</vt:lpstr>
      <vt:lpstr>研究目的とその手法</vt:lpstr>
      <vt:lpstr>問題設定：入力</vt:lpstr>
      <vt:lpstr>問題設定：データベース</vt:lpstr>
      <vt:lpstr>問題設定　出力</vt:lpstr>
      <vt:lpstr>問題設定　出力</vt:lpstr>
      <vt:lpstr>提案手法　全体像</vt:lpstr>
      <vt:lpstr>提案手法　内部処理</vt:lpstr>
      <vt:lpstr>提案手法　内部処理</vt:lpstr>
      <vt:lpstr>提案手法　内部処理</vt:lpstr>
      <vt:lpstr>提案手法　Agent間のやり取り詳細</vt:lpstr>
      <vt:lpstr>実験の全体像</vt:lpstr>
      <vt:lpstr>実験：使用するデータセット</vt:lpstr>
      <vt:lpstr>実験：使用するユースケース</vt:lpstr>
      <vt:lpstr>実験：実験設定</vt:lpstr>
      <vt:lpstr>実験：評価指標</vt:lpstr>
      <vt:lpstr>プレ実験：1ユースケースのみ</vt:lpstr>
      <vt:lpstr>プレ実験：実験結果</vt:lpstr>
      <vt:lpstr>やること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  Title</dc:title>
  <dc:creator>tomohisa</dc:creator>
  <cp:lastModifiedBy>小松?　大世</cp:lastModifiedBy>
  <cp:revision>257</cp:revision>
  <dcterms:created xsi:type="dcterms:W3CDTF">2020-11-26T09:39:56Z</dcterms:created>
  <dcterms:modified xsi:type="dcterms:W3CDTF">2026-06-11T10:59:49Z</dcterms:modified>
</cp:coreProperties>
</file>